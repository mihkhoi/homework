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8506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BÁO CÁO THUYẾT TRÌNH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735868" y="6601969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338560" y="6603781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1</a:t>
            </a:r>
            <a:endParaRPr lang="en-US" sz="9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BÁO CÁO KIỂM THỬ PHẦN MỀM</a:t>
            </a:r>
            <a:endParaRPr lang="en-US" sz="2200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0" y="192024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/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Đặc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tả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tiền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/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hậu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điều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kiện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+ invariant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và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kiểm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tra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tự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động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website bán hàng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trực</a:t>
            </a: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 err="1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tuyến</a:t>
            </a:r>
            <a:endParaRPr lang="en-US" sz="1600" b="1" dirty="0">
              <a:solidFill>
                <a:srgbClr val="4A67B0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600" b="1" dirty="0">
              <a:solidFill>
                <a:srgbClr val="4A67B0"/>
              </a:solidFill>
              <a:latin typeface="+mj-lt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endParaRPr lang="en-US" sz="16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97280" y="26060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Trọng tâm trình bày: phạm vi kiểm thử, phương pháp test, white-box/black-box, test case đại diện và kết quả thực thi</a:t>
            </a:r>
            <a:endParaRPr lang="en-US" sz="13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83406" y="3657600"/>
            <a:ext cx="6834914" cy="860071"/>
          </a:xfrm>
          <a:prstGeom prst="roundRect">
            <a:avLst>
              <a:gd name="adj" fmla="val 10435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75548" y="3986694"/>
            <a:ext cx="7406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SVTH: Đinh Ngọc Minh Khôi GVHD : </a:t>
            </a:r>
            <a:r>
              <a:rPr lang="en-US" sz="130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ThS</a:t>
            </a: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. Phạm </a:t>
            </a:r>
            <a:r>
              <a:rPr lang="en-US" sz="130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Trọng</a:t>
            </a: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Huynh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1. TỔNG QUAN DỰ ÁN &amp; MỤC TIÊU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6601969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338560" y="6583681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2</a:t>
            </a:r>
            <a:endParaRPr lang="en-US" sz="9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134416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Ứng dụng được kiểm thử</a:t>
            </a:r>
            <a:endParaRPr lang="en-US" sz="16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64592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Website bán hàng trực tuyến trên nền web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User: đăng ký, đăng nhập, xem </a:t>
            </a:r>
            <a:r>
              <a:rPr lang="en-US" sz="135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sản</a:t>
            </a: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 </a:t>
            </a:r>
            <a:r>
              <a:rPr lang="en-US" sz="135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phẩm</a:t>
            </a: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, giỏ hàng, voucher, đặt hàng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Admin: quản lý sản phẩm, đơn hàng, người dùng và voucher</a:t>
            </a:r>
            <a:endParaRPr lang="en-US" sz="135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4187952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Ý nghĩa: có cả luồng người dùng cuối và luồng quản trị nên phù hợp để kiểm thử giao diện lẫn nghiệp vụ.</a:t>
            </a:r>
            <a:endParaRPr lang="en-US" sz="125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15968" y="12344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17136" y="134416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Module trọng tâm: Voucher</a:t>
            </a:r>
            <a:endParaRPr lang="en-US" sz="16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53712" y="1664208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Voucher là phần có nhiều ràng buộc nghiệp vụ: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Active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Start date / end date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Min order value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Usage limit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35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Tính</a:t>
            </a: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hợp lệ của dữ liệu cấu hình</a:t>
            </a:r>
            <a:endParaRPr lang="en-US" sz="135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553712" y="41605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Đây là module phù hợp nhất để kết hợp black-box và white-box, đồng thời thuận lợi cho việc tính coverage.</a:t>
            </a:r>
            <a:endParaRPr lang="en-US" sz="125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991856" y="12344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93024" y="134416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Mục tiêu của bài kiểm thử</a:t>
            </a:r>
            <a:endParaRPr lang="en-US" sz="160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11312" y="1664208"/>
            <a:ext cx="30632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Xác minh các chức năng chính của hệ thống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Thiết kế test case cho cả luồng đúng và luồng sai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Phát hiện lỗi validation và logic nghiệp vụ</a:t>
            </a:r>
            <a:endParaRPr lang="en-US" sz="1350" dirty="0">
              <a:latin typeface="+mj-lt"/>
            </a:endParaRPr>
          </a:p>
          <a:p>
            <a:pPr marL="0" indent="0" algn="l">
              <a:buNone/>
            </a:pPr>
            <a:r>
              <a:rPr lang="en-US" sz="13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Kết hợp manual test với unit/service test</a:t>
            </a:r>
            <a:endParaRPr lang="en-US" sz="135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11312" y="4187952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hướng tới cách làm có quy trình: yêu cầu → test case → thực thi → bug report → coverage.</a:t>
            </a:r>
            <a:endParaRPr lang="en-US" sz="125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2. CHỨC NĂNG CHÍNH &amp; PHẠM VI KIỂM THỬ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6601969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6583681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3</a:t>
            </a:r>
            <a:endParaRPr lang="en-US" sz="9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261872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Các chức năng phía user</a:t>
            </a:r>
            <a:endParaRPr lang="en-US" sz="16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877824" y="1682496"/>
            <a:ext cx="30175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Register / Login / Logout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Xem danh sách &amp; chi tiết sản phẩm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Tìm kiếm sản phẩm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Thêm, sửa, xóa trong giỏ hàng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Áp dụng voucher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Đặt hàng / checkout</a:t>
            </a:r>
            <a:endParaRPr lang="en-US" sz="14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34256" y="1261872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35424" y="137160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Các chức năng phía admin</a:t>
            </a:r>
            <a:endParaRPr lang="en-US" sz="16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72000" y="1682496"/>
            <a:ext cx="2971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Admin login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Quản lý sản phẩm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Quản lý đơn hàng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Quản lý người dùng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Quản lý voucher</a:t>
            </a:r>
            <a:endParaRPr lang="en-US" sz="14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35424" y="4425696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Điểm cần chú ý: lỗi ở khu vực admin có thể ảnh hưởng trực tiếp tới dữ liệu vận hành của hệ thống.</a:t>
            </a:r>
            <a:endParaRPr lang="en-US" sz="125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28432" y="1261872"/>
            <a:ext cx="3520440" cy="4663440"/>
          </a:xfrm>
          <a:prstGeom prst="roundRect">
            <a:avLst>
              <a:gd name="adj" fmla="val 3117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0" y="1371600"/>
            <a:ext cx="3118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Phạm vi trình bày</a:t>
            </a:r>
            <a:endParaRPr lang="en-US" sz="16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57032" y="1645920"/>
            <a:ext cx="30175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In scope</a:t>
            </a:r>
            <a:endParaRPr lang="en-US" sz="1340" dirty="0">
              <a:latin typeface="+mj-lt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Login / Register</a:t>
            </a:r>
            <a:endParaRPr lang="en-US" sz="1340" dirty="0">
              <a:latin typeface="+mj-lt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Product / Search</a:t>
            </a:r>
            <a:endParaRPr lang="en-US" sz="1340" dirty="0">
              <a:latin typeface="+mj-lt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Cart / Voucher / Checkout</a:t>
            </a:r>
            <a:endParaRPr lang="en-US" sz="1340" dirty="0">
              <a:latin typeface="+mj-lt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Admin Product / Admin Voucher</a:t>
            </a:r>
            <a:endParaRPr lang="en-US" sz="1340" dirty="0">
              <a:latin typeface="+mj-lt"/>
            </a:endParaRPr>
          </a:p>
          <a:p>
            <a:pPr marL="0" indent="0" algn="l">
              <a:buNone/>
            </a:pPr>
            <a:endParaRPr lang="en-US" sz="1340" dirty="0">
              <a:latin typeface="+mj-lt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Out of scope</a:t>
            </a:r>
            <a:endParaRPr lang="en-US" sz="1340" dirty="0">
              <a:latin typeface="+mj-lt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Thanh toán online thực tế</a:t>
            </a:r>
            <a:endParaRPr lang="en-US" sz="1340" dirty="0">
              <a:latin typeface="+mj-lt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Performance tải lớn</a:t>
            </a:r>
            <a:endParaRPr lang="en-US" sz="1340" dirty="0">
              <a:latin typeface="+mj-lt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Security test chuyên sâu</a:t>
            </a:r>
            <a:endParaRPr lang="en-US" sz="1340" dirty="0">
              <a:latin typeface="+mj-lt"/>
            </a:endParaRPr>
          </a:p>
          <a:p>
            <a:pPr marL="0" indent="0" algn="l">
              <a:buNone/>
            </a:pPr>
            <a:r>
              <a:rPr lang="en-US" sz="134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Test đa thiết bị quy mô lớn</a:t>
            </a:r>
            <a:endParaRPr lang="en-US" sz="1340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257032" y="5074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Ưu tiên cao nhất: voucher vì có nhiều nhánh điều kiện và rủi ro logic.</a:t>
            </a:r>
            <a:endParaRPr lang="en-US" sz="125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0827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3. KẾ HOẠCH &amp; CHIẾN LƯỢC KIỂM THỬ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6601968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88272" y="658368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9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960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Lịch trình triển khai</a:t>
            </a:r>
            <a:endParaRPr lang="en-US" sz="140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13990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05/01 – 15/01</a:t>
            </a:r>
            <a:endParaRPr lang="en-US" sz="9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3232" y="1600200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Phân tích yêu cầu</a:t>
            </a:r>
            <a:endParaRPr lang="en-US" sz="1050" dirty="0">
              <a:latin typeface="+mj-lt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&amp; phạm vi kiểm thử</a:t>
            </a:r>
            <a:endParaRPr lang="en-US" sz="105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53512" y="132588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026664" y="13990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16/01 – 31/01</a:t>
            </a:r>
            <a:endParaRPr lang="en-US" sz="9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26664" y="1600200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Thiết kế test case</a:t>
            </a:r>
            <a:endParaRPr lang="en-US" sz="1050" dirty="0">
              <a:latin typeface="+mj-lt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&amp; chuẩn bị dữ liệu</a:t>
            </a:r>
            <a:endParaRPr lang="en-US" sz="105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266944" y="132588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340096" y="13990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01/02 – 20/02</a:t>
            </a:r>
            <a:endParaRPr lang="en-US" sz="9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340096" y="1600200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Kiểm thử thủ công</a:t>
            </a:r>
            <a:endParaRPr lang="en-US" sz="1050" dirty="0">
              <a:latin typeface="+mj-lt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cho các chức năng chính</a:t>
            </a:r>
            <a:endParaRPr lang="en-US" sz="1050" dirty="0">
              <a:latin typeface="+mj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580376" y="132588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53528" y="13990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21/02 – 05/03</a:t>
            </a:r>
            <a:endParaRPr lang="en-US" sz="900" dirty="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53528" y="1600200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White-box, service test</a:t>
            </a:r>
            <a:endParaRPr lang="en-US" sz="1050" dirty="0">
              <a:latin typeface="+mj-lt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&amp; regression test</a:t>
            </a:r>
            <a:endParaRPr lang="en-US" sz="1050" dirty="0">
              <a:latin typeface="+mj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893808" y="1325880"/>
            <a:ext cx="2148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966960" y="1399032"/>
            <a:ext cx="2002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06/03 – 17/03</a:t>
            </a:r>
            <a:endParaRPr lang="en-US" sz="900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966960" y="1600200"/>
            <a:ext cx="2002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Tổng hợp kết quả</a:t>
            </a:r>
            <a:endParaRPr lang="en-US" sz="1050" dirty="0">
              <a:latin typeface="+mj-lt"/>
            </a:endParaRPr>
          </a:p>
          <a:p>
            <a:pPr marL="0" indent="0" algn="ctr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&amp; hoàn thiện báo cáo</a:t>
            </a:r>
            <a:endParaRPr lang="en-US" sz="1050" dirty="0">
              <a:latin typeface="+mj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0080" y="274320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41248" y="28529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Các loại testing áp dụng</a:t>
            </a:r>
            <a:endParaRPr lang="en-US" sz="16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68680" y="3163824"/>
            <a:ext cx="30632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Functional Testing</a:t>
            </a:r>
            <a:endParaRPr lang="en-US" sz="1320" dirty="0">
              <a:latin typeface="+mj-lt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Integration Testing</a:t>
            </a:r>
            <a:endParaRPr lang="en-US" sz="1320" dirty="0">
              <a:latin typeface="+mj-lt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System Testing</a:t>
            </a:r>
            <a:endParaRPr lang="en-US" sz="1320" dirty="0">
              <a:latin typeface="+mj-lt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Regression Testing</a:t>
            </a:r>
            <a:endParaRPr lang="en-US" sz="1320" dirty="0">
              <a:latin typeface="+mj-lt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White-box ở mức service</a:t>
            </a:r>
            <a:endParaRPr lang="en-US" sz="1320" dirty="0">
              <a:latin typeface="+mj-lt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Black-box ở mức giao diện/nghiệp vụ</a:t>
            </a:r>
            <a:endParaRPr lang="en-US" sz="1320" dirty="0">
              <a:latin typeface="+mj-l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315968" y="2743200"/>
            <a:ext cx="3611880" cy="2743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517136" y="285292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Chiến lược triển khai</a:t>
            </a:r>
            <a:endParaRPr lang="en-US" sz="1600" dirty="0">
              <a:latin typeface="+mj-lt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44568" y="3163824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Manual test cho luồng người dùng và admin</a:t>
            </a:r>
            <a:endParaRPr lang="en-US" sz="1320" dirty="0">
              <a:latin typeface="+mj-lt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Unit/service test cho logic backend</a:t>
            </a:r>
            <a:endParaRPr lang="en-US" sz="1320" dirty="0">
              <a:latin typeface="+mj-lt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Dùng test fail để phản ánh lỗi thực tế</a:t>
            </a:r>
            <a:endParaRPr lang="en-US" sz="1320" dirty="0">
              <a:latin typeface="+mj-lt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Regression sau mỗi lần sửa lỗi</a:t>
            </a:r>
            <a:endParaRPr lang="en-US" sz="1320" dirty="0">
              <a:latin typeface="+mj-lt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991856" y="2743200"/>
            <a:ext cx="3566160" cy="2743200"/>
          </a:xfrm>
          <a:prstGeom prst="roundRect">
            <a:avLst>
              <a:gd name="adj" fmla="val 4000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193024" y="285292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Automation hỗ trợ</a:t>
            </a:r>
            <a:endParaRPr lang="en-US" sz="1600" dirty="0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0" y="3163824"/>
            <a:ext cx="30449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Project đã có các class test như:</a:t>
            </a:r>
            <a:endParaRPr lang="en-US" sz="1280" dirty="0">
              <a:latin typeface="+mj-lt"/>
            </a:endParaRPr>
          </a:p>
          <a:p>
            <a:pPr marL="0" indent="0" algn="l">
              <a:buNone/>
            </a:pPr>
            <a:r>
              <a:rPr lang="en-US" sz="128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LoginServiceTest, RegisterServiceTest, CartServiceTest, CheckoutServiceTest, VoucherServiceTest, AdminProductServiceTest…</a:t>
            </a:r>
            <a:endParaRPr lang="en-US" sz="1280" dirty="0">
              <a:latin typeface="+mj-l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0" y="470916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Mục tiêu: kiểm tra logic service và hỗ trợ đo coverage bằng JaCoCo.</a:t>
            </a:r>
            <a:endParaRPr lang="en-US" sz="1250" dirty="0">
              <a:latin typeface="+mj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4. MÔI TRƯỜNG, TIÊU CHÍ &amp; RỦI RO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6611113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6611113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9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134416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Môi trường kiểm thử</a:t>
            </a:r>
            <a:endParaRPr lang="en-US" sz="16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OS: Windows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29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Trình</a:t>
            </a: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29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duyệt</a:t>
            </a: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29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chính</a:t>
            </a: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: Edge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Bổ sung kiểm tra cơ bản trên Edge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Backend: Java Spring Boot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Template engine: Thymeleaf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Data access: Spring Data JPA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Database: MySQL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Công cụ test: JUnit, Mockito, spring-boot-starter-test, JaCoCo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IDE: Eclipse / IntelliJ IDEA</a:t>
            </a:r>
            <a:endParaRPr lang="en-US" sz="129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15968" y="1234440"/>
            <a:ext cx="3611880" cy="4754880"/>
          </a:xfrm>
          <a:prstGeom prst="roundRect">
            <a:avLst>
              <a:gd name="adj" fmla="val 3038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17136" y="134416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Entry / Exit criteria</a:t>
            </a:r>
            <a:endParaRPr lang="en-US" sz="16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53712" y="1645920"/>
            <a:ext cx="3063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Entry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Ứng dụng chạy ổn định </a:t>
            </a:r>
            <a:r>
              <a:rPr lang="en-US" sz="126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trên</a:t>
            </a: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local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DB </a:t>
            </a:r>
            <a:r>
              <a:rPr lang="en-US" sz="126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kết</a:t>
            </a: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26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nối</a:t>
            </a: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26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ổn</a:t>
            </a: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</a:t>
            </a:r>
            <a:r>
              <a:rPr lang="en-US" sz="126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định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Có data mẫu, user/admin, voucher nhiều trạng thái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Các màn hình chính truy cập được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Có bộ test case ban đầu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Chạy được test trong src/test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Exit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• Các test case chính đã chạy xong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Có thống kê Pass / Fail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Lỗi nghiêm trọng được ghi nhận</a:t>
            </a:r>
            <a:endParaRPr lang="en-US" sz="1260" dirty="0">
              <a:latin typeface="+mj-lt"/>
            </a:endParaRPr>
          </a:p>
          <a:p>
            <a:pPr marL="0" indent="0" algn="l">
              <a:buNone/>
            </a:pPr>
            <a:r>
              <a:rPr lang="en-US" sz="126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Đã regression test và tổng hợp báo cáo</a:t>
            </a:r>
            <a:endParaRPr lang="en-US" sz="1260" dirty="0">
              <a:latin typeface="+mj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991856" y="1234440"/>
            <a:ext cx="3566160" cy="4754880"/>
          </a:xfrm>
          <a:prstGeom prst="roundRect">
            <a:avLst>
              <a:gd name="adj" fmla="val 3077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93024" y="1344168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Rủi ro &amp; biện pháp xử lý</a:t>
            </a:r>
            <a:endParaRPr lang="en-US" sz="16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0" y="1645920"/>
            <a:ext cx="30175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Thiếu dữ liệu test → chuẩn bị sẵn data mẫu đa dạng</a:t>
            </a:r>
            <a:endParaRPr lang="en-US" sz="1270" dirty="0">
              <a:latin typeface="+mj-lt"/>
            </a:endParaRPr>
          </a:p>
          <a:p>
            <a:pPr marL="0" indent="0" algn="l">
              <a:buNone/>
            </a:pPr>
            <a:r>
              <a:rPr lang="en-US" sz="12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Thay đổi code trong lúc test → </a:t>
            </a:r>
            <a:r>
              <a:rPr lang="en-US" sz="1270" dirty="0" err="1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chạy</a:t>
            </a:r>
            <a:r>
              <a:rPr lang="en-US" sz="12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regression</a:t>
            </a:r>
            <a:endParaRPr lang="en-US" sz="1270" dirty="0">
              <a:latin typeface="+mj-lt"/>
            </a:endParaRPr>
          </a:p>
          <a:p>
            <a:pPr marL="0" indent="0" algn="l">
              <a:buNone/>
            </a:pPr>
            <a:r>
              <a:rPr lang="en-US" sz="12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Thời gian hạn chế → ưu tiên module cốt lõi</a:t>
            </a:r>
            <a:endParaRPr lang="en-US" sz="1270" dirty="0">
              <a:latin typeface="+mj-lt"/>
            </a:endParaRPr>
          </a:p>
          <a:p>
            <a:pPr marL="0" indent="0" algn="l">
              <a:buNone/>
            </a:pPr>
            <a:r>
              <a:rPr lang="en-US" sz="12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Chỉ test giao diện hoặc chỉ test code → kết hợp manual + service test</a:t>
            </a:r>
            <a:endParaRPr lang="en-US" sz="1270" dirty="0">
              <a:latin typeface="+mj-lt"/>
            </a:endParaRPr>
          </a:p>
          <a:p>
            <a:pPr marL="0" indent="0" algn="l">
              <a:buNone/>
            </a:pPr>
            <a:r>
              <a:rPr lang="en-US" sz="12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Coverage còn thấp → bổ sung test cho Voucher, Cart, Checkout</a:t>
            </a:r>
            <a:endParaRPr lang="en-US" sz="1270" dirty="0">
              <a:latin typeface="+mj-lt"/>
            </a:endParaRPr>
          </a:p>
          <a:p>
            <a:pPr marL="0" indent="0" algn="l">
              <a:buNone/>
            </a:pPr>
            <a:r>
              <a:rPr lang="en-US" sz="12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• Lỗi cấu hình môi trường → kiểm tra local trước khi test</a:t>
            </a:r>
            <a:endParaRPr lang="en-US" sz="1270" dirty="0">
              <a:latin typeface="+mj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5. THIẾT KẾ BLACK-BOX TRỌNG TÂM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6629400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73968" y="6639449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6</a:t>
            </a:r>
            <a:endParaRPr lang="en-US" sz="9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6537960" cy="4800600"/>
          </a:xfrm>
          <a:prstGeom prst="roundRect">
            <a:avLst>
              <a:gd name="adj" fmla="val 2286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1344168"/>
            <a:ext cx="6135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Kỹ thuật sử dụng</a:t>
            </a:r>
            <a:endParaRPr lang="en-US" sz="16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Phân vùng tương đương</a:t>
            </a:r>
            <a:endParaRPr lang="en-US" sz="145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68680" y="1938528"/>
            <a:ext cx="5989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Register: email đúng/sai/rỗng/trùng</a:t>
            </a:r>
            <a:endParaRPr lang="en-US" sz="1310" dirty="0">
              <a:latin typeface="+mj-lt"/>
            </a:endParaRPr>
          </a:p>
          <a:p>
            <a:pPr marL="0" indent="0" algn="l">
              <a:buNone/>
            </a:pPr>
            <a:r>
              <a:rPr lang="en-US" sz="131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Login: account tồn tại/không tồn tại, password đúng/sai</a:t>
            </a:r>
            <a:endParaRPr lang="en-US" sz="1310" dirty="0">
              <a:latin typeface="+mj-lt"/>
            </a:endParaRPr>
          </a:p>
          <a:p>
            <a:pPr marL="0" indent="0" algn="l">
              <a:buNone/>
            </a:pPr>
            <a:r>
              <a:rPr lang="en-US" sz="131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Cart: qty hợp lệ / &lt; 1 / vượt stock</a:t>
            </a:r>
            <a:endParaRPr lang="en-US" sz="1310" dirty="0">
              <a:latin typeface="+mj-lt"/>
            </a:endParaRPr>
          </a:p>
          <a:p>
            <a:pPr marL="0" indent="0" algn="l">
              <a:buNone/>
            </a:pPr>
            <a:r>
              <a:rPr lang="en-US" sz="131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Voucher: hợp lệ, inactive, chưa bắt đầu, hết hạn, thiếu min order, vượt usage limit</a:t>
            </a:r>
            <a:endParaRPr lang="en-US" sz="131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34290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Phân tích giá trị biên</a:t>
            </a:r>
            <a:endParaRPr lang="en-US" sz="145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3703320"/>
            <a:ext cx="5989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1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Password: 5 / 6 / 7 ký tự</a:t>
            </a:r>
            <a:endParaRPr lang="en-US" sz="1310" dirty="0">
              <a:latin typeface="+mj-lt"/>
            </a:endParaRPr>
          </a:p>
          <a:p>
            <a:pPr marL="0" indent="0" algn="l">
              <a:buNone/>
            </a:pPr>
            <a:r>
              <a:rPr lang="en-US" sz="131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Qty: 0 / 1 / 2</a:t>
            </a:r>
            <a:endParaRPr lang="en-US" sz="1310" dirty="0">
              <a:latin typeface="+mj-lt"/>
            </a:endParaRPr>
          </a:p>
          <a:p>
            <a:pPr marL="0" indent="0" algn="l">
              <a:buNone/>
            </a:pPr>
            <a:r>
              <a:rPr lang="en-US" sz="131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Price, Stock: -1 / 0 / 1</a:t>
            </a:r>
            <a:endParaRPr lang="en-US" sz="1310" dirty="0">
              <a:latin typeface="+mj-lt"/>
            </a:endParaRPr>
          </a:p>
          <a:p>
            <a:pPr marL="0" indent="0" algn="l">
              <a:buNone/>
            </a:pPr>
            <a:r>
              <a:rPr lang="en-US" sz="131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Subtotal so với minOrder = 100000: 99999 / 100000 / 100001</a:t>
            </a:r>
            <a:endParaRPr lang="en-US" sz="1310" dirty="0">
              <a:latin typeface="+mj-lt"/>
            </a:endParaRPr>
          </a:p>
          <a:p>
            <a:pPr marL="0" indent="0" algn="l">
              <a:buNone/>
            </a:pPr>
            <a:r>
              <a:rPr lang="en-US" sz="131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UsedCount so với usageLimit = 100: 99 / 100 / 101</a:t>
            </a:r>
            <a:endParaRPr lang="en-US" sz="1310" dirty="0">
              <a:latin typeface="+mj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333488" y="1234440"/>
            <a:ext cx="4206240" cy="4800600"/>
          </a:xfrm>
          <a:prstGeom prst="roundRect">
            <a:avLst>
              <a:gd name="adj" fmla="val 2609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34656" y="1344168"/>
            <a:ext cx="3803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Decision table cho Voucher</a:t>
            </a:r>
            <a:endParaRPr lang="en-US" sz="16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71232" y="1737360"/>
            <a:ext cx="3703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Hàm validateVoucher() dùng cơ chế fail-fast:</a:t>
            </a:r>
            <a:endParaRPr lang="en-US" sz="1320" dirty="0">
              <a:latin typeface="+mj-lt"/>
            </a:endParaRPr>
          </a:p>
          <a:p>
            <a:pPr marL="0" indent="0" algn="l">
              <a:buNone/>
            </a:pPr>
            <a:endParaRPr lang="en-US" sz="1320" dirty="0">
              <a:latin typeface="+mj-lt"/>
            </a:endParaRPr>
          </a:p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active → start date → end date → min order → usage limit → discountValue → minOrderValue → maxDiscount → hợp lệ</a:t>
            </a:r>
            <a:endParaRPr lang="en-US" sz="132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662672" y="3977640"/>
            <a:ext cx="1005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754112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8</a:t>
            </a:r>
            <a:endParaRPr lang="en-US" sz="180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754112" y="44165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Điều kiện</a:t>
            </a:r>
            <a:endParaRPr lang="en-US" sz="1000" dirty="0">
              <a:latin typeface="+mj-l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906256" y="3977640"/>
            <a:ext cx="1005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997696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8</a:t>
            </a:r>
            <a:endParaRPr lang="en-US" sz="1800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997696" y="44165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Rule lỗi</a:t>
            </a:r>
            <a:endParaRPr lang="en-US" sz="1000" dirty="0">
              <a:latin typeface="+mj-l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0149840" y="3977640"/>
            <a:ext cx="10058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24128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+mj-lt"/>
                <a:ea typeface="Arial" pitchFamily="34" charset="-122"/>
                <a:cs typeface="Arial" pitchFamily="34" charset="-120"/>
              </a:rPr>
              <a:t>1</a:t>
            </a:r>
            <a:endParaRPr lang="en-US" sz="1800" dirty="0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241280" y="44165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Rule pass</a:t>
            </a:r>
            <a:endParaRPr lang="en-US" sz="1000" dirty="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571232" y="5010912"/>
            <a:ext cx="36758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Từ decision table, nhóm suy ra 9 rule đại diện để thiết kế test case black-box cho voucher.</a:t>
            </a:r>
            <a:endParaRPr lang="en-US" sz="126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6. WHITE-BOX &amp; ĐỘ CHE PHỦ TEST CASE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45745" y="6574264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201400" y="661568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7</a:t>
            </a:r>
            <a:endParaRPr lang="en-US" sz="9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577840" cy="4892040"/>
          </a:xfrm>
          <a:prstGeom prst="roundRect">
            <a:avLst>
              <a:gd name="adj" fmla="val 2243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1344168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Các hàm được phân tích</a:t>
            </a:r>
            <a:endParaRPr lang="en-US" sz="16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1664208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validateVoucher() trong VoucherService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login() trong LoginService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register() trong RegisterService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addToCart() / updateQuantity() trong CartService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checkout() trong CheckoutService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createProduct() trong AdminProductService</a:t>
            </a:r>
            <a:endParaRPr lang="en-US" sz="129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3090672"/>
            <a:ext cx="2201875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" y="3136392"/>
            <a:ext cx="21470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Hàm / Module</a:t>
            </a:r>
            <a:endParaRPr lang="en-US" sz="105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070555" y="3090672"/>
            <a:ext cx="921715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97987" y="3136392"/>
            <a:ext cx="86685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Decision</a:t>
            </a:r>
            <a:endParaRPr lang="en-US" sz="105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992270" y="3090672"/>
            <a:ext cx="716890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19702" y="3136392"/>
            <a:ext cx="6620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CC</a:t>
            </a:r>
            <a:endParaRPr lang="en-US" sz="105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09160" y="3090672"/>
            <a:ext cx="1280160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736592" y="3136392"/>
            <a:ext cx="1225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Path tối thiểu</a:t>
            </a:r>
            <a:endParaRPr lang="en-US" sz="1050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68680" y="3438144"/>
            <a:ext cx="220187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96112" y="3474720"/>
            <a:ext cx="214701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validateVoucher()</a:t>
            </a:r>
            <a:endParaRPr lang="en-US" sz="1050" dirty="0">
              <a:latin typeface="+mj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070555" y="3438144"/>
            <a:ext cx="92171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097987" y="3474720"/>
            <a:ext cx="86685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8</a:t>
            </a:r>
            <a:endParaRPr lang="en-US" sz="1050" dirty="0">
              <a:latin typeface="+mj-l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992270" y="3438144"/>
            <a:ext cx="71689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019702" y="3474720"/>
            <a:ext cx="66202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9</a:t>
            </a:r>
            <a:endParaRPr lang="en-US" sz="1050" dirty="0"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09160" y="3438144"/>
            <a:ext cx="128016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36592" y="3474720"/>
            <a:ext cx="122529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9</a:t>
            </a:r>
            <a:endParaRPr lang="en-US" sz="1050" dirty="0">
              <a:latin typeface="+mj-l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68680" y="3802380"/>
            <a:ext cx="220187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96112" y="3838956"/>
            <a:ext cx="214701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login()</a:t>
            </a:r>
            <a:endParaRPr lang="en-US" sz="1050" dirty="0">
              <a:latin typeface="+mj-l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070555" y="3802380"/>
            <a:ext cx="92171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097987" y="3838956"/>
            <a:ext cx="86685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1050" dirty="0">
              <a:latin typeface="+mj-lt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992270" y="3802380"/>
            <a:ext cx="71689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19702" y="3838956"/>
            <a:ext cx="66202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6</a:t>
            </a:r>
            <a:endParaRPr lang="en-US" sz="1050" dirty="0">
              <a:latin typeface="+mj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09160" y="3802380"/>
            <a:ext cx="128016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736592" y="3838956"/>
            <a:ext cx="122529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6</a:t>
            </a:r>
            <a:endParaRPr lang="en-US" sz="1050" dirty="0">
              <a:latin typeface="+mj-lt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68680" y="4166616"/>
            <a:ext cx="220187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96112" y="4203192"/>
            <a:ext cx="214701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register()</a:t>
            </a:r>
            <a:endParaRPr lang="en-US" sz="1050" dirty="0">
              <a:latin typeface="+mj-lt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070555" y="4166616"/>
            <a:ext cx="92171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097987" y="4203192"/>
            <a:ext cx="86685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1050" dirty="0">
              <a:latin typeface="+mj-lt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992270" y="4166616"/>
            <a:ext cx="71689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019702" y="4203192"/>
            <a:ext cx="66202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6</a:t>
            </a:r>
            <a:endParaRPr lang="en-US" sz="1050" dirty="0">
              <a:latin typeface="+mj-lt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709160" y="4166616"/>
            <a:ext cx="128016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736592" y="4203192"/>
            <a:ext cx="122529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6</a:t>
            </a:r>
            <a:endParaRPr lang="en-US" sz="1050" dirty="0">
              <a:latin typeface="+mj-lt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868680" y="4530852"/>
            <a:ext cx="220187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96112" y="4567428"/>
            <a:ext cx="214701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addToCart()</a:t>
            </a:r>
            <a:endParaRPr lang="en-US" sz="1050" dirty="0">
              <a:latin typeface="+mj-lt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070555" y="4530852"/>
            <a:ext cx="92171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097987" y="4567428"/>
            <a:ext cx="86685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1050" dirty="0">
              <a:latin typeface="+mj-lt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992270" y="4530852"/>
            <a:ext cx="71689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019702" y="4567428"/>
            <a:ext cx="66202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1050" dirty="0">
              <a:latin typeface="+mj-lt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709160" y="4530852"/>
            <a:ext cx="128016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736592" y="4567428"/>
            <a:ext cx="122529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1050" dirty="0">
              <a:latin typeface="+mj-lt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868680" y="4895088"/>
            <a:ext cx="220187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896112" y="4931664"/>
            <a:ext cx="214701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checkout()</a:t>
            </a:r>
            <a:endParaRPr lang="en-US" sz="1050" dirty="0">
              <a:latin typeface="+mj-lt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070555" y="4895088"/>
            <a:ext cx="92171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097987" y="4931664"/>
            <a:ext cx="86685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1050" dirty="0">
              <a:latin typeface="+mj-lt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3992270" y="4895088"/>
            <a:ext cx="71689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4019702" y="4931664"/>
            <a:ext cx="66202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1050" dirty="0">
              <a:latin typeface="+mj-lt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4709160" y="4895088"/>
            <a:ext cx="128016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4736592" y="4931664"/>
            <a:ext cx="122529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1050" dirty="0">
              <a:latin typeface="+mj-lt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68680" y="5259324"/>
            <a:ext cx="220187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96112" y="5295900"/>
            <a:ext cx="214701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createProduct()</a:t>
            </a:r>
            <a:endParaRPr lang="en-US" sz="1050" dirty="0">
              <a:latin typeface="+mj-lt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3070555" y="5259324"/>
            <a:ext cx="921715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097987" y="5295900"/>
            <a:ext cx="866851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3</a:t>
            </a:r>
            <a:endParaRPr lang="en-US" sz="1050" dirty="0">
              <a:latin typeface="+mj-lt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992270" y="5259324"/>
            <a:ext cx="71689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4019702" y="5295900"/>
            <a:ext cx="66202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1050" dirty="0">
              <a:latin typeface="+mj-lt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4709160" y="5259324"/>
            <a:ext cx="1280160" cy="364236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4736592" y="5295900"/>
            <a:ext cx="1225296" cy="2910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1050" dirty="0">
              <a:latin typeface="+mj-lt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6382512" y="1234440"/>
            <a:ext cx="5157216" cy="4892040"/>
          </a:xfrm>
          <a:prstGeom prst="roundRect">
            <a:avLst>
              <a:gd name="adj" fmla="val 2243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583680" y="13441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Trọng tâm: validateVoucher()</a:t>
            </a:r>
            <a:endParaRPr lang="en-US" sz="1600" dirty="0">
              <a:latin typeface="+mj-lt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629400" y="1682496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8 điểm quyết định chính:</a:t>
            </a:r>
            <a:endParaRPr lang="en-US" sz="1300" dirty="0">
              <a:latin typeface="+mj-lt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active • start date • end date • min order • usage limit • discountValue • minOrderValue • maxDiscount</a:t>
            </a:r>
            <a:endParaRPr lang="en-US" sz="1300" dirty="0">
              <a:latin typeface="+mj-lt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675120" y="27432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76656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9</a:t>
            </a:r>
            <a:endParaRPr lang="en-US" sz="1800" dirty="0">
              <a:latin typeface="+mj-lt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6766560" y="31821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Cyclomatic Complexity</a:t>
            </a:r>
            <a:endParaRPr lang="en-US" sz="1000" dirty="0">
              <a:latin typeface="+mj-lt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8321040" y="27432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841248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9</a:t>
            </a:r>
            <a:endParaRPr lang="en-US" sz="1800" dirty="0">
              <a:latin typeface="+mj-lt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8412480" y="31821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Path độc lập tối thiểu</a:t>
            </a:r>
            <a:endParaRPr lang="en-US" sz="1000" dirty="0">
              <a:latin typeface="+mj-lt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9966960" y="274320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10058400" y="283464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9</a:t>
            </a:r>
            <a:endParaRPr lang="en-US" sz="1800" dirty="0">
              <a:latin typeface="+mj-lt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10058400" y="318211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White-box test bổ sung</a:t>
            </a:r>
            <a:endParaRPr lang="en-US" sz="1000" dirty="0">
              <a:latin typeface="+mj-lt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6656832" y="3822192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Mục tiêu coverage sau khi bổ sung test:</a:t>
            </a:r>
            <a:endParaRPr lang="en-US" sz="1300" dirty="0">
              <a:latin typeface="+mj-lt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Statement Coverage: 100%</a:t>
            </a:r>
            <a:endParaRPr lang="en-US" sz="1300" dirty="0">
              <a:latin typeface="+mj-lt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Branch Coverage: 100%</a:t>
            </a:r>
            <a:endParaRPr lang="en-US" sz="1300" dirty="0">
              <a:latin typeface="+mj-lt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Basis Path Coverage: 100%</a:t>
            </a:r>
            <a:endParaRPr lang="en-US" sz="1300" dirty="0">
              <a:latin typeface="+mj-lt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6656832" y="4919472"/>
            <a:ext cx="4434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Lưu ý: coverage khác pass rate; test fail vẫn có thể đi qua nhánh code và đóng góp vào mức bao phủ.</a:t>
            </a:r>
            <a:endParaRPr lang="en-US" sz="121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7. TEST CASE ĐẠI DIỆN &amp; TRACEABILITY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36008" y="6601969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88725" y="6583681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8</a:t>
            </a:r>
            <a:endParaRPr lang="en-US" sz="9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9808" y="9601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2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Các test case được chọn gồm cả luồng đúng và luồng sai để phản ánh chất lượng hệ thống thực tế.</a:t>
            </a:r>
            <a:endParaRPr lang="en-US" sz="132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1325880"/>
            <a:ext cx="1346454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" y="1371600"/>
            <a:ext cx="12915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TC ID</a:t>
            </a:r>
            <a:endParaRPr lang="en-US" sz="108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86534" y="1325880"/>
            <a:ext cx="1133856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13966" y="137160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Module</a:t>
            </a:r>
            <a:endParaRPr lang="en-US" sz="108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20390" y="1325880"/>
            <a:ext cx="1984248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47822" y="1371600"/>
            <a:ext cx="1929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Tình huống</a:t>
            </a:r>
            <a:endParaRPr lang="en-US" sz="108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104638" y="1325880"/>
            <a:ext cx="1771650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32070" y="1371600"/>
            <a:ext cx="17167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KQ mong đợi</a:t>
            </a:r>
            <a:endParaRPr lang="en-US" sz="108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876288" y="1325880"/>
            <a:ext cx="850392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903720" y="1371600"/>
            <a:ext cx="795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Trạng thái</a:t>
            </a:r>
            <a:endParaRPr lang="en-US" sz="1080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0080" y="1673352"/>
            <a:ext cx="1346454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67512" y="1709928"/>
            <a:ext cx="1291590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TC_LOGIN_02</a:t>
            </a:r>
            <a:endParaRPr lang="en-US" sz="1070" dirty="0">
              <a:latin typeface="+mj-lt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986534" y="1673352"/>
            <a:ext cx="1133856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013966" y="1709928"/>
            <a:ext cx="1078992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Login</a:t>
            </a:r>
            <a:endParaRPr lang="en-US" sz="1070" dirty="0">
              <a:latin typeface="+mj-l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120390" y="1673352"/>
            <a:ext cx="1984248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147822" y="1709928"/>
            <a:ext cx="1929384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Bỏ trống email + password</a:t>
            </a:r>
            <a:endParaRPr lang="en-US" sz="1070" dirty="0"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104638" y="1673352"/>
            <a:ext cx="1771650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32070" y="1709928"/>
            <a:ext cx="1716786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Hiển thị thông báo rõ ràng</a:t>
            </a:r>
            <a:endParaRPr lang="en-US" sz="1070" dirty="0">
              <a:latin typeface="+mj-l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76288" y="1673352"/>
            <a:ext cx="850392" cy="696468"/>
          </a:xfrm>
          <a:prstGeom prst="rect">
            <a:avLst/>
          </a:prstGeom>
          <a:solidFill>
            <a:srgbClr val="F8EAEA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03720" y="1709928"/>
            <a:ext cx="795528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Fail</a:t>
            </a:r>
            <a:endParaRPr lang="en-US" sz="1070" dirty="0">
              <a:latin typeface="+mj-l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2369820"/>
            <a:ext cx="1346454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" y="2406396"/>
            <a:ext cx="1291590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TC_CART_04</a:t>
            </a:r>
            <a:endParaRPr lang="en-US" sz="1070" dirty="0">
              <a:latin typeface="+mj-lt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986534" y="2369820"/>
            <a:ext cx="1133856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013966" y="2406396"/>
            <a:ext cx="1078992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Cart</a:t>
            </a:r>
            <a:endParaRPr lang="en-US" sz="1070" dirty="0">
              <a:latin typeface="+mj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120390" y="2369820"/>
            <a:ext cx="1984248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3147822" y="2406396"/>
            <a:ext cx="1929384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Số lượng = 0</a:t>
            </a:r>
            <a:endParaRPr lang="en-US" sz="1070" dirty="0">
              <a:latin typeface="+mj-lt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104638" y="2369820"/>
            <a:ext cx="1771650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32070" y="2406396"/>
            <a:ext cx="1716786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Hệ thống phải chặn</a:t>
            </a:r>
            <a:endParaRPr lang="en-US" sz="1070" dirty="0">
              <a:latin typeface="+mj-lt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876288" y="2369820"/>
            <a:ext cx="850392" cy="696468"/>
          </a:xfrm>
          <a:prstGeom prst="rect">
            <a:avLst/>
          </a:prstGeom>
          <a:solidFill>
            <a:srgbClr val="F8EAEA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6903720" y="2406396"/>
            <a:ext cx="795528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Fail</a:t>
            </a:r>
            <a:endParaRPr lang="en-US" sz="1070" dirty="0">
              <a:latin typeface="+mj-lt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40080" y="3066288"/>
            <a:ext cx="1346454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67512" y="3102864"/>
            <a:ext cx="1291590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TC_VOUCHER_03</a:t>
            </a:r>
            <a:endParaRPr lang="en-US" sz="1070" dirty="0">
              <a:latin typeface="+mj-lt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986534" y="3066288"/>
            <a:ext cx="1133856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013966" y="3102864"/>
            <a:ext cx="1078992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Voucher</a:t>
            </a:r>
            <a:endParaRPr lang="en-US" sz="1070" dirty="0">
              <a:latin typeface="+mj-lt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120390" y="3066288"/>
            <a:ext cx="1984248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147822" y="3102864"/>
            <a:ext cx="1929384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Voucher hết hạn</a:t>
            </a:r>
            <a:endParaRPr lang="en-US" sz="1070" dirty="0">
              <a:latin typeface="+mj-lt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104638" y="3066288"/>
            <a:ext cx="1771650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132070" y="3102864"/>
            <a:ext cx="1716786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Phải từ chối áp dụng</a:t>
            </a:r>
            <a:endParaRPr lang="en-US" sz="1070" dirty="0">
              <a:latin typeface="+mj-lt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876288" y="3066288"/>
            <a:ext cx="850392" cy="696468"/>
          </a:xfrm>
          <a:prstGeom prst="rect">
            <a:avLst/>
          </a:prstGeom>
          <a:solidFill>
            <a:srgbClr val="F8EAEA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903720" y="3102864"/>
            <a:ext cx="795528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Fail</a:t>
            </a:r>
            <a:endParaRPr lang="en-US" sz="1070" dirty="0">
              <a:latin typeface="+mj-lt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40080" y="3762756"/>
            <a:ext cx="1346454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67512" y="3799332"/>
            <a:ext cx="1291590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TC_ADMIN_VOUCHER_02</a:t>
            </a:r>
            <a:endParaRPr lang="en-US" sz="1070" dirty="0">
              <a:latin typeface="+mj-lt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986534" y="3762756"/>
            <a:ext cx="1133856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013966" y="3799332"/>
            <a:ext cx="1078992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Admin Voucher</a:t>
            </a:r>
            <a:endParaRPr lang="en-US" sz="1070" dirty="0">
              <a:latin typeface="+mj-lt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120390" y="3762756"/>
            <a:ext cx="1984248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147822" y="3799332"/>
            <a:ext cx="1929384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Discount âm</a:t>
            </a:r>
            <a:endParaRPr lang="en-US" sz="1070" dirty="0">
              <a:latin typeface="+mj-lt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104638" y="3762756"/>
            <a:ext cx="1771650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132070" y="3799332"/>
            <a:ext cx="1716786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Không cho lưu</a:t>
            </a:r>
            <a:endParaRPr lang="en-US" sz="1070" dirty="0">
              <a:latin typeface="+mj-lt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876288" y="3762756"/>
            <a:ext cx="850392" cy="696468"/>
          </a:xfrm>
          <a:prstGeom prst="rect">
            <a:avLst/>
          </a:prstGeom>
          <a:solidFill>
            <a:srgbClr val="F8EAEA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903720" y="3799332"/>
            <a:ext cx="795528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Fail</a:t>
            </a:r>
            <a:endParaRPr lang="en-US" sz="1070" dirty="0">
              <a:latin typeface="+mj-lt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640080" y="4459224"/>
            <a:ext cx="1346454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67512" y="4495800"/>
            <a:ext cx="1291590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TC_VOUCHER_01</a:t>
            </a:r>
            <a:endParaRPr lang="en-US" sz="1070" dirty="0">
              <a:latin typeface="+mj-lt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1986534" y="4459224"/>
            <a:ext cx="1133856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2013966" y="4495800"/>
            <a:ext cx="1078992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Voucher</a:t>
            </a:r>
            <a:endParaRPr lang="en-US" sz="1070" dirty="0">
              <a:latin typeface="+mj-lt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3120390" y="4459224"/>
            <a:ext cx="1984248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147822" y="4495800"/>
            <a:ext cx="1929384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Voucher hợp lệ</a:t>
            </a:r>
            <a:endParaRPr lang="en-US" sz="1070" dirty="0">
              <a:latin typeface="+mj-lt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5104638" y="4459224"/>
            <a:ext cx="1771650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5132070" y="4495800"/>
            <a:ext cx="1716786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Áp dụng thành công</a:t>
            </a:r>
            <a:endParaRPr lang="en-US" sz="1070" dirty="0">
              <a:latin typeface="+mj-lt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6876288" y="4459224"/>
            <a:ext cx="850392" cy="696468"/>
          </a:xfrm>
          <a:prstGeom prst="rect">
            <a:avLst/>
          </a:prstGeom>
          <a:solidFill>
            <a:srgbClr val="EAF4EE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6903720" y="4495800"/>
            <a:ext cx="795528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2E8B57"/>
                </a:solidFill>
                <a:latin typeface="+mj-lt"/>
                <a:ea typeface="Arial" pitchFamily="34" charset="-122"/>
                <a:cs typeface="Arial" pitchFamily="34" charset="-120"/>
              </a:rPr>
              <a:t>Pass</a:t>
            </a:r>
            <a:endParaRPr lang="en-US" sz="1070" dirty="0">
              <a:latin typeface="+mj-lt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640080" y="5155692"/>
            <a:ext cx="1346454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667512" y="5192268"/>
            <a:ext cx="1291590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TC_CHECKOUT_01</a:t>
            </a:r>
            <a:endParaRPr lang="en-US" sz="1070" dirty="0">
              <a:latin typeface="+mj-lt"/>
            </a:endParaRPr>
          </a:p>
        </p:txBody>
      </p:sp>
      <p:sp>
        <p:nvSpPr>
          <p:cNvPr id="70" name="Shape 68"/>
          <p:cNvSpPr/>
          <p:nvPr/>
        </p:nvSpPr>
        <p:spPr>
          <a:xfrm>
            <a:off x="1986534" y="5155692"/>
            <a:ext cx="1133856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2013966" y="5192268"/>
            <a:ext cx="1078992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Checkout</a:t>
            </a:r>
            <a:endParaRPr lang="en-US" sz="1070" dirty="0">
              <a:latin typeface="+mj-lt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3120390" y="5155692"/>
            <a:ext cx="1984248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3147822" y="5192268"/>
            <a:ext cx="1929384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Dữ liệu hợp lệ</a:t>
            </a:r>
            <a:endParaRPr lang="en-US" sz="1070" dirty="0">
              <a:latin typeface="+mj-lt"/>
            </a:endParaRPr>
          </a:p>
        </p:txBody>
      </p:sp>
      <p:sp>
        <p:nvSpPr>
          <p:cNvPr id="74" name="Shape 72"/>
          <p:cNvSpPr/>
          <p:nvPr/>
        </p:nvSpPr>
        <p:spPr>
          <a:xfrm>
            <a:off x="5104638" y="5155692"/>
            <a:ext cx="1771650" cy="696468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5132070" y="5192268"/>
            <a:ext cx="1716786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Tạo đơn thành công</a:t>
            </a:r>
            <a:endParaRPr lang="en-US" sz="1070" dirty="0">
              <a:latin typeface="+mj-lt"/>
            </a:endParaRPr>
          </a:p>
        </p:txBody>
      </p:sp>
      <p:sp>
        <p:nvSpPr>
          <p:cNvPr id="76" name="Shape 74"/>
          <p:cNvSpPr/>
          <p:nvPr/>
        </p:nvSpPr>
        <p:spPr>
          <a:xfrm>
            <a:off x="6876288" y="5155692"/>
            <a:ext cx="850392" cy="696468"/>
          </a:xfrm>
          <a:prstGeom prst="rect">
            <a:avLst/>
          </a:prstGeom>
          <a:solidFill>
            <a:srgbClr val="EAF4EE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6903720" y="5192268"/>
            <a:ext cx="795528" cy="6233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2E8B57"/>
                </a:solidFill>
                <a:latin typeface="+mj-lt"/>
                <a:ea typeface="Arial" pitchFamily="34" charset="-122"/>
                <a:cs typeface="Arial" pitchFamily="34" charset="-120"/>
              </a:rPr>
              <a:t>Pass</a:t>
            </a:r>
            <a:endParaRPr lang="en-US" sz="1070" dirty="0">
              <a:latin typeface="+mj-lt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7955280" y="1325880"/>
            <a:ext cx="3611880" cy="4526280"/>
          </a:xfrm>
          <a:prstGeom prst="roundRect">
            <a:avLst>
              <a:gd name="adj" fmla="val 3038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8156448" y="143560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Liên kết yêu cầu ↔ test ↔ bug</a:t>
            </a:r>
            <a:endParaRPr lang="en-US" sz="1600" dirty="0">
              <a:latin typeface="+mj-lt"/>
            </a:endParaRPr>
          </a:p>
        </p:txBody>
      </p:sp>
      <p:sp>
        <p:nvSpPr>
          <p:cNvPr id="80" name="Shape 78"/>
          <p:cNvSpPr/>
          <p:nvPr/>
        </p:nvSpPr>
        <p:spPr>
          <a:xfrm>
            <a:off x="8211312" y="1755648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8321040" y="1865376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RQ02  →  TC_LOGIN_02  →  BUG001</a:t>
            </a:r>
            <a:endParaRPr lang="en-US" sz="1170" dirty="0">
              <a:latin typeface="+mj-lt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10698480" y="2075688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Fail</a:t>
            </a:r>
            <a:endParaRPr lang="en-US" sz="1080" dirty="0">
              <a:latin typeface="+mj-lt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8211312" y="2505456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8321040" y="2615184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RQ05  →  TC_CART_04  →  BUG003</a:t>
            </a:r>
            <a:endParaRPr lang="en-US" sz="1170" dirty="0">
              <a:latin typeface="+mj-lt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10698480" y="2825496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Fail</a:t>
            </a:r>
            <a:endParaRPr lang="en-US" sz="1080" dirty="0">
              <a:latin typeface="+mj-lt"/>
            </a:endParaRPr>
          </a:p>
        </p:txBody>
      </p:sp>
      <p:sp>
        <p:nvSpPr>
          <p:cNvPr id="86" name="Shape 84"/>
          <p:cNvSpPr/>
          <p:nvPr/>
        </p:nvSpPr>
        <p:spPr>
          <a:xfrm>
            <a:off x="8211312" y="3255264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8321040" y="336499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RQ08  →  TC_VOUCHER_03  →  BUG005</a:t>
            </a:r>
            <a:endParaRPr lang="en-US" sz="1170" dirty="0">
              <a:latin typeface="+mj-lt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10698480" y="3575304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Fail</a:t>
            </a:r>
            <a:endParaRPr lang="en-US" sz="1080" dirty="0">
              <a:latin typeface="+mj-lt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8211312" y="4005072"/>
            <a:ext cx="3108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0" name="Text 88"/>
          <p:cNvSpPr/>
          <p:nvPr/>
        </p:nvSpPr>
        <p:spPr>
          <a:xfrm>
            <a:off x="8321040" y="4114800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17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RQ11  →  TC_ADMIN_VOUCHER_01  →  —</a:t>
            </a:r>
            <a:endParaRPr lang="en-US" sz="1170" dirty="0">
              <a:latin typeface="+mj-lt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10698480" y="432511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20000"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2E8B57"/>
                </a:solidFill>
                <a:latin typeface="+mj-lt"/>
                <a:ea typeface="Arial" pitchFamily="34" charset="-122"/>
                <a:cs typeface="Arial" pitchFamily="34" charset="-120"/>
              </a:rPr>
              <a:t>Pass</a:t>
            </a:r>
            <a:endParaRPr lang="en-US" sz="1080" dirty="0">
              <a:latin typeface="+mj-lt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8211312" y="4956048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Traceability matrix giúp nhìn rõ yêu cầu nào đã được kiểm tra, yêu cầu nào đang bị ảnh hưởng khi test fail.</a:t>
            </a:r>
            <a:endParaRPr lang="en-US" sz="1220" dirty="0">
              <a:latin typeface="+mj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8. KẾT QUẢ THỰC THI &amp; BUG CHÍNH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63440" y="6601969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6583681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9</a:t>
            </a:r>
            <a:endParaRPr lang="en-US" sz="9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3611880" cy="4709160"/>
          </a:xfrm>
          <a:prstGeom prst="roundRect">
            <a:avLst>
              <a:gd name="adj" fmla="val 3038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841248" y="1344168"/>
            <a:ext cx="32095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Kết quả test tổng thể</a:t>
            </a:r>
            <a:endParaRPr lang="en-US" sz="16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932688" y="16276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30</a:t>
            </a:r>
            <a:endParaRPr lang="en-US" sz="28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41248" y="20848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test case đã thực thi</a:t>
            </a:r>
            <a:endParaRPr lang="en-US" sz="105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31720" y="1719072"/>
            <a:ext cx="868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23160" y="18105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+mj-lt"/>
                <a:ea typeface="Arial" pitchFamily="34" charset="-122"/>
                <a:cs typeface="Arial" pitchFamily="34" charset="-120"/>
              </a:rPr>
              <a:t>23</a:t>
            </a:r>
            <a:endParaRPr lang="en-US" sz="18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23160" y="21579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Pass</a:t>
            </a:r>
            <a:endParaRPr lang="en-US" sz="100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6120" y="1719072"/>
            <a:ext cx="868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1810512"/>
            <a:ext cx="685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7</a:t>
            </a:r>
            <a:endParaRPr lang="en-US" sz="1800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37560" y="21579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Fail</a:t>
            </a:r>
            <a:endParaRPr lang="en-US" sz="1000" dirty="0">
              <a:latin typeface="+mj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14400" y="2926080"/>
            <a:ext cx="3017520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14400" y="2926080"/>
            <a:ext cx="2313533" cy="310896"/>
          </a:xfrm>
          <a:prstGeom prst="roundRect">
            <a:avLst>
              <a:gd name="adj" fmla="val 11765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3355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Pass rate 76,67%</a:t>
            </a:r>
            <a:endParaRPr lang="en-US" sz="1260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4400" y="36118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8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Fail rate 23,33%</a:t>
            </a:r>
            <a:endParaRPr lang="en-US" sz="1180" dirty="0">
              <a:latin typeface="+mj-lt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34840" y="1234440"/>
            <a:ext cx="2834640" cy="4709160"/>
          </a:xfrm>
          <a:prstGeom prst="roundRect">
            <a:avLst>
              <a:gd name="adj" fmla="val 3871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36008" y="1344168"/>
            <a:ext cx="2432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Kết quả theo module</a:t>
            </a:r>
            <a:endParaRPr lang="en-US" sz="1600" dirty="0">
              <a:latin typeface="+mj-lt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636008" y="1691640"/>
            <a:ext cx="1187348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663440" y="1737360"/>
            <a:ext cx="11324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Module</a:t>
            </a:r>
            <a:endParaRPr lang="en-US" sz="1050" dirty="0">
              <a:latin typeface="+mj-lt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823356" y="1691640"/>
            <a:ext cx="339242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50788" y="1737360"/>
            <a:ext cx="284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TC</a:t>
            </a:r>
            <a:endParaRPr lang="en-US" sz="1050" dirty="0">
              <a:latin typeface="+mj-lt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162599" y="1691640"/>
            <a:ext cx="339242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190031" y="1737360"/>
            <a:ext cx="284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P</a:t>
            </a:r>
            <a:endParaRPr lang="en-US" sz="1050" dirty="0">
              <a:latin typeface="+mj-lt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501841" y="1691640"/>
            <a:ext cx="339242" cy="347472"/>
          </a:xfrm>
          <a:prstGeom prst="rect">
            <a:avLst/>
          </a:prstGeom>
          <a:solidFill>
            <a:srgbClr val="D9D1C3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29273" y="1737360"/>
            <a:ext cx="2843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F</a:t>
            </a:r>
            <a:endParaRPr lang="en-US" sz="1050" dirty="0">
              <a:latin typeface="+mj-lt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36008" y="2039112"/>
            <a:ext cx="1187348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663440" y="2075688"/>
            <a:ext cx="1132484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Reg/Login</a:t>
            </a:r>
            <a:endParaRPr lang="en-US" sz="1030" dirty="0">
              <a:latin typeface="+mj-lt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823356" y="2039112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50788" y="2075688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6</a:t>
            </a:r>
            <a:endParaRPr lang="en-US" sz="1030" dirty="0">
              <a:latin typeface="+mj-lt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162599" y="2039112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190031" y="2075688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1030" dirty="0">
              <a:latin typeface="+mj-lt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501841" y="2039112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29273" y="2075688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2</a:t>
            </a:r>
            <a:endParaRPr lang="en-US" sz="1030" dirty="0">
              <a:latin typeface="+mj-lt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636008" y="2538113"/>
            <a:ext cx="1187348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663440" y="2574689"/>
            <a:ext cx="1132484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Product</a:t>
            </a:r>
            <a:endParaRPr lang="en-US" sz="1030" dirty="0">
              <a:latin typeface="+mj-lt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823356" y="2538113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50788" y="2574689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1030" dirty="0">
              <a:latin typeface="+mj-lt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162599" y="2538113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190031" y="2574689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1030" dirty="0">
              <a:latin typeface="+mj-lt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501841" y="2538113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29273" y="2574689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0</a:t>
            </a:r>
            <a:endParaRPr lang="en-US" sz="1030" dirty="0">
              <a:latin typeface="+mj-lt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636008" y="3037114"/>
            <a:ext cx="1187348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663440" y="3073690"/>
            <a:ext cx="1132484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Cart</a:t>
            </a:r>
            <a:endParaRPr lang="en-US" sz="1030" dirty="0">
              <a:latin typeface="+mj-lt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823356" y="3037114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850788" y="3073690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1030" dirty="0">
              <a:latin typeface="+mj-lt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162599" y="3037114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190031" y="3073690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3</a:t>
            </a:r>
            <a:endParaRPr lang="en-US" sz="1030" dirty="0">
              <a:latin typeface="+mj-lt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6501841" y="3037114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529273" y="3073690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2</a:t>
            </a:r>
            <a:endParaRPr lang="en-US" sz="1030" dirty="0">
              <a:latin typeface="+mj-lt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4636008" y="3536115"/>
            <a:ext cx="1187348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4663440" y="3572691"/>
            <a:ext cx="1132484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Voucher</a:t>
            </a:r>
            <a:endParaRPr lang="en-US" sz="1030" dirty="0">
              <a:latin typeface="+mj-lt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823356" y="3536115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850788" y="3572691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1030" dirty="0">
              <a:latin typeface="+mj-lt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162599" y="3536115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190031" y="3572691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1030" dirty="0">
              <a:latin typeface="+mj-lt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6501841" y="3536115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529273" y="3572691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1</a:t>
            </a:r>
            <a:endParaRPr lang="en-US" sz="1030" dirty="0">
              <a:latin typeface="+mj-lt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4636008" y="4035117"/>
            <a:ext cx="1187348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4663440" y="4071693"/>
            <a:ext cx="1132484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Checkout</a:t>
            </a:r>
            <a:endParaRPr lang="en-US" sz="1030" dirty="0">
              <a:latin typeface="+mj-lt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823356" y="4035117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850788" y="4071693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4</a:t>
            </a:r>
            <a:endParaRPr lang="en-US" sz="1030" dirty="0">
              <a:latin typeface="+mj-lt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6162599" y="4035117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6190031" y="4071693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3</a:t>
            </a:r>
            <a:endParaRPr lang="en-US" sz="1030" dirty="0">
              <a:latin typeface="+mj-lt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6501841" y="4035117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6529273" y="4071693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1</a:t>
            </a:r>
            <a:endParaRPr lang="en-US" sz="1030" dirty="0">
              <a:latin typeface="+mj-lt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4636008" y="4534118"/>
            <a:ext cx="1187348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4663440" y="4570694"/>
            <a:ext cx="1132484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Admin Product</a:t>
            </a:r>
            <a:endParaRPr lang="en-US" sz="1030" dirty="0">
              <a:latin typeface="+mj-lt"/>
            </a:endParaRPr>
          </a:p>
        </p:txBody>
      </p:sp>
      <p:sp>
        <p:nvSpPr>
          <p:cNvPr id="73" name="Shape 71"/>
          <p:cNvSpPr/>
          <p:nvPr/>
        </p:nvSpPr>
        <p:spPr>
          <a:xfrm>
            <a:off x="5823356" y="4534118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5850788" y="4570694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3</a:t>
            </a:r>
            <a:endParaRPr lang="en-US" sz="1030" dirty="0">
              <a:latin typeface="+mj-lt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6162599" y="4534118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6190031" y="4570694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3</a:t>
            </a:r>
            <a:endParaRPr lang="en-US" sz="1030" dirty="0">
              <a:latin typeface="+mj-lt"/>
            </a:endParaRPr>
          </a:p>
        </p:txBody>
      </p:sp>
      <p:sp>
        <p:nvSpPr>
          <p:cNvPr id="77" name="Shape 75"/>
          <p:cNvSpPr/>
          <p:nvPr/>
        </p:nvSpPr>
        <p:spPr>
          <a:xfrm>
            <a:off x="6501841" y="4534118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6529273" y="4570694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0</a:t>
            </a:r>
            <a:endParaRPr lang="en-US" sz="1030" dirty="0">
              <a:latin typeface="+mj-lt"/>
            </a:endParaRPr>
          </a:p>
        </p:txBody>
      </p:sp>
      <p:sp>
        <p:nvSpPr>
          <p:cNvPr id="79" name="Shape 77"/>
          <p:cNvSpPr/>
          <p:nvPr/>
        </p:nvSpPr>
        <p:spPr>
          <a:xfrm>
            <a:off x="4636008" y="5033119"/>
            <a:ext cx="1187348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4663440" y="5069695"/>
            <a:ext cx="1132484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Admin Voucher</a:t>
            </a:r>
            <a:endParaRPr lang="en-US" sz="1030" dirty="0">
              <a:latin typeface="+mj-lt"/>
            </a:endParaRPr>
          </a:p>
        </p:txBody>
      </p:sp>
      <p:sp>
        <p:nvSpPr>
          <p:cNvPr id="81" name="Shape 79"/>
          <p:cNvSpPr/>
          <p:nvPr/>
        </p:nvSpPr>
        <p:spPr>
          <a:xfrm>
            <a:off x="5823356" y="5033119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5850788" y="5069695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3</a:t>
            </a:r>
            <a:endParaRPr lang="en-US" sz="1030" dirty="0">
              <a:latin typeface="+mj-lt"/>
            </a:endParaRPr>
          </a:p>
        </p:txBody>
      </p:sp>
      <p:sp>
        <p:nvSpPr>
          <p:cNvPr id="83" name="Shape 81"/>
          <p:cNvSpPr/>
          <p:nvPr/>
        </p:nvSpPr>
        <p:spPr>
          <a:xfrm>
            <a:off x="6162599" y="5033119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190031" y="5069695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2</a:t>
            </a:r>
            <a:endParaRPr lang="en-US" sz="1030" dirty="0">
              <a:latin typeface="+mj-lt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6501841" y="5033119"/>
            <a:ext cx="339242" cy="499001"/>
          </a:xfrm>
          <a:prstGeom prst="rect">
            <a:avLst/>
          </a:prstGeom>
          <a:solidFill>
            <a:srgbClr val="F3EEE6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6" name="Text 84"/>
          <p:cNvSpPr/>
          <p:nvPr/>
        </p:nvSpPr>
        <p:spPr>
          <a:xfrm>
            <a:off x="6529273" y="5069695"/>
            <a:ext cx="284378" cy="425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3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1</a:t>
            </a:r>
            <a:endParaRPr lang="en-US" sz="1030" dirty="0">
              <a:latin typeface="+mj-lt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7452360" y="1234440"/>
            <a:ext cx="4114800" cy="4709160"/>
          </a:xfrm>
          <a:prstGeom prst="roundRect">
            <a:avLst>
              <a:gd name="adj" fmla="val 2667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7653528" y="1344168"/>
            <a:ext cx="3712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Bug chính được ghi nhận</a:t>
            </a:r>
            <a:endParaRPr lang="en-US" sz="1600" dirty="0">
              <a:latin typeface="+mj-lt"/>
            </a:endParaRPr>
          </a:p>
        </p:txBody>
      </p:sp>
      <p:sp>
        <p:nvSpPr>
          <p:cNvPr id="89" name="Text 87"/>
          <p:cNvSpPr/>
          <p:nvPr/>
        </p:nvSpPr>
        <p:spPr>
          <a:xfrm>
            <a:off x="7699248" y="1664208"/>
            <a:ext cx="3611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• BUG001: Login bỏ trống chưa báo lỗi rõ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• BUG003: Cart vẫn chấp nhận số lượng bằng 0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• BUG005: Voucher hết hạn vẫn có thể được áp dụng</a:t>
            </a:r>
            <a:endParaRPr lang="en-US" sz="1290" dirty="0">
              <a:latin typeface="+mj-lt"/>
            </a:endParaRPr>
          </a:p>
          <a:p>
            <a:pPr marL="0" indent="0" algn="l">
              <a:buNone/>
            </a:pPr>
            <a:r>
              <a:rPr lang="en-US" sz="129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• BUG007: Admin tạo được voucher với giá trị âm</a:t>
            </a:r>
            <a:endParaRPr lang="en-US" sz="1290" dirty="0">
              <a:latin typeface="+mj-lt"/>
            </a:endParaRPr>
          </a:p>
        </p:txBody>
      </p:sp>
      <p:sp>
        <p:nvSpPr>
          <p:cNvPr id="90" name="Shape 88"/>
          <p:cNvSpPr/>
          <p:nvPr/>
        </p:nvSpPr>
        <p:spPr>
          <a:xfrm>
            <a:off x="7726680" y="379476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1" name="Text 89"/>
          <p:cNvSpPr/>
          <p:nvPr/>
        </p:nvSpPr>
        <p:spPr>
          <a:xfrm>
            <a:off x="7818120" y="3886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44F"/>
                </a:solidFill>
                <a:latin typeface="+mj-lt"/>
                <a:ea typeface="Arial" pitchFamily="34" charset="-122"/>
                <a:cs typeface="Arial" pitchFamily="34" charset="-120"/>
              </a:rPr>
              <a:t>5</a:t>
            </a:r>
            <a:endParaRPr lang="en-US" sz="1800" dirty="0">
              <a:latin typeface="+mj-lt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7818120" y="423367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Major</a:t>
            </a:r>
            <a:endParaRPr lang="en-US" sz="1000" dirty="0">
              <a:latin typeface="+mj-lt"/>
            </a:endParaRPr>
          </a:p>
        </p:txBody>
      </p:sp>
      <p:sp>
        <p:nvSpPr>
          <p:cNvPr id="93" name="Shape 91"/>
          <p:cNvSpPr/>
          <p:nvPr/>
        </p:nvSpPr>
        <p:spPr>
          <a:xfrm>
            <a:off x="9098280" y="3794760"/>
            <a:ext cx="1143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4" name="Text 92"/>
          <p:cNvSpPr/>
          <p:nvPr/>
        </p:nvSpPr>
        <p:spPr>
          <a:xfrm>
            <a:off x="9189720" y="388620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2</a:t>
            </a:r>
            <a:endParaRPr lang="en-US" sz="1800" dirty="0">
              <a:latin typeface="+mj-lt"/>
            </a:endParaRPr>
          </a:p>
        </p:txBody>
      </p:sp>
      <p:sp>
        <p:nvSpPr>
          <p:cNvPr id="95" name="Text 93"/>
          <p:cNvSpPr/>
          <p:nvPr/>
        </p:nvSpPr>
        <p:spPr>
          <a:xfrm>
            <a:off x="9189720" y="423367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Minor</a:t>
            </a:r>
            <a:endParaRPr lang="en-US" sz="1000" dirty="0">
              <a:latin typeface="+mj-lt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7699248" y="4892040"/>
            <a:ext cx="35844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1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Module đáng chú ý: Login/Register, Cart, Voucher, Checkout, Admin Voucher</a:t>
            </a:r>
            <a:endParaRPr lang="en-US" sz="1210" dirty="0">
              <a:latin typeface="+mj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EE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3200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2222"/>
                </a:solidFill>
                <a:latin typeface="+mj-lt"/>
                <a:ea typeface="Times New Roman" pitchFamily="34" charset="-122"/>
                <a:cs typeface="Times New Roman" pitchFamily="34" charset="-120"/>
              </a:rPr>
              <a:t>9. KẾT LUẬN &amp; ĐỀ XUẤT</a:t>
            </a:r>
            <a:endParaRPr lang="en-US" sz="2400" dirty="0">
              <a:latin typeface="+mj-lt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6501384"/>
            <a:ext cx="10424160" cy="0"/>
          </a:xfrm>
          <a:prstGeom prst="line">
            <a:avLst/>
          </a:prstGeom>
          <a:noFill/>
          <a:ln w="12700">
            <a:solidFill>
              <a:srgbClr val="B9C4E0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4636008" y="6611113"/>
            <a:ext cx="2286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Báo cáo kiểm thử phần mềm</a:t>
            </a:r>
            <a:endParaRPr lang="en-US" sz="8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11155680" y="6584223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+mj-lt"/>
                <a:ea typeface="Arial" pitchFamily="34" charset="-122"/>
                <a:cs typeface="Arial" pitchFamily="34" charset="-120"/>
              </a:rPr>
              <a:t>10</a:t>
            </a:r>
            <a:endParaRPr lang="en-US" sz="9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10561320" cy="4297680"/>
          </a:xfrm>
          <a:prstGeom prst="roundRect">
            <a:avLst>
              <a:gd name="adj" fmla="val 2553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51560" y="15727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Kết luận ngắn gọn</a:t>
            </a:r>
            <a:endParaRPr lang="en-US" sz="155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1920240"/>
            <a:ext cx="10012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Nhóm đã áp dụng kết hợp black-box và white-box để thiết kế test case cho website bán hàng.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Trọng tâm phân tích là validateVoucher() vì có nhiều điều kiện nghiệp vụ và dễ tính coverage.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Kết quả thực thi hiện tại: 30 test case, 23 Pass, 7 Fail; hệ thống ở mức khá nhưng còn lỗi validation và logic voucher.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Coverage cho thấy phần logic trọng tâm đã được bao phủ tốt, còn Pass/Fail phản ánh chất lượng hiện tại của hệ thống.</a:t>
            </a:r>
            <a:endParaRPr lang="en-US" sz="1400" dirty="0">
              <a:latin typeface="+mj-lt"/>
            </a:endParaRPr>
          </a:p>
          <a:p>
            <a:pPr marL="0" indent="0" algn="l">
              <a:buNone/>
            </a:pPr>
            <a:r>
              <a:rPr lang="en-US" sz="14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 Báo cáo có liên kết rõ giữa yêu cầu, test case, bug report và kết quả thực thi.</a:t>
            </a:r>
            <a:endParaRPr lang="en-US" sz="1400" dirty="0"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51560" y="3802454"/>
            <a:ext cx="2926080" cy="1482777"/>
          </a:xfrm>
          <a:prstGeom prst="roundRect">
            <a:avLst>
              <a:gd name="adj" fmla="val 13953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271016" y="39730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Hướng cải tiến 1</a:t>
            </a:r>
            <a:endParaRPr lang="en-US" sz="1600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34616" y="4383303"/>
            <a:ext cx="2396000" cy="690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Siết chặt validation đầu vào ở Login, Register, Checkout và Admin Voucher.</a:t>
            </a:r>
            <a:endParaRPr lang="en-US" sz="1200" dirty="0">
              <a:latin typeface="+mj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98128" y="3802454"/>
            <a:ext cx="3163960" cy="1510210"/>
          </a:xfrm>
          <a:prstGeom prst="roundRect">
            <a:avLst>
              <a:gd name="adj" fmla="val 13953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26864" y="4014216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Hướng cải tiến 2</a:t>
            </a:r>
            <a:endParaRPr lang="en-US" sz="1600" dirty="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699948" y="4352544"/>
            <a:ext cx="25603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Rà soát toàn bộ nhánh logic voucher: inactive, date, usage limit, dữ liệu âm.</a:t>
            </a:r>
            <a:endParaRPr lang="en-US" sz="120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863908" y="3802454"/>
            <a:ext cx="3291772" cy="1510210"/>
          </a:xfrm>
          <a:prstGeom prst="roundRect">
            <a:avLst>
              <a:gd name="adj" fmla="val 13953"/>
            </a:avLst>
          </a:prstGeom>
          <a:solidFill>
            <a:srgbClr val="F7F7F7"/>
          </a:solidFill>
          <a:ln w="12700">
            <a:solidFill>
              <a:srgbClr val="D7D7D7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982576" y="397306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67B0"/>
                </a:solidFill>
                <a:latin typeface="+mj-lt"/>
                <a:ea typeface="Arial" pitchFamily="34" charset="-122"/>
                <a:cs typeface="Arial" pitchFamily="34" charset="-120"/>
              </a:rPr>
              <a:t>Hướng cải tiến 3</a:t>
            </a:r>
            <a:endParaRPr lang="en-US" sz="1600" dirty="0">
              <a:latin typeface="+mj-lt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863908" y="4352544"/>
            <a:ext cx="2897109" cy="65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222"/>
                </a:solidFill>
                <a:latin typeface="+mj-lt"/>
                <a:ea typeface="Arial" pitchFamily="34" charset="-122"/>
                <a:cs typeface="Arial" pitchFamily="34" charset="-120"/>
              </a:rPr>
              <a:t>Mở rộng automation test cho Voucher, Cart, Checkout và cân nhắc UI automation.</a:t>
            </a:r>
            <a:endParaRPr lang="en-US" sz="1200" dirty="0"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1882</Words>
  <Application>Microsoft Office PowerPoint</Application>
  <PresentationFormat>Widescreen</PresentationFormat>
  <Paragraphs>335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kiểm thử phần mềm - Website bán hàng trực tuyến</dc:title>
  <dc:subject>Báo cáo kiểm thử phần mềm</dc:subject>
  <dc:creator>OpenAI</dc:creator>
  <cp:lastModifiedBy>kay em</cp:lastModifiedBy>
  <cp:revision>11</cp:revision>
  <dcterms:created xsi:type="dcterms:W3CDTF">2026-03-18T03:53:07Z</dcterms:created>
  <dcterms:modified xsi:type="dcterms:W3CDTF">2026-03-18T07:45:23Z</dcterms:modified>
</cp:coreProperties>
</file>