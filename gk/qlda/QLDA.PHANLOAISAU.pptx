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18288000" cy="10287000"/>
  <p:notesSz cx="6858000" cy="9144000"/>
  <p:embeddedFontLst>
    <p:embeddedFont>
      <p:font typeface="Times New Roman Bold" charset="1" panose="02020803070505020304"/>
      <p:regular r:id="rId46"/>
    </p:embeddedFont>
    <p:embeddedFont>
      <p:font typeface="Rubik Bold" charset="1" panose="00000800000000000000"/>
      <p:regular r:id="rId48"/>
    </p:embeddedFont>
    <p:embeddedFont>
      <p:font typeface="Times New Roman" charset="1" panose="02020603050405020304"/>
      <p:regular r:id="rId52"/>
    </p:embeddedFont>
    <p:embeddedFont>
      <p:font typeface="Rubik" charset="1" panose="00000000000000000000"/>
      <p:regular r:id="rId8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notesMasters/notesMaster1.xml" Type="http://schemas.openxmlformats.org/officeDocument/2006/relationships/notesMaster"/><Relationship Id="rId44" Target="theme/theme2.xml" Type="http://schemas.openxmlformats.org/officeDocument/2006/relationships/theme"/><Relationship Id="rId45" Target="notesSlides/notesSlide1.xml" Type="http://schemas.openxmlformats.org/officeDocument/2006/relationships/notesSlide"/><Relationship Id="rId46" Target="fonts/font46.fntdata" Type="http://schemas.openxmlformats.org/officeDocument/2006/relationships/font"/><Relationship Id="rId47" Target="notesSlides/notesSlide2.xml" Type="http://schemas.openxmlformats.org/officeDocument/2006/relationships/notesSlide"/><Relationship Id="rId48" Target="fonts/font48.fntdata" Type="http://schemas.openxmlformats.org/officeDocument/2006/relationships/font"/><Relationship Id="rId49" Target="notesSlides/notesSlide3.xml" Type="http://schemas.openxmlformats.org/officeDocument/2006/relationships/notesSlide"/><Relationship Id="rId5" Target="tableStyles.xml" Type="http://schemas.openxmlformats.org/officeDocument/2006/relationships/tableStyles"/><Relationship Id="rId50" Target="notesSlides/notesSlide4.xml" Type="http://schemas.openxmlformats.org/officeDocument/2006/relationships/notesSlide"/><Relationship Id="rId51" Target="notesSlides/notesSlide5.xml" Type="http://schemas.openxmlformats.org/officeDocument/2006/relationships/notesSlide"/><Relationship Id="rId52" Target="fonts/font52.fntdata" Type="http://schemas.openxmlformats.org/officeDocument/2006/relationships/font"/><Relationship Id="rId53" Target="notesSlides/notesSlide6.xml" Type="http://schemas.openxmlformats.org/officeDocument/2006/relationships/notesSlide"/><Relationship Id="rId54" Target="notesSlides/notesSlide7.xml" Type="http://schemas.openxmlformats.org/officeDocument/2006/relationships/notesSlide"/><Relationship Id="rId55" Target="notesSlides/notesSlide8.xml" Type="http://schemas.openxmlformats.org/officeDocument/2006/relationships/notesSlide"/><Relationship Id="rId56" Target="notesSlides/notesSlide9.xml" Type="http://schemas.openxmlformats.org/officeDocument/2006/relationships/notesSlide"/><Relationship Id="rId57" Target="notesSlides/notesSlide10.xml" Type="http://schemas.openxmlformats.org/officeDocument/2006/relationships/notesSlide"/><Relationship Id="rId58" Target="notesSlides/notesSlide11.xml" Type="http://schemas.openxmlformats.org/officeDocument/2006/relationships/notesSlide"/><Relationship Id="rId59" Target="notesSlides/notesSlide12.xml" Type="http://schemas.openxmlformats.org/officeDocument/2006/relationships/notesSlide"/><Relationship Id="rId6" Target="slides/slide1.xml" Type="http://schemas.openxmlformats.org/officeDocument/2006/relationships/slide"/><Relationship Id="rId60" Target="notesSlides/notesSlide13.xml" Type="http://schemas.openxmlformats.org/officeDocument/2006/relationships/notesSlide"/><Relationship Id="rId61" Target="notesSlides/notesSlide14.xml" Type="http://schemas.openxmlformats.org/officeDocument/2006/relationships/notesSlide"/><Relationship Id="rId62" Target="notesSlides/notesSlide15.xml" Type="http://schemas.openxmlformats.org/officeDocument/2006/relationships/notesSlide"/><Relationship Id="rId63" Target="notesSlides/notesSlide16.xml" Type="http://schemas.openxmlformats.org/officeDocument/2006/relationships/notesSlide"/><Relationship Id="rId64" Target="notesSlides/notesSlide17.xml" Type="http://schemas.openxmlformats.org/officeDocument/2006/relationships/notesSlide"/><Relationship Id="rId65" Target="notesSlides/notesSlide18.xml" Type="http://schemas.openxmlformats.org/officeDocument/2006/relationships/notesSlide"/><Relationship Id="rId66" Target="notesSlides/notesSlide19.xml" Type="http://schemas.openxmlformats.org/officeDocument/2006/relationships/notesSlide"/><Relationship Id="rId67" Target="notesSlides/notesSlide20.xml" Type="http://schemas.openxmlformats.org/officeDocument/2006/relationships/notesSlide"/><Relationship Id="rId68" Target="notesSlides/notesSlide21.xml" Type="http://schemas.openxmlformats.org/officeDocument/2006/relationships/notesSlide"/><Relationship Id="rId69" Target="notesSlides/notesSlide22.xml" Type="http://schemas.openxmlformats.org/officeDocument/2006/relationships/notesSlide"/><Relationship Id="rId7" Target="slides/slide2.xml" Type="http://schemas.openxmlformats.org/officeDocument/2006/relationships/slide"/><Relationship Id="rId70" Target="notesSlides/notesSlide23.xml" Type="http://schemas.openxmlformats.org/officeDocument/2006/relationships/notesSlide"/><Relationship Id="rId71" Target="notesSlides/notesSlide24.xml" Type="http://schemas.openxmlformats.org/officeDocument/2006/relationships/notesSlide"/><Relationship Id="rId72" Target="notesSlides/notesSlide25.xml" Type="http://schemas.openxmlformats.org/officeDocument/2006/relationships/notesSlide"/><Relationship Id="rId73" Target="notesSlides/notesSlide26.xml" Type="http://schemas.openxmlformats.org/officeDocument/2006/relationships/notesSlide"/><Relationship Id="rId74" Target="notesSlides/notesSlide27.xml" Type="http://schemas.openxmlformats.org/officeDocument/2006/relationships/notesSlide"/><Relationship Id="rId75" Target="notesSlides/notesSlide28.xml" Type="http://schemas.openxmlformats.org/officeDocument/2006/relationships/notesSlide"/><Relationship Id="rId76" Target="notesSlides/notesSlide29.xml" Type="http://schemas.openxmlformats.org/officeDocument/2006/relationships/notesSlide"/><Relationship Id="rId77" Target="notesSlides/notesSlide30.xml" Type="http://schemas.openxmlformats.org/officeDocument/2006/relationships/notesSlide"/><Relationship Id="rId78" Target="notesSlides/notesSlide31.xml" Type="http://schemas.openxmlformats.org/officeDocument/2006/relationships/notesSlide"/><Relationship Id="rId79" Target="notesSlides/notesSlide32.xml" Type="http://schemas.openxmlformats.org/officeDocument/2006/relationships/notesSlide"/><Relationship Id="rId8" Target="slides/slide3.xml" Type="http://schemas.openxmlformats.org/officeDocument/2006/relationships/slide"/><Relationship Id="rId80" Target="notesSlides/notesSlide33.xml" Type="http://schemas.openxmlformats.org/officeDocument/2006/relationships/notesSlide"/><Relationship Id="rId81" Target="notesSlides/notesSlide34.xml" Type="http://schemas.openxmlformats.org/officeDocument/2006/relationships/notesSlide"/><Relationship Id="rId82" Target="notesSlides/notesSlide35.xml" Type="http://schemas.openxmlformats.org/officeDocument/2006/relationships/notesSlide"/><Relationship Id="rId83" Target="notesSlides/notesSlide36.xml" Type="http://schemas.openxmlformats.org/officeDocument/2006/relationships/notesSlide"/><Relationship Id="rId84" Target="fonts/font84.fntdata" Type="http://schemas.openxmlformats.org/officeDocument/2006/relationships/font"/><Relationship Id="rId85" Target="notesSlides/notesSlide37.xml" Type="http://schemas.openxmlformats.org/officeDocument/2006/relationships/note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4.png" Type="http://schemas.openxmlformats.org/officeDocument/2006/relationships/image"/><Relationship Id="rId17" Target="../media/image15.svg" Type="http://schemas.openxmlformats.org/officeDocument/2006/relationships/image"/><Relationship Id="rId18" Target="../media/image16.png" Type="http://schemas.openxmlformats.org/officeDocument/2006/relationships/image"/><Relationship Id="rId19" Target="../media/image17.svg" Type="http://schemas.openxmlformats.org/officeDocument/2006/relationships/image"/><Relationship Id="rId2" Target="../notesSlides/notesSlide1.xml" Type="http://schemas.openxmlformats.org/officeDocument/2006/relationships/notesSlide"/><Relationship Id="rId20" Target="../media/image18.png" Type="http://schemas.openxmlformats.org/officeDocument/2006/relationships/image"/><Relationship Id="rId21" Target="../media/image19.svg" Type="http://schemas.openxmlformats.org/officeDocument/2006/relationships/image"/><Relationship Id="rId22" Target="../media/image20.png" Type="http://schemas.openxmlformats.org/officeDocument/2006/relationships/image"/><Relationship Id="rId23" Target="../media/image21.svg" Type="http://schemas.openxmlformats.org/officeDocument/2006/relationships/image"/><Relationship Id="rId24" Target="../media/image22.png" Type="http://schemas.openxmlformats.org/officeDocument/2006/relationships/image"/><Relationship Id="rId25" Target="../media/image23.svg" Type="http://schemas.openxmlformats.org/officeDocument/2006/relationships/image"/><Relationship Id="rId26" Target="../media/image24.png" Type="http://schemas.openxmlformats.org/officeDocument/2006/relationships/image"/><Relationship Id="rId27" Target="../media/image25.svg" Type="http://schemas.openxmlformats.org/officeDocument/2006/relationships/image"/><Relationship Id="rId28" Target="../media/image26.png" Type="http://schemas.openxmlformats.org/officeDocument/2006/relationships/image"/><Relationship Id="rId29" Target="../media/image27.svg" Type="http://schemas.openxmlformats.org/officeDocument/2006/relationships/image"/><Relationship Id="rId3" Target="../media/image1.png" Type="http://schemas.openxmlformats.org/officeDocument/2006/relationships/image"/><Relationship Id="rId30" Target="../media/image28.png" Type="http://schemas.openxmlformats.org/officeDocument/2006/relationships/image"/><Relationship Id="rId31" Target="../media/image29.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notesSlides/notesSlide3.xml" Type="http://schemas.openxmlformats.org/officeDocument/2006/relationships/notesSlide"/><Relationship Id="rId20" Target="../media/image48.png" Type="http://schemas.openxmlformats.org/officeDocument/2006/relationships/image"/><Relationship Id="rId21" Target="../media/image49.svg" Type="http://schemas.openxmlformats.org/officeDocument/2006/relationships/image"/><Relationship Id="rId3" Target="../media/image1.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0.png" Type="http://schemas.openxmlformats.org/officeDocument/2006/relationships/image"/><Relationship Id="rId4" Target="../media/image5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54.png" Type="http://schemas.openxmlformats.org/officeDocument/2006/relationships/image"/><Relationship Id="rId13" Target="../media/image55.svg" Type="http://schemas.openxmlformats.org/officeDocument/2006/relationships/image"/><Relationship Id="rId14" Target="../media/image56.jpeg" Type="http://schemas.openxmlformats.org/officeDocument/2006/relationships/image"/><Relationship Id="rId2" Target="../notesSlides/notesSlide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52.png" Type="http://schemas.openxmlformats.org/officeDocument/2006/relationships/image"/><Relationship Id="rId7" Target="../media/image53.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notesSlides/notesSlide6.xml" Type="http://schemas.openxmlformats.org/officeDocument/2006/relationships/notesSlide"/><Relationship Id="rId20" Target="../media/image48.png" Type="http://schemas.openxmlformats.org/officeDocument/2006/relationships/image"/><Relationship Id="rId21" Target="../media/image49.svg" Type="http://schemas.openxmlformats.org/officeDocument/2006/relationships/image"/><Relationship Id="rId3" Target="../media/image1.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57.png" Type="http://schemas.openxmlformats.org/officeDocument/2006/relationships/image"/><Relationship Id="rId13" Target="../media/image58.svg" Type="http://schemas.openxmlformats.org/officeDocument/2006/relationships/image"/><Relationship Id="rId2" Target="../notesSlides/notesSlide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2" Target="../notesSlides/notesSlide10.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59.png" Type="http://schemas.openxmlformats.org/officeDocument/2006/relationships/image"/><Relationship Id="rId13" Target="../media/image60.svg" Type="http://schemas.openxmlformats.org/officeDocument/2006/relationships/image"/><Relationship Id="rId2" Target="../notesSlides/notesSlide1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3.svg" Type="http://schemas.openxmlformats.org/officeDocument/2006/relationships/image"/><Relationship Id="rId12" Target="../media/image61.png" Type="http://schemas.openxmlformats.org/officeDocument/2006/relationships/image"/><Relationship Id="rId13" Target="../media/image62.svg" Type="http://schemas.openxmlformats.org/officeDocument/2006/relationships/image"/><Relationship Id="rId2" Target="../notesSlides/notesSlide1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notesSlides/notesSlide13.xml" Type="http://schemas.openxmlformats.org/officeDocument/2006/relationships/notesSlide"/><Relationship Id="rId20" Target="../media/image48.png" Type="http://schemas.openxmlformats.org/officeDocument/2006/relationships/image"/><Relationship Id="rId21" Target="../media/image49.svg" Type="http://schemas.openxmlformats.org/officeDocument/2006/relationships/image"/><Relationship Id="rId3" Target="../media/image1.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63.jpeg" Type="http://schemas.openxmlformats.org/officeDocument/2006/relationships/image"/><Relationship Id="rId2" Target="../notesSlides/notesSlide1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1.bin" Type="http://schemas.openxmlformats.org/officeDocument/2006/relationships/oleObject"/><Relationship Id="rId2" Target="../notesSlides/notesSlide1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64.png" Type="http://schemas.openxmlformats.org/officeDocument/2006/relationships/image"/><Relationship Id="rId9" Target="../media/image6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66.jpeg" Type="http://schemas.openxmlformats.org/officeDocument/2006/relationships/image"/><Relationship Id="rId2" Target="../notesSlides/notesSlide16.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67.jpeg" Type="http://schemas.openxmlformats.org/officeDocument/2006/relationships/image"/><Relationship Id="rId13" Target="../media/image68.png" Type="http://schemas.openxmlformats.org/officeDocument/2006/relationships/image"/><Relationship Id="rId14" Target="../embeddings/oleObject2.bin" Type="http://schemas.openxmlformats.org/officeDocument/2006/relationships/oleObject"/><Relationship Id="rId15" Target="../media/image69.png" Type="http://schemas.openxmlformats.org/officeDocument/2006/relationships/image"/><Relationship Id="rId16" Target="../embeddings/oleObject3.bin" Type="http://schemas.openxmlformats.org/officeDocument/2006/relationships/oleObject"/><Relationship Id="rId17" Target="../media/image70.png" Type="http://schemas.openxmlformats.org/officeDocument/2006/relationships/image"/><Relationship Id="rId18" Target="../embeddings/oleObject4.bin" Type="http://schemas.openxmlformats.org/officeDocument/2006/relationships/oleObject"/><Relationship Id="rId2" Target="../notesSlides/notesSlide1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71.png" Type="http://schemas.openxmlformats.org/officeDocument/2006/relationships/image"/><Relationship Id="rId2" Target="../notesSlides/notesSlide18.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notesSlides/notesSlide19.xml" Type="http://schemas.openxmlformats.org/officeDocument/2006/relationships/notesSlide"/><Relationship Id="rId20" Target="../media/image48.png" Type="http://schemas.openxmlformats.org/officeDocument/2006/relationships/image"/><Relationship Id="rId21" Target="../media/image49.svg" Type="http://schemas.openxmlformats.org/officeDocument/2006/relationships/image"/><Relationship Id="rId3" Target="../media/image1.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72.png" Type="http://schemas.openxmlformats.org/officeDocument/2006/relationships/image"/><Relationship Id="rId2" Target="../notesSlides/notesSlide20.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73.png" Type="http://schemas.openxmlformats.org/officeDocument/2006/relationships/image"/><Relationship Id="rId2" Target="../notesSlides/notesSlide2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74.png" Type="http://schemas.openxmlformats.org/officeDocument/2006/relationships/image"/><Relationship Id="rId2" Target="../notesSlides/notesSlide2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75.png" Type="http://schemas.openxmlformats.org/officeDocument/2006/relationships/image"/><Relationship Id="rId2" Target="../notesSlides/notesSlide2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76.png" Type="http://schemas.openxmlformats.org/officeDocument/2006/relationships/image"/><Relationship Id="rId2" Target="../notesSlides/notesSlide2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77.png" Type="http://schemas.openxmlformats.org/officeDocument/2006/relationships/image"/><Relationship Id="rId2" Target="../notesSlides/notesSlide25.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svg" Type="http://schemas.openxmlformats.org/officeDocument/2006/relationships/image"/><Relationship Id="rId12" Target="../media/image78.png" Type="http://schemas.openxmlformats.org/officeDocument/2006/relationships/image"/><Relationship Id="rId2" Target="../notesSlides/notesSlide26.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9.png" Type="http://schemas.openxmlformats.org/officeDocument/2006/relationships/image"/><Relationship Id="rId2" Target="../notesSlides/notesSlide27.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0.png" Type="http://schemas.openxmlformats.org/officeDocument/2006/relationships/image"/><Relationship Id="rId2" Target="../notesSlides/notesSlide28.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2" Target="../notesSlides/notesSlide29.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34.png" Type="http://schemas.openxmlformats.org/officeDocument/2006/relationships/image"/><Relationship Id="rId9" Target="../media/image35.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82.jpeg" Type="http://schemas.openxmlformats.org/officeDocument/2006/relationships/image"/><Relationship Id="rId7" Target="../media/image83.jpeg" Type="http://schemas.openxmlformats.org/officeDocument/2006/relationships/image"/><Relationship Id="rId8" Target="../media/image84.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56.jpeg" Type="http://schemas.openxmlformats.org/officeDocument/2006/relationships/image"/><Relationship Id="rId7" Target="../media/image85.jpeg" Type="http://schemas.openxmlformats.org/officeDocument/2006/relationships/image"/><Relationship Id="rId8" Target="../media/image86.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87.jpeg" Type="http://schemas.openxmlformats.org/officeDocument/2006/relationships/image"/><Relationship Id="rId7" Target="../media/image88.jpeg" Type="http://schemas.openxmlformats.org/officeDocument/2006/relationships/image"/><Relationship Id="rId8" Target="../media/image89.jpe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90.jpeg" Type="http://schemas.openxmlformats.org/officeDocument/2006/relationships/image"/><Relationship Id="rId7" Target="../media/image91.jpeg" Type="http://schemas.openxmlformats.org/officeDocument/2006/relationships/image"/><Relationship Id="rId8" Target="../media/image92.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93.jpeg" Type="http://schemas.openxmlformats.org/officeDocument/2006/relationships/image"/><Relationship Id="rId7" Target="../media/image94.jpeg" Type="http://schemas.openxmlformats.org/officeDocument/2006/relationships/image"/><Relationship Id="rId8" Target="../media/image95.jpeg" Type="http://schemas.openxmlformats.org/officeDocument/2006/relationships/image"/><Relationship Id="rId9" Target="../media/image96.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svg" Type="http://schemas.openxmlformats.org/officeDocument/2006/relationships/image"/><Relationship Id="rId12" Target="../media/image46.png" Type="http://schemas.openxmlformats.org/officeDocument/2006/relationships/image"/><Relationship Id="rId13" Target="../media/image47.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32.png" Type="http://schemas.openxmlformats.org/officeDocument/2006/relationships/image"/><Relationship Id="rId19" Target="../media/image33.svg" Type="http://schemas.openxmlformats.org/officeDocument/2006/relationships/image"/><Relationship Id="rId2" Target="../notesSlides/notesSlide35.xml" Type="http://schemas.openxmlformats.org/officeDocument/2006/relationships/notesSlide"/><Relationship Id="rId20" Target="../media/image48.png" Type="http://schemas.openxmlformats.org/officeDocument/2006/relationships/image"/><Relationship Id="rId21" Target="../media/image49.svg" Type="http://schemas.openxmlformats.org/officeDocument/2006/relationships/image"/><Relationship Id="rId3" Target="../media/image1.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40.png" Type="http://schemas.openxmlformats.org/officeDocument/2006/relationships/image"/><Relationship Id="rId7" Target="../media/image41.svg" Type="http://schemas.openxmlformats.org/officeDocument/2006/relationships/image"/><Relationship Id="rId8" Target="../media/image42.png" Type="http://schemas.openxmlformats.org/officeDocument/2006/relationships/image"/><Relationship Id="rId9" Target="../media/image43.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9.png" Type="http://schemas.openxmlformats.org/officeDocument/2006/relationships/image"/><Relationship Id="rId11" Target="../media/image100.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32.png" Type="http://schemas.openxmlformats.org/officeDocument/2006/relationships/image"/><Relationship Id="rId15" Target="../media/image3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46.png" Type="http://schemas.openxmlformats.org/officeDocument/2006/relationships/image"/><Relationship Id="rId19" Target="../media/image47.svg" Type="http://schemas.openxmlformats.org/officeDocument/2006/relationships/image"/><Relationship Id="rId2" Target="../notesSlides/notesSlide36.xml" Type="http://schemas.openxmlformats.org/officeDocument/2006/relationships/notesSlide"/><Relationship Id="rId20" Target="../media/image101.png" Type="http://schemas.openxmlformats.org/officeDocument/2006/relationships/image"/><Relationship Id="rId21" Target="../media/image102.svg" Type="http://schemas.openxmlformats.org/officeDocument/2006/relationships/image"/><Relationship Id="rId22" Target="../media/image103.png" Type="http://schemas.openxmlformats.org/officeDocument/2006/relationships/image"/><Relationship Id="rId23" Target="../media/image104.png" Type="http://schemas.openxmlformats.org/officeDocument/2006/relationships/image"/><Relationship Id="rId3" Target="../media/image1.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97.png" Type="http://schemas.openxmlformats.org/officeDocument/2006/relationships/image"/><Relationship Id="rId7" Target="../media/image98.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9.png" Type="http://schemas.openxmlformats.org/officeDocument/2006/relationships/image"/><Relationship Id="rId11" Target="../media/image100.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32.png" Type="http://schemas.openxmlformats.org/officeDocument/2006/relationships/image"/><Relationship Id="rId15" Target="../media/image33.svg" Type="http://schemas.openxmlformats.org/officeDocument/2006/relationships/image"/><Relationship Id="rId16" Target="../media/image34.png" Type="http://schemas.openxmlformats.org/officeDocument/2006/relationships/image"/><Relationship Id="rId17" Target="../media/image35.svg" Type="http://schemas.openxmlformats.org/officeDocument/2006/relationships/image"/><Relationship Id="rId18" Target="../media/image46.png" Type="http://schemas.openxmlformats.org/officeDocument/2006/relationships/image"/><Relationship Id="rId19" Target="../media/image47.svg" Type="http://schemas.openxmlformats.org/officeDocument/2006/relationships/image"/><Relationship Id="rId2" Target="../notesSlides/notesSlide37.xml" Type="http://schemas.openxmlformats.org/officeDocument/2006/relationships/notesSlide"/><Relationship Id="rId20" Target="../media/image101.png" Type="http://schemas.openxmlformats.org/officeDocument/2006/relationships/image"/><Relationship Id="rId21" Target="../media/image102.svg" Type="http://schemas.openxmlformats.org/officeDocument/2006/relationships/image"/><Relationship Id="rId22" Target="../media/image103.png" Type="http://schemas.openxmlformats.org/officeDocument/2006/relationships/image"/><Relationship Id="rId23" Target="../media/image105.png" Type="http://schemas.openxmlformats.org/officeDocument/2006/relationships/image"/><Relationship Id="rId3" Target="../media/image1.pn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 Id="rId6" Target="../media/image97.png" Type="http://schemas.openxmlformats.org/officeDocument/2006/relationships/image"/><Relationship Id="rId7" Target="../media/image98.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7" id="17"/>
          <p:cNvGrpSpPr/>
          <p:nvPr/>
        </p:nvGrpSpPr>
        <p:grpSpPr>
          <a:xfrm rot="0">
            <a:off x="2011800" y="1252550"/>
            <a:ext cx="14630400" cy="8146828"/>
            <a:chOff x="0" y="0"/>
            <a:chExt cx="19507200" cy="10862437"/>
          </a:xfrm>
        </p:grpSpPr>
        <p:sp>
          <p:nvSpPr>
            <p:cNvPr name="Freeform 18" id="18"/>
            <p:cNvSpPr/>
            <p:nvPr/>
          </p:nvSpPr>
          <p:spPr>
            <a:xfrm flipH="false" flipV="false" rot="0">
              <a:off x="0" y="0"/>
              <a:ext cx="19507200" cy="10862437"/>
            </a:xfrm>
            <a:custGeom>
              <a:avLst/>
              <a:gdLst/>
              <a:ahLst/>
              <a:cxnLst/>
              <a:rect r="r" b="b" t="t" l="l"/>
              <a:pathLst>
                <a:path h="10862437" w="19507200">
                  <a:moveTo>
                    <a:pt x="0" y="0"/>
                  </a:moveTo>
                  <a:lnTo>
                    <a:pt x="19507200" y="0"/>
                  </a:lnTo>
                  <a:lnTo>
                    <a:pt x="19507200" y="10862437"/>
                  </a:lnTo>
                  <a:lnTo>
                    <a:pt x="0" y="10862437"/>
                  </a:lnTo>
                </a:path>
              </a:pathLst>
            </a:custGeom>
            <a:solidFill>
              <a:srgbClr val="000000"/>
            </a:solidFill>
            <a:ln w="12700">
              <a:solidFill>
                <a:srgbClr val="000000"/>
              </a:solidFill>
            </a:ln>
          </p:spPr>
        </p:sp>
      </p:grpSp>
      <p:sp>
        <p:nvSpPr>
          <p:cNvPr name="Freeform 19" id="19"/>
          <p:cNvSpPr/>
          <p:nvPr/>
        </p:nvSpPr>
        <p:spPr>
          <a:xfrm flipH="false" flipV="false" rot="0">
            <a:off x="1828800" y="1041625"/>
            <a:ext cx="14658975" cy="8203978"/>
          </a:xfrm>
          <a:custGeom>
            <a:avLst/>
            <a:gdLst/>
            <a:ahLst/>
            <a:cxnLst/>
            <a:rect r="r" b="b" t="t" l="l"/>
            <a:pathLst>
              <a:path h="8203978" w="14658975">
                <a:moveTo>
                  <a:pt x="0" y="0"/>
                </a:moveTo>
                <a:lnTo>
                  <a:pt x="14658975" y="0"/>
                </a:lnTo>
                <a:lnTo>
                  <a:pt x="14658975" y="8203978"/>
                </a:lnTo>
                <a:lnTo>
                  <a:pt x="0" y="82039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 id="20"/>
          <p:cNvGrpSpPr/>
          <p:nvPr/>
        </p:nvGrpSpPr>
        <p:grpSpPr>
          <a:xfrm rot="2700000">
            <a:off x="15784463" y="1416650"/>
            <a:ext cx="617474" cy="19050"/>
            <a:chOff x="0" y="0"/>
            <a:chExt cx="823299" cy="25400"/>
          </a:xfrm>
        </p:grpSpPr>
        <p:sp>
          <p:nvSpPr>
            <p:cNvPr name="Freeform 21" id="21"/>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2" id="22"/>
          <p:cNvGrpSpPr/>
          <p:nvPr/>
        </p:nvGrpSpPr>
        <p:grpSpPr>
          <a:xfrm rot="2699999">
            <a:off x="15784463" y="1416650"/>
            <a:ext cx="617474" cy="19050"/>
            <a:chOff x="0" y="0"/>
            <a:chExt cx="823299" cy="25400"/>
          </a:xfrm>
        </p:grpSpPr>
        <p:sp>
          <p:nvSpPr>
            <p:cNvPr name="Freeform 23" id="23"/>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4" id="24"/>
          <p:cNvGrpSpPr/>
          <p:nvPr/>
        </p:nvGrpSpPr>
        <p:grpSpPr>
          <a:xfrm rot="0">
            <a:off x="15241425" y="1224125"/>
            <a:ext cx="423196" cy="423196"/>
            <a:chOff x="0" y="0"/>
            <a:chExt cx="564261" cy="564261"/>
          </a:xfrm>
        </p:grpSpPr>
        <p:sp>
          <p:nvSpPr>
            <p:cNvPr name="Freeform 25" id="25"/>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26" id="26"/>
          <p:cNvGrpSpPr/>
          <p:nvPr/>
        </p:nvGrpSpPr>
        <p:grpSpPr>
          <a:xfrm rot="404757">
            <a:off x="14530014" y="1599650"/>
            <a:ext cx="505568" cy="19050"/>
            <a:chOff x="0" y="0"/>
            <a:chExt cx="674091" cy="25400"/>
          </a:xfrm>
        </p:grpSpPr>
        <p:sp>
          <p:nvSpPr>
            <p:cNvPr name="Freeform 27" id="27"/>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8" id="28"/>
          <p:cNvGrpSpPr/>
          <p:nvPr/>
        </p:nvGrpSpPr>
        <p:grpSpPr>
          <a:xfrm rot="13385">
            <a:off x="1794220" y="1782344"/>
            <a:ext cx="14697111" cy="19050"/>
            <a:chOff x="0" y="0"/>
            <a:chExt cx="19596148" cy="25400"/>
          </a:xfrm>
        </p:grpSpPr>
        <p:sp>
          <p:nvSpPr>
            <p:cNvPr name="Freeform 29" id="29"/>
            <p:cNvSpPr/>
            <p:nvPr/>
          </p:nvSpPr>
          <p:spPr>
            <a:xfrm flipH="false" flipV="false" rot="0">
              <a:off x="0" y="0"/>
              <a:ext cx="19596100" cy="25400"/>
            </a:xfrm>
            <a:custGeom>
              <a:avLst/>
              <a:gdLst/>
              <a:ahLst/>
              <a:cxnLst/>
              <a:rect r="r" b="b" t="t" l="l"/>
              <a:pathLst>
                <a:path h="25400" w="19596100">
                  <a:moveTo>
                    <a:pt x="12700" y="0"/>
                  </a:moveTo>
                  <a:lnTo>
                    <a:pt x="19583400" y="0"/>
                  </a:lnTo>
                  <a:cubicBezTo>
                    <a:pt x="19590386" y="0"/>
                    <a:pt x="19596100" y="5715"/>
                    <a:pt x="19596100" y="12700"/>
                  </a:cubicBezTo>
                  <a:cubicBezTo>
                    <a:pt x="19596100" y="19685"/>
                    <a:pt x="19590386" y="25400"/>
                    <a:pt x="19583400"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0" id="30"/>
          <p:cNvGrpSpPr/>
          <p:nvPr/>
        </p:nvGrpSpPr>
        <p:grpSpPr>
          <a:xfrm rot="0">
            <a:off x="5647527" y="2201984"/>
            <a:ext cx="7358943" cy="3335640"/>
            <a:chOff x="0" y="0"/>
            <a:chExt cx="14630400" cy="6631625"/>
          </a:xfrm>
        </p:grpSpPr>
        <p:sp>
          <p:nvSpPr>
            <p:cNvPr name="Freeform 31" id="31"/>
            <p:cNvSpPr/>
            <p:nvPr/>
          </p:nvSpPr>
          <p:spPr>
            <a:xfrm flipH="false" flipV="false" rot="0">
              <a:off x="0" y="0"/>
              <a:ext cx="14630400" cy="6631625"/>
            </a:xfrm>
            <a:custGeom>
              <a:avLst/>
              <a:gdLst/>
              <a:ahLst/>
              <a:cxnLst/>
              <a:rect r="r" b="b" t="t" l="l"/>
              <a:pathLst>
                <a:path h="6631625" w="14630400">
                  <a:moveTo>
                    <a:pt x="0" y="0"/>
                  </a:moveTo>
                  <a:lnTo>
                    <a:pt x="14630400" y="0"/>
                  </a:lnTo>
                  <a:lnTo>
                    <a:pt x="14630400" y="6631625"/>
                  </a:lnTo>
                  <a:lnTo>
                    <a:pt x="0" y="6631625"/>
                  </a:lnTo>
                  <a:close/>
                </a:path>
              </a:pathLst>
            </a:custGeom>
            <a:solidFill>
              <a:srgbClr val="000000">
                <a:alpha val="0"/>
              </a:srgbClr>
            </a:solidFill>
          </p:spPr>
        </p:sp>
        <p:sp>
          <p:nvSpPr>
            <p:cNvPr name="TextBox 32" id="32"/>
            <p:cNvSpPr txBox="true"/>
            <p:nvPr/>
          </p:nvSpPr>
          <p:spPr>
            <a:xfrm>
              <a:off x="0" y="-38100"/>
              <a:ext cx="14630400" cy="6669725"/>
            </a:xfrm>
            <a:prstGeom prst="rect">
              <a:avLst/>
            </a:prstGeom>
          </p:spPr>
          <p:txBody>
            <a:bodyPr anchor="ctr" rtlCol="false" tIns="0" lIns="0" bIns="0" rIns="0"/>
            <a:lstStyle/>
            <a:p>
              <a:pPr algn="ctr">
                <a:lnSpc>
                  <a:spcPts val="7800"/>
                </a:lnSpc>
              </a:pPr>
              <a:r>
                <a:rPr lang="en-US" sz="6500" b="true">
                  <a:solidFill>
                    <a:srgbClr val="000000"/>
                  </a:solidFill>
                  <a:latin typeface="Times New Roman Bold"/>
                  <a:ea typeface="Times New Roman Bold"/>
                  <a:cs typeface="Times New Roman Bold"/>
                  <a:sym typeface="Times New Roman Bold"/>
                </a:rPr>
                <a:t>Xây dựng ứng dụng phân loại sâu hại trên cây sầu riêng</a:t>
              </a:r>
            </a:p>
          </p:txBody>
        </p:sp>
      </p:grpSp>
      <p:grpSp>
        <p:nvGrpSpPr>
          <p:cNvPr name="Group 33" id="33"/>
          <p:cNvGrpSpPr/>
          <p:nvPr/>
        </p:nvGrpSpPr>
        <p:grpSpPr>
          <a:xfrm rot="0">
            <a:off x="5062849" y="6052742"/>
            <a:ext cx="8704562" cy="2498884"/>
            <a:chOff x="0" y="0"/>
            <a:chExt cx="10643751" cy="3055582"/>
          </a:xfrm>
        </p:grpSpPr>
        <p:sp>
          <p:nvSpPr>
            <p:cNvPr name="Freeform 34" id="34"/>
            <p:cNvSpPr/>
            <p:nvPr/>
          </p:nvSpPr>
          <p:spPr>
            <a:xfrm flipH="false" flipV="false" rot="0">
              <a:off x="0" y="0"/>
              <a:ext cx="10643751" cy="3055582"/>
            </a:xfrm>
            <a:custGeom>
              <a:avLst/>
              <a:gdLst/>
              <a:ahLst/>
              <a:cxnLst/>
              <a:rect r="r" b="b" t="t" l="l"/>
              <a:pathLst>
                <a:path h="3055582" w="10643751">
                  <a:moveTo>
                    <a:pt x="27574" y="0"/>
                  </a:moveTo>
                  <a:lnTo>
                    <a:pt x="10616177" y="0"/>
                  </a:lnTo>
                  <a:cubicBezTo>
                    <a:pt x="10631435" y="0"/>
                    <a:pt x="10643751" y="49456"/>
                    <a:pt x="10643751" y="110723"/>
                  </a:cubicBezTo>
                  <a:lnTo>
                    <a:pt x="10643751" y="2944859"/>
                  </a:lnTo>
                  <a:cubicBezTo>
                    <a:pt x="10643751" y="3006126"/>
                    <a:pt x="10631435" y="3055582"/>
                    <a:pt x="10616177" y="3055582"/>
                  </a:cubicBezTo>
                  <a:lnTo>
                    <a:pt x="27574" y="3055582"/>
                  </a:lnTo>
                  <a:cubicBezTo>
                    <a:pt x="12317" y="3055582"/>
                    <a:pt x="0" y="3006126"/>
                    <a:pt x="0" y="2944859"/>
                  </a:cubicBezTo>
                  <a:lnTo>
                    <a:pt x="0" y="110723"/>
                  </a:lnTo>
                  <a:cubicBezTo>
                    <a:pt x="0" y="49456"/>
                    <a:pt x="12317" y="0"/>
                    <a:pt x="27574" y="0"/>
                  </a:cubicBezTo>
                  <a:moveTo>
                    <a:pt x="27574" y="221446"/>
                  </a:moveTo>
                  <a:lnTo>
                    <a:pt x="27574" y="110723"/>
                  </a:lnTo>
                  <a:lnTo>
                    <a:pt x="55149" y="110723"/>
                  </a:lnTo>
                  <a:lnTo>
                    <a:pt x="55149" y="2944859"/>
                  </a:lnTo>
                  <a:lnTo>
                    <a:pt x="27574" y="2944859"/>
                  </a:lnTo>
                  <a:lnTo>
                    <a:pt x="27574" y="2834137"/>
                  </a:lnTo>
                  <a:lnTo>
                    <a:pt x="10616177" y="2834137"/>
                  </a:lnTo>
                  <a:lnTo>
                    <a:pt x="10616177" y="2944859"/>
                  </a:lnTo>
                  <a:lnTo>
                    <a:pt x="10588603" y="2944859"/>
                  </a:lnTo>
                  <a:lnTo>
                    <a:pt x="10588603" y="110723"/>
                  </a:lnTo>
                  <a:lnTo>
                    <a:pt x="10616177" y="110723"/>
                  </a:lnTo>
                  <a:lnTo>
                    <a:pt x="10616177" y="221446"/>
                  </a:lnTo>
                  <a:lnTo>
                    <a:pt x="27574" y="221446"/>
                  </a:lnTo>
                  <a:close/>
                </a:path>
              </a:pathLst>
            </a:custGeom>
            <a:solidFill>
              <a:srgbClr val="000000"/>
            </a:solidFill>
            <a:ln w="12700">
              <a:solidFill>
                <a:srgbClr val="000000"/>
              </a:solidFill>
            </a:ln>
          </p:spPr>
        </p:sp>
      </p:grpSp>
      <p:sp>
        <p:nvSpPr>
          <p:cNvPr name="Freeform 35" id="35"/>
          <p:cNvSpPr/>
          <p:nvPr/>
        </p:nvSpPr>
        <p:spPr>
          <a:xfrm flipH="false" flipV="false" rot="0">
            <a:off x="14901408" y="7991461"/>
            <a:ext cx="1120331" cy="1120331"/>
          </a:xfrm>
          <a:custGeom>
            <a:avLst/>
            <a:gdLst/>
            <a:ahLst/>
            <a:cxnLst/>
            <a:rect r="r" b="b" t="t" l="l"/>
            <a:pathLst>
              <a:path h="1120331" w="1120331">
                <a:moveTo>
                  <a:pt x="0" y="0"/>
                </a:moveTo>
                <a:lnTo>
                  <a:pt x="1120331" y="0"/>
                </a:lnTo>
                <a:lnTo>
                  <a:pt x="1120331" y="1120331"/>
                </a:lnTo>
                <a:lnTo>
                  <a:pt x="0" y="11203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6" id="36"/>
          <p:cNvGrpSpPr/>
          <p:nvPr/>
        </p:nvGrpSpPr>
        <p:grpSpPr>
          <a:xfrm rot="0">
            <a:off x="454226" y="5326196"/>
            <a:ext cx="3474625" cy="1919954"/>
            <a:chOff x="0" y="0"/>
            <a:chExt cx="4632833" cy="2559939"/>
          </a:xfrm>
        </p:grpSpPr>
        <p:sp>
          <p:nvSpPr>
            <p:cNvPr name="Freeform 37" id="37"/>
            <p:cNvSpPr/>
            <p:nvPr/>
          </p:nvSpPr>
          <p:spPr>
            <a:xfrm flipH="false" flipV="false" rot="0">
              <a:off x="0" y="0"/>
              <a:ext cx="4632833" cy="2559939"/>
            </a:xfrm>
            <a:custGeom>
              <a:avLst/>
              <a:gdLst/>
              <a:ahLst/>
              <a:cxnLst/>
              <a:rect r="r" b="b" t="t" l="l"/>
              <a:pathLst>
                <a:path h="2559939" w="4632833">
                  <a:moveTo>
                    <a:pt x="0" y="0"/>
                  </a:moveTo>
                  <a:lnTo>
                    <a:pt x="4632833" y="0"/>
                  </a:lnTo>
                  <a:lnTo>
                    <a:pt x="4632833" y="2559939"/>
                  </a:lnTo>
                  <a:lnTo>
                    <a:pt x="0" y="2559939"/>
                  </a:lnTo>
                </a:path>
              </a:pathLst>
            </a:custGeom>
            <a:solidFill>
              <a:srgbClr val="000000"/>
            </a:solidFill>
            <a:ln w="12700">
              <a:solidFill>
                <a:srgbClr val="000000"/>
              </a:solidFill>
            </a:ln>
          </p:spPr>
        </p:sp>
      </p:grpSp>
      <p:sp>
        <p:nvSpPr>
          <p:cNvPr name="Freeform 38" id="38"/>
          <p:cNvSpPr/>
          <p:nvPr/>
        </p:nvSpPr>
        <p:spPr>
          <a:xfrm flipH="false" flipV="false" rot="0">
            <a:off x="273876" y="5114921"/>
            <a:ext cx="3503200" cy="1977104"/>
          </a:xfrm>
          <a:custGeom>
            <a:avLst/>
            <a:gdLst/>
            <a:ahLst/>
            <a:cxnLst/>
            <a:rect r="r" b="b" t="t" l="l"/>
            <a:pathLst>
              <a:path h="1977104" w="3503200">
                <a:moveTo>
                  <a:pt x="0" y="0"/>
                </a:moveTo>
                <a:lnTo>
                  <a:pt x="3503200" y="0"/>
                </a:lnTo>
                <a:lnTo>
                  <a:pt x="3503200" y="1977104"/>
                </a:lnTo>
                <a:lnTo>
                  <a:pt x="0" y="19771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39" id="39"/>
          <p:cNvGrpSpPr/>
          <p:nvPr/>
        </p:nvGrpSpPr>
        <p:grpSpPr>
          <a:xfrm rot="56023">
            <a:off x="245793" y="5489846"/>
            <a:ext cx="3526066" cy="19050"/>
            <a:chOff x="0" y="0"/>
            <a:chExt cx="4701421" cy="25400"/>
          </a:xfrm>
        </p:grpSpPr>
        <p:sp>
          <p:nvSpPr>
            <p:cNvPr name="Freeform 40" id="40"/>
            <p:cNvSpPr/>
            <p:nvPr/>
          </p:nvSpPr>
          <p:spPr>
            <a:xfrm flipH="false" flipV="false" rot="0">
              <a:off x="0" y="0"/>
              <a:ext cx="4701413" cy="25400"/>
            </a:xfrm>
            <a:custGeom>
              <a:avLst/>
              <a:gdLst/>
              <a:ahLst/>
              <a:cxnLst/>
              <a:rect r="r" b="b" t="t" l="l"/>
              <a:pathLst>
                <a:path h="25400" w="4701413">
                  <a:moveTo>
                    <a:pt x="12700" y="0"/>
                  </a:moveTo>
                  <a:lnTo>
                    <a:pt x="4688713" y="0"/>
                  </a:lnTo>
                  <a:cubicBezTo>
                    <a:pt x="4695698" y="0"/>
                    <a:pt x="4701413" y="5715"/>
                    <a:pt x="4701413" y="12700"/>
                  </a:cubicBezTo>
                  <a:cubicBezTo>
                    <a:pt x="4701413" y="19685"/>
                    <a:pt x="4695698" y="25400"/>
                    <a:pt x="4688713"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41" id="41"/>
          <p:cNvSpPr/>
          <p:nvPr/>
        </p:nvSpPr>
        <p:spPr>
          <a:xfrm flipH="false" flipV="false" rot="0">
            <a:off x="591039" y="5699274"/>
            <a:ext cx="2811445" cy="1203427"/>
          </a:xfrm>
          <a:custGeom>
            <a:avLst/>
            <a:gdLst/>
            <a:ahLst/>
            <a:cxnLst/>
            <a:rect r="r" b="b" t="t" l="l"/>
            <a:pathLst>
              <a:path h="1203427" w="2811445">
                <a:moveTo>
                  <a:pt x="0" y="0"/>
                </a:moveTo>
                <a:lnTo>
                  <a:pt x="2811445" y="0"/>
                </a:lnTo>
                <a:lnTo>
                  <a:pt x="2811445" y="1203427"/>
                </a:lnTo>
                <a:lnTo>
                  <a:pt x="0" y="1203427"/>
                </a:lnTo>
                <a:lnTo>
                  <a:pt x="0" y="0"/>
                </a:lnTo>
                <a:close/>
              </a:path>
            </a:pathLst>
          </a:custGeom>
          <a:blipFill>
            <a:blip r:embed="rId12">
              <a:extLst>
                <a:ext uri="{96DAC541-7B7A-43D3-8B79-37D633B846F1}">
                  <asvg:svgBlip xmlns:asvg="http://schemas.microsoft.com/office/drawing/2016/SVG/main" r:embed="rId13"/>
                </a:ext>
              </a:extLst>
            </a:blip>
            <a:stretch>
              <a:fillRect l="0" t="-117" r="0" b="-117"/>
            </a:stretch>
          </a:blipFill>
        </p:spPr>
      </p:sp>
      <p:sp>
        <p:nvSpPr>
          <p:cNvPr name="Freeform 42" id="42"/>
          <p:cNvSpPr/>
          <p:nvPr/>
        </p:nvSpPr>
        <p:spPr>
          <a:xfrm flipH="false" flipV="false" rot="0">
            <a:off x="2198650" y="851855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4">
              <a:extLst>
                <a:ext uri="{96DAC541-7B7A-43D3-8B79-37D633B846F1}">
                  <asvg:svgBlip xmlns:asvg="http://schemas.microsoft.com/office/drawing/2016/SVG/main" r:embed="rId15"/>
                </a:ext>
              </a:extLst>
            </a:blip>
            <a:stretch>
              <a:fillRect l="0" t="-1547" r="0" b="-1547"/>
            </a:stretch>
          </a:blipFill>
        </p:spPr>
      </p:sp>
      <p:sp>
        <p:nvSpPr>
          <p:cNvPr name="Freeform 43" id="43"/>
          <p:cNvSpPr/>
          <p:nvPr/>
        </p:nvSpPr>
        <p:spPr>
          <a:xfrm flipH="false" flipV="false" rot="0">
            <a:off x="14211861" y="7409897"/>
            <a:ext cx="1379094" cy="416576"/>
          </a:xfrm>
          <a:custGeom>
            <a:avLst/>
            <a:gdLst/>
            <a:ahLst/>
            <a:cxnLst/>
            <a:rect r="r" b="b" t="t" l="l"/>
            <a:pathLst>
              <a:path h="416576" w="1379094">
                <a:moveTo>
                  <a:pt x="0" y="0"/>
                </a:moveTo>
                <a:lnTo>
                  <a:pt x="1379094" y="0"/>
                </a:lnTo>
                <a:lnTo>
                  <a:pt x="1379094" y="416576"/>
                </a:lnTo>
                <a:lnTo>
                  <a:pt x="0" y="416576"/>
                </a:lnTo>
                <a:lnTo>
                  <a:pt x="0" y="0"/>
                </a:lnTo>
                <a:close/>
              </a:path>
            </a:pathLst>
          </a:custGeom>
          <a:blipFill>
            <a:blip r:embed="rId16">
              <a:extLst>
                <a:ext uri="{96DAC541-7B7A-43D3-8B79-37D633B846F1}">
                  <asvg:svgBlip xmlns:asvg="http://schemas.microsoft.com/office/drawing/2016/SVG/main" r:embed="rId17"/>
                </a:ext>
              </a:extLst>
            </a:blip>
            <a:stretch>
              <a:fillRect l="0" t="-228" r="0" b="-228"/>
            </a:stretch>
          </a:blipFill>
        </p:spPr>
      </p:sp>
      <p:grpSp>
        <p:nvGrpSpPr>
          <p:cNvPr name="Group 44" id="44"/>
          <p:cNvGrpSpPr/>
          <p:nvPr/>
        </p:nvGrpSpPr>
        <p:grpSpPr>
          <a:xfrm rot="0">
            <a:off x="456876" y="2286574"/>
            <a:ext cx="2560225" cy="2560225"/>
            <a:chOff x="0" y="0"/>
            <a:chExt cx="3413633" cy="3413633"/>
          </a:xfrm>
        </p:grpSpPr>
        <p:sp>
          <p:nvSpPr>
            <p:cNvPr name="Freeform 45" id="45"/>
            <p:cNvSpPr/>
            <p:nvPr/>
          </p:nvSpPr>
          <p:spPr>
            <a:xfrm flipH="false" flipV="false" rot="0">
              <a:off x="0" y="0"/>
              <a:ext cx="3413633" cy="3413633"/>
            </a:xfrm>
            <a:custGeom>
              <a:avLst/>
              <a:gdLst/>
              <a:ahLst/>
              <a:cxnLst/>
              <a:rect r="r" b="b" t="t" l="l"/>
              <a:pathLst>
                <a:path h="3413633" w="3413633">
                  <a:moveTo>
                    <a:pt x="0" y="0"/>
                  </a:moveTo>
                  <a:lnTo>
                    <a:pt x="3413633" y="0"/>
                  </a:lnTo>
                  <a:lnTo>
                    <a:pt x="3413633" y="3413633"/>
                  </a:lnTo>
                  <a:lnTo>
                    <a:pt x="0" y="3413633"/>
                  </a:lnTo>
                </a:path>
              </a:pathLst>
            </a:custGeom>
            <a:solidFill>
              <a:srgbClr val="000000"/>
            </a:solidFill>
            <a:ln w="12700">
              <a:solidFill>
                <a:srgbClr val="000000"/>
              </a:solidFill>
            </a:ln>
          </p:spPr>
        </p:sp>
      </p:grpSp>
      <p:sp>
        <p:nvSpPr>
          <p:cNvPr name="Freeform 46" id="46"/>
          <p:cNvSpPr/>
          <p:nvPr/>
        </p:nvSpPr>
        <p:spPr>
          <a:xfrm flipH="false" flipV="false" rot="0">
            <a:off x="273876" y="2066449"/>
            <a:ext cx="2588800" cy="2617375"/>
          </a:xfrm>
          <a:custGeom>
            <a:avLst/>
            <a:gdLst/>
            <a:ahLst/>
            <a:cxnLst/>
            <a:rect r="r" b="b" t="t" l="l"/>
            <a:pathLst>
              <a:path h="2617375" w="2588800">
                <a:moveTo>
                  <a:pt x="0" y="0"/>
                </a:moveTo>
                <a:lnTo>
                  <a:pt x="2588800" y="0"/>
                </a:lnTo>
                <a:lnTo>
                  <a:pt x="2588800" y="2617375"/>
                </a:lnTo>
                <a:lnTo>
                  <a:pt x="0" y="261737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47" id="47"/>
          <p:cNvSpPr/>
          <p:nvPr/>
        </p:nvSpPr>
        <p:spPr>
          <a:xfrm flipH="false" flipV="false" rot="0">
            <a:off x="440075" y="2676327"/>
            <a:ext cx="2227950" cy="1327350"/>
          </a:xfrm>
          <a:custGeom>
            <a:avLst/>
            <a:gdLst/>
            <a:ahLst/>
            <a:cxnLst/>
            <a:rect r="r" b="b" t="t" l="l"/>
            <a:pathLst>
              <a:path h="1327350" w="2227950">
                <a:moveTo>
                  <a:pt x="0" y="0"/>
                </a:moveTo>
                <a:lnTo>
                  <a:pt x="2227950" y="0"/>
                </a:lnTo>
                <a:lnTo>
                  <a:pt x="2227950" y="1327350"/>
                </a:lnTo>
                <a:lnTo>
                  <a:pt x="0" y="1327350"/>
                </a:lnTo>
                <a:lnTo>
                  <a:pt x="0" y="0"/>
                </a:lnTo>
                <a:close/>
              </a:path>
            </a:pathLst>
          </a:custGeom>
          <a:blipFill>
            <a:blip r:embed="rId20">
              <a:extLst>
                <a:ext uri="{96DAC541-7B7A-43D3-8B79-37D633B846F1}">
                  <asvg:svgBlip xmlns:asvg="http://schemas.microsoft.com/office/drawing/2016/SVG/main" r:embed="rId21"/>
                </a:ext>
              </a:extLst>
            </a:blip>
            <a:stretch>
              <a:fillRect l="0" t="-211" r="0" b="-211"/>
            </a:stretch>
          </a:blipFill>
        </p:spPr>
      </p:sp>
      <p:sp>
        <p:nvSpPr>
          <p:cNvPr name="Freeform 48" id="48"/>
          <p:cNvSpPr/>
          <p:nvPr/>
        </p:nvSpPr>
        <p:spPr>
          <a:xfrm flipH="false" flipV="false" rot="0">
            <a:off x="440057" y="4190403"/>
            <a:ext cx="2227834" cy="249492"/>
          </a:xfrm>
          <a:custGeom>
            <a:avLst/>
            <a:gdLst/>
            <a:ahLst/>
            <a:cxnLst/>
            <a:rect r="r" b="b" t="t" l="l"/>
            <a:pathLst>
              <a:path h="249492" w="2227834">
                <a:moveTo>
                  <a:pt x="0" y="0"/>
                </a:moveTo>
                <a:lnTo>
                  <a:pt x="2227834" y="0"/>
                </a:lnTo>
                <a:lnTo>
                  <a:pt x="2227834" y="249492"/>
                </a:lnTo>
                <a:lnTo>
                  <a:pt x="0" y="249492"/>
                </a:lnTo>
                <a:lnTo>
                  <a:pt x="0" y="0"/>
                </a:lnTo>
                <a:close/>
              </a:path>
            </a:pathLst>
          </a:custGeom>
          <a:blipFill>
            <a:blip r:embed="rId22">
              <a:extLst>
                <a:ext uri="{96DAC541-7B7A-43D3-8B79-37D633B846F1}">
                  <asvg:svgBlip xmlns:asvg="http://schemas.microsoft.com/office/drawing/2016/SVG/main" r:embed="rId23"/>
                </a:ext>
              </a:extLst>
            </a:blip>
            <a:stretch>
              <a:fillRect l="0" t="-1516" r="0" b="-1516"/>
            </a:stretch>
          </a:blipFill>
        </p:spPr>
      </p:sp>
      <p:grpSp>
        <p:nvGrpSpPr>
          <p:cNvPr name="Group 49" id="49"/>
          <p:cNvGrpSpPr/>
          <p:nvPr/>
        </p:nvGrpSpPr>
        <p:grpSpPr>
          <a:xfrm rot="76027">
            <a:off x="255384" y="2441974"/>
            <a:ext cx="2603432" cy="19050"/>
            <a:chOff x="0" y="0"/>
            <a:chExt cx="3471243" cy="25400"/>
          </a:xfrm>
        </p:grpSpPr>
        <p:sp>
          <p:nvSpPr>
            <p:cNvPr name="Freeform 50" id="50"/>
            <p:cNvSpPr/>
            <p:nvPr/>
          </p:nvSpPr>
          <p:spPr>
            <a:xfrm flipH="false" flipV="false" rot="0">
              <a:off x="0" y="0"/>
              <a:ext cx="3471291" cy="25400"/>
            </a:xfrm>
            <a:custGeom>
              <a:avLst/>
              <a:gdLst/>
              <a:ahLst/>
              <a:cxnLst/>
              <a:rect r="r" b="b" t="t" l="l"/>
              <a:pathLst>
                <a:path h="25400" w="3471291">
                  <a:moveTo>
                    <a:pt x="12700" y="0"/>
                  </a:moveTo>
                  <a:lnTo>
                    <a:pt x="3458591" y="0"/>
                  </a:lnTo>
                  <a:cubicBezTo>
                    <a:pt x="3465576" y="0"/>
                    <a:pt x="3471291" y="5715"/>
                    <a:pt x="3471291" y="12700"/>
                  </a:cubicBezTo>
                  <a:cubicBezTo>
                    <a:pt x="3471291" y="19685"/>
                    <a:pt x="3465576" y="25400"/>
                    <a:pt x="345859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51" id="51"/>
          <p:cNvGrpSpPr/>
          <p:nvPr/>
        </p:nvGrpSpPr>
        <p:grpSpPr>
          <a:xfrm rot="0">
            <a:off x="15084408" y="2532798"/>
            <a:ext cx="3109246" cy="2194846"/>
            <a:chOff x="0" y="0"/>
            <a:chExt cx="4145661" cy="2926461"/>
          </a:xfrm>
        </p:grpSpPr>
        <p:sp>
          <p:nvSpPr>
            <p:cNvPr name="Freeform 52" id="52"/>
            <p:cNvSpPr/>
            <p:nvPr/>
          </p:nvSpPr>
          <p:spPr>
            <a:xfrm flipH="false" flipV="false" rot="0">
              <a:off x="0" y="0"/>
              <a:ext cx="4145661" cy="2926461"/>
            </a:xfrm>
            <a:custGeom>
              <a:avLst/>
              <a:gdLst/>
              <a:ahLst/>
              <a:cxnLst/>
              <a:rect r="r" b="b" t="t" l="l"/>
              <a:pathLst>
                <a:path h="2926461" w="4145661">
                  <a:moveTo>
                    <a:pt x="0" y="0"/>
                  </a:moveTo>
                  <a:lnTo>
                    <a:pt x="4145661" y="0"/>
                  </a:lnTo>
                  <a:lnTo>
                    <a:pt x="4145661" y="2926461"/>
                  </a:lnTo>
                  <a:lnTo>
                    <a:pt x="0" y="2926461"/>
                  </a:lnTo>
                </a:path>
              </a:pathLst>
            </a:custGeom>
            <a:solidFill>
              <a:srgbClr val="000000"/>
            </a:solidFill>
            <a:ln w="12700">
              <a:solidFill>
                <a:srgbClr val="000000"/>
              </a:solidFill>
            </a:ln>
          </p:spPr>
        </p:sp>
      </p:grpSp>
      <p:sp>
        <p:nvSpPr>
          <p:cNvPr name="Freeform 53" id="53"/>
          <p:cNvSpPr/>
          <p:nvPr/>
        </p:nvSpPr>
        <p:spPr>
          <a:xfrm flipH="false" flipV="false" rot="0">
            <a:off x="14901408" y="2321223"/>
            <a:ext cx="3137821" cy="2251996"/>
          </a:xfrm>
          <a:custGeom>
            <a:avLst/>
            <a:gdLst/>
            <a:ahLst/>
            <a:cxnLst/>
            <a:rect r="r" b="b" t="t" l="l"/>
            <a:pathLst>
              <a:path h="2251996" w="3137821">
                <a:moveTo>
                  <a:pt x="0" y="0"/>
                </a:moveTo>
                <a:lnTo>
                  <a:pt x="3137821" y="0"/>
                </a:lnTo>
                <a:lnTo>
                  <a:pt x="3137821" y="2251996"/>
                </a:lnTo>
                <a:lnTo>
                  <a:pt x="0" y="225199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grpSp>
        <p:nvGrpSpPr>
          <p:cNvPr name="Group 54" id="54"/>
          <p:cNvGrpSpPr/>
          <p:nvPr/>
        </p:nvGrpSpPr>
        <p:grpSpPr>
          <a:xfrm rot="62432">
            <a:off x="14882973" y="2696748"/>
            <a:ext cx="3166119" cy="19050"/>
            <a:chOff x="0" y="0"/>
            <a:chExt cx="4221492" cy="25400"/>
          </a:xfrm>
        </p:grpSpPr>
        <p:sp>
          <p:nvSpPr>
            <p:cNvPr name="Freeform 55" id="55"/>
            <p:cNvSpPr/>
            <p:nvPr/>
          </p:nvSpPr>
          <p:spPr>
            <a:xfrm flipH="false" flipV="false" rot="0">
              <a:off x="0" y="0"/>
              <a:ext cx="4221480" cy="25400"/>
            </a:xfrm>
            <a:custGeom>
              <a:avLst/>
              <a:gdLst/>
              <a:ahLst/>
              <a:cxnLst/>
              <a:rect r="r" b="b" t="t" l="l"/>
              <a:pathLst>
                <a:path h="25400" w="4221480">
                  <a:moveTo>
                    <a:pt x="12700" y="0"/>
                  </a:moveTo>
                  <a:lnTo>
                    <a:pt x="4208780" y="0"/>
                  </a:lnTo>
                  <a:cubicBezTo>
                    <a:pt x="4215765" y="0"/>
                    <a:pt x="4221480" y="5715"/>
                    <a:pt x="4221480" y="12700"/>
                  </a:cubicBezTo>
                  <a:cubicBezTo>
                    <a:pt x="4221480" y="19685"/>
                    <a:pt x="4215765" y="25400"/>
                    <a:pt x="4208780"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56" id="56"/>
          <p:cNvSpPr/>
          <p:nvPr/>
        </p:nvSpPr>
        <p:spPr>
          <a:xfrm flipH="false" flipV="false" rot="0">
            <a:off x="15147055" y="3601737"/>
            <a:ext cx="739906" cy="697214"/>
          </a:xfrm>
          <a:custGeom>
            <a:avLst/>
            <a:gdLst/>
            <a:ahLst/>
            <a:cxnLst/>
            <a:rect r="r" b="b" t="t" l="l"/>
            <a:pathLst>
              <a:path h="697214" w="739906">
                <a:moveTo>
                  <a:pt x="0" y="0"/>
                </a:moveTo>
                <a:lnTo>
                  <a:pt x="739906" y="0"/>
                </a:lnTo>
                <a:lnTo>
                  <a:pt x="739906" y="697214"/>
                </a:lnTo>
                <a:lnTo>
                  <a:pt x="0" y="697214"/>
                </a:lnTo>
                <a:lnTo>
                  <a:pt x="0" y="0"/>
                </a:lnTo>
                <a:close/>
              </a:path>
            </a:pathLst>
          </a:custGeom>
          <a:blipFill>
            <a:blip r:embed="rId26">
              <a:extLst>
                <a:ext uri="{96DAC541-7B7A-43D3-8B79-37D633B846F1}">
                  <asvg:svgBlip xmlns:asvg="http://schemas.microsoft.com/office/drawing/2016/SVG/main" r:embed="rId27"/>
                </a:ext>
              </a:extLst>
            </a:blip>
            <a:stretch>
              <a:fillRect l="0" t="-340" r="0" b="-340"/>
            </a:stretch>
          </a:blipFill>
        </p:spPr>
      </p:sp>
      <p:sp>
        <p:nvSpPr>
          <p:cNvPr name="Freeform 57" id="57"/>
          <p:cNvSpPr/>
          <p:nvPr/>
        </p:nvSpPr>
        <p:spPr>
          <a:xfrm flipH="false" flipV="false" rot="0">
            <a:off x="16086081" y="3601737"/>
            <a:ext cx="739906" cy="697214"/>
          </a:xfrm>
          <a:custGeom>
            <a:avLst/>
            <a:gdLst/>
            <a:ahLst/>
            <a:cxnLst/>
            <a:rect r="r" b="b" t="t" l="l"/>
            <a:pathLst>
              <a:path h="697214" w="739906">
                <a:moveTo>
                  <a:pt x="0" y="0"/>
                </a:moveTo>
                <a:lnTo>
                  <a:pt x="739906" y="0"/>
                </a:lnTo>
                <a:lnTo>
                  <a:pt x="739906" y="697214"/>
                </a:lnTo>
                <a:lnTo>
                  <a:pt x="0" y="697214"/>
                </a:lnTo>
                <a:lnTo>
                  <a:pt x="0" y="0"/>
                </a:lnTo>
                <a:close/>
              </a:path>
            </a:pathLst>
          </a:custGeom>
          <a:blipFill>
            <a:blip r:embed="rId26">
              <a:extLst>
                <a:ext uri="{96DAC541-7B7A-43D3-8B79-37D633B846F1}">
                  <asvg:svgBlip xmlns:asvg="http://schemas.microsoft.com/office/drawing/2016/SVG/main" r:embed="rId27"/>
                </a:ext>
              </a:extLst>
            </a:blip>
            <a:stretch>
              <a:fillRect l="0" t="-340" r="0" b="-340"/>
            </a:stretch>
          </a:blipFill>
        </p:spPr>
      </p:sp>
      <p:sp>
        <p:nvSpPr>
          <p:cNvPr name="Freeform 58" id="58"/>
          <p:cNvSpPr/>
          <p:nvPr/>
        </p:nvSpPr>
        <p:spPr>
          <a:xfrm flipH="false" flipV="false" rot="0">
            <a:off x="17025105" y="3601737"/>
            <a:ext cx="739906" cy="697214"/>
          </a:xfrm>
          <a:custGeom>
            <a:avLst/>
            <a:gdLst/>
            <a:ahLst/>
            <a:cxnLst/>
            <a:rect r="r" b="b" t="t" l="l"/>
            <a:pathLst>
              <a:path h="697214" w="739906">
                <a:moveTo>
                  <a:pt x="0" y="0"/>
                </a:moveTo>
                <a:lnTo>
                  <a:pt x="739906" y="0"/>
                </a:lnTo>
                <a:lnTo>
                  <a:pt x="739906" y="697214"/>
                </a:lnTo>
                <a:lnTo>
                  <a:pt x="0" y="697214"/>
                </a:lnTo>
                <a:lnTo>
                  <a:pt x="0" y="0"/>
                </a:lnTo>
                <a:close/>
              </a:path>
            </a:pathLst>
          </a:custGeom>
          <a:blipFill>
            <a:blip r:embed="rId26">
              <a:extLst>
                <a:ext uri="{96DAC541-7B7A-43D3-8B79-37D633B846F1}">
                  <asvg:svgBlip xmlns:asvg="http://schemas.microsoft.com/office/drawing/2016/SVG/main" r:embed="rId27"/>
                </a:ext>
              </a:extLst>
            </a:blip>
            <a:stretch>
              <a:fillRect l="0" t="-340" r="0" b="-340"/>
            </a:stretch>
          </a:blipFill>
        </p:spPr>
      </p:sp>
      <p:sp>
        <p:nvSpPr>
          <p:cNvPr name="Freeform 59" id="59"/>
          <p:cNvSpPr/>
          <p:nvPr/>
        </p:nvSpPr>
        <p:spPr>
          <a:xfrm flipH="false" flipV="false" rot="0">
            <a:off x="15635986" y="2989960"/>
            <a:ext cx="1640068" cy="375572"/>
          </a:xfrm>
          <a:custGeom>
            <a:avLst/>
            <a:gdLst/>
            <a:ahLst/>
            <a:cxnLst/>
            <a:rect r="r" b="b" t="t" l="l"/>
            <a:pathLst>
              <a:path h="375572" w="1640068">
                <a:moveTo>
                  <a:pt x="0" y="0"/>
                </a:moveTo>
                <a:lnTo>
                  <a:pt x="1640068" y="0"/>
                </a:lnTo>
                <a:lnTo>
                  <a:pt x="1640068" y="375572"/>
                </a:lnTo>
                <a:lnTo>
                  <a:pt x="0" y="375572"/>
                </a:lnTo>
                <a:lnTo>
                  <a:pt x="0" y="0"/>
                </a:lnTo>
                <a:close/>
              </a:path>
            </a:pathLst>
          </a:custGeom>
          <a:blipFill>
            <a:blip r:embed="rId28">
              <a:extLst>
                <a:ext uri="{96DAC541-7B7A-43D3-8B79-37D633B846F1}">
                  <asvg:svgBlip xmlns:asvg="http://schemas.microsoft.com/office/drawing/2016/SVG/main" r:embed="rId29"/>
                </a:ext>
              </a:extLst>
            </a:blip>
            <a:stretch>
              <a:fillRect l="0" t="-483" r="0" b="-483"/>
            </a:stretch>
          </a:blipFill>
        </p:spPr>
      </p:sp>
      <p:sp>
        <p:nvSpPr>
          <p:cNvPr name="Freeform 60" id="60"/>
          <p:cNvSpPr/>
          <p:nvPr/>
        </p:nvSpPr>
        <p:spPr>
          <a:xfrm flipH="false" flipV="false" rot="0">
            <a:off x="15710826" y="5143494"/>
            <a:ext cx="1673336" cy="2743192"/>
          </a:xfrm>
          <a:custGeom>
            <a:avLst/>
            <a:gdLst/>
            <a:ahLst/>
            <a:cxnLst/>
            <a:rect r="r" b="b" t="t" l="l"/>
            <a:pathLst>
              <a:path h="2743192" w="1673336">
                <a:moveTo>
                  <a:pt x="0" y="0"/>
                </a:moveTo>
                <a:lnTo>
                  <a:pt x="1673336" y="0"/>
                </a:lnTo>
                <a:lnTo>
                  <a:pt x="1673336" y="2743192"/>
                </a:lnTo>
                <a:lnTo>
                  <a:pt x="0" y="2743192"/>
                </a:lnTo>
                <a:lnTo>
                  <a:pt x="0" y="0"/>
                </a:lnTo>
                <a:close/>
              </a:path>
            </a:pathLst>
          </a:custGeom>
          <a:blipFill>
            <a:blip r:embed="rId30">
              <a:extLst>
                <a:ext uri="{96DAC541-7B7A-43D3-8B79-37D633B846F1}">
                  <asvg:svgBlip xmlns:asvg="http://schemas.microsoft.com/office/drawing/2016/SVG/main" r:embed="rId31"/>
                </a:ext>
              </a:extLst>
            </a:blip>
            <a:stretch>
              <a:fillRect l="-91" t="0" r="-91" b="0"/>
            </a:stretch>
          </a:blipFill>
        </p:spPr>
      </p:sp>
      <p:sp>
        <p:nvSpPr>
          <p:cNvPr name="TextBox 61" id="61"/>
          <p:cNvSpPr txBox="true"/>
          <p:nvPr/>
        </p:nvSpPr>
        <p:spPr>
          <a:xfrm rot="0">
            <a:off x="5835159" y="6324047"/>
            <a:ext cx="7335560" cy="1695450"/>
          </a:xfrm>
          <a:prstGeom prst="rect">
            <a:avLst/>
          </a:prstGeom>
        </p:spPr>
        <p:txBody>
          <a:bodyPr anchor="t" rtlCol="false" tIns="0" lIns="0" bIns="0" rIns="0">
            <a:spAutoFit/>
          </a:bodyPr>
          <a:lstStyle/>
          <a:p>
            <a:pPr algn="ctr">
              <a:lnSpc>
                <a:spcPts val="3359"/>
              </a:lnSpc>
              <a:spcBef>
                <a:spcPct val="0"/>
              </a:spcBef>
            </a:pPr>
            <a:r>
              <a:rPr lang="en-US" b="true" sz="2799">
                <a:solidFill>
                  <a:srgbClr val="000000"/>
                </a:solidFill>
                <a:latin typeface="Times New Roman Bold"/>
                <a:ea typeface="Times New Roman Bold"/>
                <a:cs typeface="Times New Roman Bold"/>
                <a:sym typeface="Times New Roman Bold"/>
              </a:rPr>
              <a:t>Giảng viên HD : TH.S PHẠM TRỌNG HUYNH</a:t>
            </a:r>
          </a:p>
          <a:p>
            <a:pPr algn="ctr">
              <a:lnSpc>
                <a:spcPts val="3359"/>
              </a:lnSpc>
              <a:spcBef>
                <a:spcPct val="0"/>
              </a:spcBef>
            </a:pPr>
            <a:r>
              <a:rPr lang="en-US" b="true" sz="2799">
                <a:solidFill>
                  <a:srgbClr val="000000"/>
                </a:solidFill>
                <a:latin typeface="Times New Roman Bold"/>
                <a:ea typeface="Times New Roman Bold"/>
                <a:cs typeface="Times New Roman Bold"/>
                <a:sym typeface="Times New Roman Bold"/>
              </a:rPr>
              <a:t>THÀNH VIÊN NHÓM:</a:t>
            </a:r>
          </a:p>
          <a:p>
            <a:pPr algn="ctr">
              <a:lnSpc>
                <a:spcPts val="3359"/>
              </a:lnSpc>
              <a:spcBef>
                <a:spcPct val="0"/>
              </a:spcBef>
            </a:pPr>
            <a:r>
              <a:rPr lang="en-US" b="true" sz="2799">
                <a:solidFill>
                  <a:srgbClr val="000000"/>
                </a:solidFill>
                <a:latin typeface="Times New Roman Bold"/>
                <a:ea typeface="Times New Roman Bold"/>
                <a:cs typeface="Times New Roman Bold"/>
                <a:sym typeface="Times New Roman Bold"/>
              </a:rPr>
              <a:t>Nguyễn Hồ Trường Tam_1150080156</a:t>
            </a:r>
          </a:p>
          <a:p>
            <a:pPr algn="ctr">
              <a:lnSpc>
                <a:spcPts val="3359"/>
              </a:lnSpc>
              <a:spcBef>
                <a:spcPct val="0"/>
              </a:spcBef>
            </a:pPr>
            <a:r>
              <a:rPr lang="en-US" b="true" sz="2799">
                <a:solidFill>
                  <a:srgbClr val="000000"/>
                </a:solidFill>
                <a:latin typeface="Times New Roman Bold"/>
                <a:ea typeface="Times New Roman Bold"/>
                <a:cs typeface="Times New Roman Bold"/>
                <a:sym typeface="Times New Roman Bold"/>
              </a:rPr>
              <a:t>Đinh Ngọc Minh Khôi_1150080140</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7" id="17"/>
          <p:cNvGrpSpPr/>
          <p:nvPr/>
        </p:nvGrpSpPr>
        <p:grpSpPr>
          <a:xfrm rot="0">
            <a:off x="1602625" y="2740341"/>
            <a:ext cx="6503861" cy="1958340"/>
            <a:chOff x="0" y="0"/>
            <a:chExt cx="8671814" cy="2611120"/>
          </a:xfrm>
        </p:grpSpPr>
        <p:sp>
          <p:nvSpPr>
            <p:cNvPr name="Freeform 18" id="18"/>
            <p:cNvSpPr/>
            <p:nvPr/>
          </p:nvSpPr>
          <p:spPr>
            <a:xfrm flipH="false" flipV="false" rot="0">
              <a:off x="0" y="0"/>
              <a:ext cx="8671814" cy="2611120"/>
            </a:xfrm>
            <a:custGeom>
              <a:avLst/>
              <a:gdLst/>
              <a:ahLst/>
              <a:cxnLst/>
              <a:rect r="r" b="b" t="t" l="l"/>
              <a:pathLst>
                <a:path h="2611120" w="8671814">
                  <a:moveTo>
                    <a:pt x="0" y="0"/>
                  </a:moveTo>
                  <a:lnTo>
                    <a:pt x="8671814" y="0"/>
                  </a:lnTo>
                  <a:lnTo>
                    <a:pt x="8671814" y="2611120"/>
                  </a:lnTo>
                  <a:lnTo>
                    <a:pt x="0" y="2611120"/>
                  </a:lnTo>
                </a:path>
              </a:pathLst>
            </a:custGeom>
            <a:solidFill>
              <a:srgbClr val="000000"/>
            </a:solidFill>
            <a:ln w="12700">
              <a:solidFill>
                <a:srgbClr val="000000"/>
              </a:solidFill>
            </a:ln>
          </p:spPr>
        </p:sp>
      </p:grpSp>
      <p:sp>
        <p:nvSpPr>
          <p:cNvPr name="Freeform 19" id="19"/>
          <p:cNvSpPr/>
          <p:nvPr/>
        </p:nvSpPr>
        <p:spPr>
          <a:xfrm flipH="false" flipV="false" rot="0">
            <a:off x="1432783" y="2583763"/>
            <a:ext cx="6532435" cy="2015489"/>
          </a:xfrm>
          <a:custGeom>
            <a:avLst/>
            <a:gdLst/>
            <a:ahLst/>
            <a:cxnLst/>
            <a:rect r="r" b="b" t="t" l="l"/>
            <a:pathLst>
              <a:path h="2015489" w="6532435">
                <a:moveTo>
                  <a:pt x="0" y="0"/>
                </a:moveTo>
                <a:lnTo>
                  <a:pt x="6532435" y="0"/>
                </a:lnTo>
                <a:lnTo>
                  <a:pt x="6532435" y="2015489"/>
                </a:lnTo>
                <a:lnTo>
                  <a:pt x="0" y="20154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 id="20"/>
          <p:cNvGrpSpPr/>
          <p:nvPr/>
        </p:nvGrpSpPr>
        <p:grpSpPr>
          <a:xfrm rot="22212">
            <a:off x="1394615" y="2857137"/>
            <a:ext cx="6574176" cy="19050"/>
            <a:chOff x="0" y="0"/>
            <a:chExt cx="8765568" cy="25400"/>
          </a:xfrm>
        </p:grpSpPr>
        <p:sp>
          <p:nvSpPr>
            <p:cNvPr name="Freeform 21" id="21"/>
            <p:cNvSpPr/>
            <p:nvPr/>
          </p:nvSpPr>
          <p:spPr>
            <a:xfrm flipH="false" flipV="false" rot="0">
              <a:off x="0" y="0"/>
              <a:ext cx="8765540" cy="25400"/>
            </a:xfrm>
            <a:custGeom>
              <a:avLst/>
              <a:gdLst/>
              <a:ahLst/>
              <a:cxnLst/>
              <a:rect r="r" b="b" t="t" l="l"/>
              <a:pathLst>
                <a:path h="25400" w="8765540">
                  <a:moveTo>
                    <a:pt x="12700" y="0"/>
                  </a:moveTo>
                  <a:lnTo>
                    <a:pt x="8752840" y="0"/>
                  </a:lnTo>
                  <a:cubicBezTo>
                    <a:pt x="8759825" y="0"/>
                    <a:pt x="8765540" y="5715"/>
                    <a:pt x="8765540" y="12700"/>
                  </a:cubicBezTo>
                  <a:cubicBezTo>
                    <a:pt x="8765540" y="19685"/>
                    <a:pt x="8759825" y="25400"/>
                    <a:pt x="8752840"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2" id="22"/>
          <p:cNvGrpSpPr/>
          <p:nvPr/>
        </p:nvGrpSpPr>
        <p:grpSpPr>
          <a:xfrm rot="0">
            <a:off x="3232358" y="3136760"/>
            <a:ext cx="4755000" cy="1104544"/>
            <a:chOff x="0" y="0"/>
            <a:chExt cx="6340000" cy="1472725"/>
          </a:xfrm>
        </p:grpSpPr>
        <p:sp>
          <p:nvSpPr>
            <p:cNvPr name="Freeform 23" id="23"/>
            <p:cNvSpPr/>
            <p:nvPr/>
          </p:nvSpPr>
          <p:spPr>
            <a:xfrm flipH="false" flipV="false" rot="0">
              <a:off x="0" y="0"/>
              <a:ext cx="6340000" cy="1472725"/>
            </a:xfrm>
            <a:custGeom>
              <a:avLst/>
              <a:gdLst/>
              <a:ahLst/>
              <a:cxnLst/>
              <a:rect r="r" b="b" t="t" l="l"/>
              <a:pathLst>
                <a:path h="1472725" w="6340000">
                  <a:moveTo>
                    <a:pt x="0" y="0"/>
                  </a:moveTo>
                  <a:lnTo>
                    <a:pt x="6340000" y="0"/>
                  </a:lnTo>
                  <a:lnTo>
                    <a:pt x="6340000" y="1472725"/>
                  </a:lnTo>
                  <a:lnTo>
                    <a:pt x="0" y="1472725"/>
                  </a:lnTo>
                  <a:close/>
                </a:path>
              </a:pathLst>
            </a:custGeom>
            <a:solidFill>
              <a:srgbClr val="000000">
                <a:alpha val="0"/>
              </a:srgbClr>
            </a:solidFill>
          </p:spPr>
        </p:sp>
        <p:sp>
          <p:nvSpPr>
            <p:cNvPr name="TextBox 24" id="24"/>
            <p:cNvSpPr txBox="true"/>
            <p:nvPr/>
          </p:nvSpPr>
          <p:spPr>
            <a:xfrm>
              <a:off x="0" y="-28575"/>
              <a:ext cx="6340000" cy="1501300"/>
            </a:xfrm>
            <a:prstGeom prst="rect">
              <a:avLst/>
            </a:prstGeom>
          </p:spPr>
          <p:txBody>
            <a:bodyPr anchor="b" rtlCol="false" tIns="0" lIns="0" bIns="0" rIns="0"/>
            <a:lstStyle/>
            <a:p>
              <a:pPr algn="l">
                <a:lnSpc>
                  <a:spcPts val="5759"/>
                </a:lnSpc>
              </a:pPr>
              <a:r>
                <a:rPr lang="en-US" sz="4800" b="true">
                  <a:solidFill>
                    <a:srgbClr val="000000"/>
                  </a:solidFill>
                  <a:latin typeface="Times New Roman Bold"/>
                  <a:ea typeface="Times New Roman Bold"/>
                  <a:cs typeface="Times New Roman Bold"/>
                  <a:sym typeface="Times New Roman Bold"/>
                </a:rPr>
                <a:t>Giới </a:t>
              </a:r>
              <a:r>
                <a:rPr lang="en-US" sz="4800" b="true">
                  <a:solidFill>
                    <a:srgbClr val="000000"/>
                  </a:solidFill>
                  <a:latin typeface="Times New Roman Bold"/>
                  <a:ea typeface="Times New Roman Bold"/>
                  <a:cs typeface="Times New Roman Bold"/>
                  <a:sym typeface="Times New Roman Bold"/>
                </a:rPr>
                <a:t>thiệu</a:t>
              </a:r>
            </a:p>
          </p:txBody>
        </p:sp>
      </p:grpSp>
      <p:grpSp>
        <p:nvGrpSpPr>
          <p:cNvPr name="Group 25" id="25"/>
          <p:cNvGrpSpPr/>
          <p:nvPr/>
        </p:nvGrpSpPr>
        <p:grpSpPr>
          <a:xfrm rot="0">
            <a:off x="1193387" y="2898318"/>
            <a:ext cx="2397495" cy="1878184"/>
            <a:chOff x="0" y="0"/>
            <a:chExt cx="3196660" cy="2504245"/>
          </a:xfrm>
        </p:grpSpPr>
        <p:sp>
          <p:nvSpPr>
            <p:cNvPr name="Freeform 26" id="26"/>
            <p:cNvSpPr/>
            <p:nvPr/>
          </p:nvSpPr>
          <p:spPr>
            <a:xfrm flipH="false" flipV="false" rot="0">
              <a:off x="0" y="0"/>
              <a:ext cx="3196660" cy="2504245"/>
            </a:xfrm>
            <a:custGeom>
              <a:avLst/>
              <a:gdLst/>
              <a:ahLst/>
              <a:cxnLst/>
              <a:rect r="r" b="b" t="t" l="l"/>
              <a:pathLst>
                <a:path h="2504245" w="3196660">
                  <a:moveTo>
                    <a:pt x="0" y="0"/>
                  </a:moveTo>
                  <a:lnTo>
                    <a:pt x="3196660" y="0"/>
                  </a:lnTo>
                  <a:lnTo>
                    <a:pt x="3196660" y="2504245"/>
                  </a:lnTo>
                  <a:lnTo>
                    <a:pt x="0" y="2504245"/>
                  </a:lnTo>
                  <a:close/>
                </a:path>
              </a:pathLst>
            </a:custGeom>
            <a:solidFill>
              <a:srgbClr val="000000">
                <a:alpha val="0"/>
              </a:srgbClr>
            </a:solidFill>
          </p:spPr>
        </p:sp>
        <p:sp>
          <p:nvSpPr>
            <p:cNvPr name="TextBox 27" id="27"/>
            <p:cNvSpPr txBox="true"/>
            <p:nvPr/>
          </p:nvSpPr>
          <p:spPr>
            <a:xfrm>
              <a:off x="0" y="95250"/>
              <a:ext cx="3196660" cy="2408995"/>
            </a:xfrm>
            <a:prstGeom prst="rect">
              <a:avLst/>
            </a:prstGeom>
          </p:spPr>
          <p:txBody>
            <a:bodyPr anchor="ctr" rtlCol="false" tIns="0" lIns="0" bIns="0" rIns="0"/>
            <a:lstStyle/>
            <a:p>
              <a:pPr algn="ctr">
                <a:lnSpc>
                  <a:spcPts val="8400"/>
                </a:lnSpc>
              </a:pPr>
              <a:r>
                <a:rPr lang="en-US" sz="8000" b="true">
                  <a:solidFill>
                    <a:srgbClr val="000000"/>
                  </a:solidFill>
                  <a:latin typeface="Rubik Bold"/>
                  <a:ea typeface="Rubik Bold"/>
                  <a:cs typeface="Rubik Bold"/>
                  <a:sym typeface="Rubik Bold"/>
                </a:rPr>
                <a:t>01</a:t>
              </a:r>
            </a:p>
          </p:txBody>
        </p:sp>
      </p:grpSp>
      <p:sp>
        <p:nvSpPr>
          <p:cNvPr name="TextBox 28" id="28"/>
          <p:cNvSpPr txBox="true"/>
          <p:nvPr/>
        </p:nvSpPr>
        <p:spPr>
          <a:xfrm rot="0">
            <a:off x="1522625" y="1369904"/>
            <a:ext cx="15243750" cy="866775"/>
          </a:xfrm>
          <a:prstGeom prst="rect">
            <a:avLst/>
          </a:prstGeom>
        </p:spPr>
        <p:txBody>
          <a:bodyPr anchor="t" rtlCol="false" tIns="0" lIns="0" bIns="0" rIns="0">
            <a:spAutoFit/>
          </a:bodyPr>
          <a:lstStyle/>
          <a:p>
            <a:pPr algn="ctr">
              <a:lnSpc>
                <a:spcPts val="6599"/>
              </a:lnSpc>
            </a:pPr>
            <a:r>
              <a:rPr lang="en-US" sz="5499" b="true">
                <a:solidFill>
                  <a:srgbClr val="000000"/>
                </a:solidFill>
                <a:latin typeface="Times New Roman Bold"/>
                <a:ea typeface="Times New Roman Bold"/>
                <a:cs typeface="Times New Roman Bold"/>
                <a:sym typeface="Times New Roman Bold"/>
              </a:rPr>
              <a:t>NỘI DUNG THUYẾT TRÌNH</a:t>
            </a:r>
          </a:p>
        </p:txBody>
      </p:sp>
      <p:sp>
        <p:nvSpPr>
          <p:cNvPr name="Freeform 29" id="29"/>
          <p:cNvSpPr/>
          <p:nvPr/>
        </p:nvSpPr>
        <p:spPr>
          <a:xfrm flipH="false" flipV="false" rot="0">
            <a:off x="15943476" y="2451964"/>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8">
              <a:extLst>
                <a:ext uri="{96DAC541-7B7A-43D3-8B79-37D633B846F1}">
                  <asvg:svgBlip xmlns:asvg="http://schemas.microsoft.com/office/drawing/2016/SVG/main" r:embed="rId9"/>
                </a:ext>
              </a:extLst>
            </a:blip>
            <a:stretch>
              <a:fillRect l="0" t="-5326" r="0" b="-5326"/>
            </a:stretch>
          </a:blipFill>
        </p:spPr>
      </p:sp>
      <p:sp>
        <p:nvSpPr>
          <p:cNvPr name="Freeform 30" id="30"/>
          <p:cNvSpPr/>
          <p:nvPr/>
        </p:nvSpPr>
        <p:spPr>
          <a:xfrm flipH="false" flipV="false" rot="0">
            <a:off x="15478796" y="215466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1430200" y="1825450"/>
            <a:ext cx="914416" cy="329196"/>
          </a:xfrm>
          <a:custGeom>
            <a:avLst/>
            <a:gdLst/>
            <a:ahLst/>
            <a:cxnLst/>
            <a:rect r="r" b="b" t="t" l="l"/>
            <a:pathLst>
              <a:path h="329196" w="914416">
                <a:moveTo>
                  <a:pt x="0" y="0"/>
                </a:moveTo>
                <a:lnTo>
                  <a:pt x="914416" y="0"/>
                </a:lnTo>
                <a:lnTo>
                  <a:pt x="914416" y="329196"/>
                </a:lnTo>
                <a:lnTo>
                  <a:pt x="0" y="329196"/>
                </a:lnTo>
                <a:lnTo>
                  <a:pt x="0" y="0"/>
                </a:lnTo>
                <a:close/>
              </a:path>
            </a:pathLst>
          </a:custGeom>
          <a:blipFill>
            <a:blip r:embed="rId12">
              <a:extLst>
                <a:ext uri="{96DAC541-7B7A-43D3-8B79-37D633B846F1}">
                  <asvg:svgBlip xmlns:asvg="http://schemas.microsoft.com/office/drawing/2016/SVG/main" r:embed="rId13"/>
                </a:ext>
              </a:extLst>
            </a:blip>
            <a:stretch>
              <a:fillRect l="0" t="-1545" r="0" b="-1545"/>
            </a:stretch>
          </a:blipFill>
        </p:spPr>
      </p:sp>
      <p:grpSp>
        <p:nvGrpSpPr>
          <p:cNvPr name="Group 32" id="32"/>
          <p:cNvGrpSpPr/>
          <p:nvPr/>
        </p:nvGrpSpPr>
        <p:grpSpPr>
          <a:xfrm rot="0">
            <a:off x="9425093" y="2753675"/>
            <a:ext cx="6503861" cy="1958340"/>
            <a:chOff x="0" y="0"/>
            <a:chExt cx="8671814" cy="2611120"/>
          </a:xfrm>
        </p:grpSpPr>
        <p:sp>
          <p:nvSpPr>
            <p:cNvPr name="Freeform 33" id="33"/>
            <p:cNvSpPr/>
            <p:nvPr/>
          </p:nvSpPr>
          <p:spPr>
            <a:xfrm flipH="false" flipV="false" rot="0">
              <a:off x="0" y="0"/>
              <a:ext cx="8671814" cy="2611120"/>
            </a:xfrm>
            <a:custGeom>
              <a:avLst/>
              <a:gdLst/>
              <a:ahLst/>
              <a:cxnLst/>
              <a:rect r="r" b="b" t="t" l="l"/>
              <a:pathLst>
                <a:path h="2611120" w="8671814">
                  <a:moveTo>
                    <a:pt x="0" y="0"/>
                  </a:moveTo>
                  <a:lnTo>
                    <a:pt x="8671814" y="0"/>
                  </a:lnTo>
                  <a:lnTo>
                    <a:pt x="8671814" y="2611120"/>
                  </a:lnTo>
                  <a:lnTo>
                    <a:pt x="0" y="2611120"/>
                  </a:lnTo>
                </a:path>
              </a:pathLst>
            </a:custGeom>
            <a:solidFill>
              <a:srgbClr val="000000"/>
            </a:solidFill>
            <a:ln w="12700">
              <a:solidFill>
                <a:srgbClr val="000000"/>
              </a:solidFill>
            </a:ln>
          </p:spPr>
        </p:sp>
      </p:grpSp>
      <p:sp>
        <p:nvSpPr>
          <p:cNvPr name="Freeform 34" id="34"/>
          <p:cNvSpPr/>
          <p:nvPr/>
        </p:nvSpPr>
        <p:spPr>
          <a:xfrm flipH="false" flipV="false" rot="0">
            <a:off x="9255251" y="2597097"/>
            <a:ext cx="6532435" cy="2015489"/>
          </a:xfrm>
          <a:custGeom>
            <a:avLst/>
            <a:gdLst/>
            <a:ahLst/>
            <a:cxnLst/>
            <a:rect r="r" b="b" t="t" l="l"/>
            <a:pathLst>
              <a:path h="2015489" w="6532435">
                <a:moveTo>
                  <a:pt x="0" y="0"/>
                </a:moveTo>
                <a:lnTo>
                  <a:pt x="6532435" y="0"/>
                </a:lnTo>
                <a:lnTo>
                  <a:pt x="6532435" y="2015489"/>
                </a:lnTo>
                <a:lnTo>
                  <a:pt x="0" y="20154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5" id="35"/>
          <p:cNvGrpSpPr/>
          <p:nvPr/>
        </p:nvGrpSpPr>
        <p:grpSpPr>
          <a:xfrm rot="22212">
            <a:off x="9217083" y="2870471"/>
            <a:ext cx="6574176" cy="19050"/>
            <a:chOff x="0" y="0"/>
            <a:chExt cx="8765568" cy="25400"/>
          </a:xfrm>
        </p:grpSpPr>
        <p:sp>
          <p:nvSpPr>
            <p:cNvPr name="Freeform 36" id="36"/>
            <p:cNvSpPr/>
            <p:nvPr/>
          </p:nvSpPr>
          <p:spPr>
            <a:xfrm flipH="false" flipV="false" rot="0">
              <a:off x="0" y="0"/>
              <a:ext cx="8765540" cy="25400"/>
            </a:xfrm>
            <a:custGeom>
              <a:avLst/>
              <a:gdLst/>
              <a:ahLst/>
              <a:cxnLst/>
              <a:rect r="r" b="b" t="t" l="l"/>
              <a:pathLst>
                <a:path h="25400" w="8765540">
                  <a:moveTo>
                    <a:pt x="12700" y="0"/>
                  </a:moveTo>
                  <a:lnTo>
                    <a:pt x="8752840" y="0"/>
                  </a:lnTo>
                  <a:cubicBezTo>
                    <a:pt x="8759825" y="0"/>
                    <a:pt x="8765540" y="5715"/>
                    <a:pt x="8765540" y="12700"/>
                  </a:cubicBezTo>
                  <a:cubicBezTo>
                    <a:pt x="8765540" y="19685"/>
                    <a:pt x="8759825" y="25400"/>
                    <a:pt x="8752840"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7" id="37"/>
          <p:cNvGrpSpPr/>
          <p:nvPr/>
        </p:nvGrpSpPr>
        <p:grpSpPr>
          <a:xfrm rot="0">
            <a:off x="11413350" y="3165248"/>
            <a:ext cx="4755000" cy="1104545"/>
            <a:chOff x="0" y="0"/>
            <a:chExt cx="6340000" cy="1472726"/>
          </a:xfrm>
        </p:grpSpPr>
        <p:sp>
          <p:nvSpPr>
            <p:cNvPr name="Freeform 38" id="38"/>
            <p:cNvSpPr/>
            <p:nvPr/>
          </p:nvSpPr>
          <p:spPr>
            <a:xfrm flipH="false" flipV="false" rot="0">
              <a:off x="0" y="0"/>
              <a:ext cx="6340000" cy="1472726"/>
            </a:xfrm>
            <a:custGeom>
              <a:avLst/>
              <a:gdLst/>
              <a:ahLst/>
              <a:cxnLst/>
              <a:rect r="r" b="b" t="t" l="l"/>
              <a:pathLst>
                <a:path h="1472726" w="6340000">
                  <a:moveTo>
                    <a:pt x="0" y="0"/>
                  </a:moveTo>
                  <a:lnTo>
                    <a:pt x="6340000" y="0"/>
                  </a:lnTo>
                  <a:lnTo>
                    <a:pt x="6340000" y="1472726"/>
                  </a:lnTo>
                  <a:lnTo>
                    <a:pt x="0" y="1472726"/>
                  </a:lnTo>
                  <a:close/>
                </a:path>
              </a:pathLst>
            </a:custGeom>
            <a:solidFill>
              <a:srgbClr val="000000">
                <a:alpha val="0"/>
              </a:srgbClr>
            </a:solidFill>
          </p:spPr>
        </p:sp>
        <p:sp>
          <p:nvSpPr>
            <p:cNvPr name="TextBox 39" id="39"/>
            <p:cNvSpPr txBox="true"/>
            <p:nvPr/>
          </p:nvSpPr>
          <p:spPr>
            <a:xfrm>
              <a:off x="0" y="-28575"/>
              <a:ext cx="6340000" cy="1501301"/>
            </a:xfrm>
            <a:prstGeom prst="rect">
              <a:avLst/>
            </a:prstGeom>
          </p:spPr>
          <p:txBody>
            <a:bodyPr anchor="b" rtlCol="false" tIns="0" lIns="0" bIns="0" rIns="0"/>
            <a:lstStyle/>
            <a:p>
              <a:pPr algn="l">
                <a:lnSpc>
                  <a:spcPts val="5759"/>
                </a:lnSpc>
              </a:pPr>
              <a:r>
                <a:rPr lang="en-US" sz="4800" b="true">
                  <a:solidFill>
                    <a:srgbClr val="000000"/>
                  </a:solidFill>
                  <a:latin typeface="Times New Roman Bold"/>
                  <a:ea typeface="Times New Roman Bold"/>
                  <a:cs typeface="Times New Roman Bold"/>
                  <a:sym typeface="Times New Roman Bold"/>
                </a:rPr>
                <a:t>Bản tôn chỉ</a:t>
              </a:r>
            </a:p>
          </p:txBody>
        </p:sp>
      </p:grpSp>
      <p:grpSp>
        <p:nvGrpSpPr>
          <p:cNvPr name="Group 40" id="40"/>
          <p:cNvGrpSpPr/>
          <p:nvPr/>
        </p:nvGrpSpPr>
        <p:grpSpPr>
          <a:xfrm rot="0">
            <a:off x="9144000" y="2911652"/>
            <a:ext cx="2269350" cy="1834458"/>
            <a:chOff x="0" y="0"/>
            <a:chExt cx="3025800" cy="2445943"/>
          </a:xfrm>
        </p:grpSpPr>
        <p:sp>
          <p:nvSpPr>
            <p:cNvPr name="Freeform 41" id="41"/>
            <p:cNvSpPr/>
            <p:nvPr/>
          </p:nvSpPr>
          <p:spPr>
            <a:xfrm flipH="false" flipV="false" rot="0">
              <a:off x="0" y="0"/>
              <a:ext cx="3025800" cy="2445944"/>
            </a:xfrm>
            <a:custGeom>
              <a:avLst/>
              <a:gdLst/>
              <a:ahLst/>
              <a:cxnLst/>
              <a:rect r="r" b="b" t="t" l="l"/>
              <a:pathLst>
                <a:path h="2445944" w="3025800">
                  <a:moveTo>
                    <a:pt x="0" y="0"/>
                  </a:moveTo>
                  <a:lnTo>
                    <a:pt x="3025800" y="0"/>
                  </a:lnTo>
                  <a:lnTo>
                    <a:pt x="3025800" y="2445944"/>
                  </a:lnTo>
                  <a:lnTo>
                    <a:pt x="0" y="2445944"/>
                  </a:lnTo>
                  <a:close/>
                </a:path>
              </a:pathLst>
            </a:custGeom>
            <a:solidFill>
              <a:srgbClr val="000000">
                <a:alpha val="0"/>
              </a:srgbClr>
            </a:solidFill>
          </p:spPr>
        </p:sp>
        <p:sp>
          <p:nvSpPr>
            <p:cNvPr name="TextBox 42" id="42"/>
            <p:cNvSpPr txBox="true"/>
            <p:nvPr/>
          </p:nvSpPr>
          <p:spPr>
            <a:xfrm>
              <a:off x="0" y="-9525"/>
              <a:ext cx="3025800" cy="2455468"/>
            </a:xfrm>
            <a:prstGeom prst="rect">
              <a:avLst/>
            </a:prstGeom>
          </p:spPr>
          <p:txBody>
            <a:bodyPr anchor="ctr" rtlCol="false" tIns="0" lIns="0" bIns="0" rIns="0"/>
            <a:lstStyle/>
            <a:p>
              <a:pPr algn="ctr">
                <a:lnSpc>
                  <a:spcPts val="11999"/>
                </a:lnSpc>
              </a:pPr>
              <a:r>
                <a:rPr lang="en-US" sz="9999" b="true">
                  <a:solidFill>
                    <a:srgbClr val="000000"/>
                  </a:solidFill>
                  <a:latin typeface="Rubik Bold"/>
                  <a:ea typeface="Rubik Bold"/>
                  <a:cs typeface="Rubik Bold"/>
                  <a:sym typeface="Rubik Bold"/>
                </a:rPr>
                <a:t>02</a:t>
              </a:r>
            </a:p>
          </p:txBody>
        </p:sp>
      </p:grpSp>
      <p:grpSp>
        <p:nvGrpSpPr>
          <p:cNvPr name="Group 43" id="43"/>
          <p:cNvGrpSpPr/>
          <p:nvPr/>
        </p:nvGrpSpPr>
        <p:grpSpPr>
          <a:xfrm rot="0">
            <a:off x="1602625" y="5208167"/>
            <a:ext cx="6503861" cy="1958340"/>
            <a:chOff x="0" y="0"/>
            <a:chExt cx="8671814" cy="2611120"/>
          </a:xfrm>
        </p:grpSpPr>
        <p:sp>
          <p:nvSpPr>
            <p:cNvPr name="Freeform 44" id="44"/>
            <p:cNvSpPr/>
            <p:nvPr/>
          </p:nvSpPr>
          <p:spPr>
            <a:xfrm flipH="false" flipV="false" rot="0">
              <a:off x="0" y="0"/>
              <a:ext cx="8671814" cy="2611120"/>
            </a:xfrm>
            <a:custGeom>
              <a:avLst/>
              <a:gdLst/>
              <a:ahLst/>
              <a:cxnLst/>
              <a:rect r="r" b="b" t="t" l="l"/>
              <a:pathLst>
                <a:path h="2611120" w="8671814">
                  <a:moveTo>
                    <a:pt x="0" y="0"/>
                  </a:moveTo>
                  <a:lnTo>
                    <a:pt x="8671814" y="0"/>
                  </a:lnTo>
                  <a:lnTo>
                    <a:pt x="8671814" y="2611120"/>
                  </a:lnTo>
                  <a:lnTo>
                    <a:pt x="0" y="2611120"/>
                  </a:lnTo>
                </a:path>
              </a:pathLst>
            </a:custGeom>
            <a:solidFill>
              <a:srgbClr val="000000"/>
            </a:solidFill>
            <a:ln w="12700">
              <a:solidFill>
                <a:srgbClr val="000000"/>
              </a:solidFill>
            </a:ln>
          </p:spPr>
        </p:sp>
      </p:grpSp>
      <p:sp>
        <p:nvSpPr>
          <p:cNvPr name="Freeform 45" id="45"/>
          <p:cNvSpPr/>
          <p:nvPr/>
        </p:nvSpPr>
        <p:spPr>
          <a:xfrm flipH="false" flipV="false" rot="0">
            <a:off x="1432783" y="5051589"/>
            <a:ext cx="6532435" cy="2015489"/>
          </a:xfrm>
          <a:custGeom>
            <a:avLst/>
            <a:gdLst/>
            <a:ahLst/>
            <a:cxnLst/>
            <a:rect r="r" b="b" t="t" l="l"/>
            <a:pathLst>
              <a:path h="2015489" w="6532435">
                <a:moveTo>
                  <a:pt x="0" y="0"/>
                </a:moveTo>
                <a:lnTo>
                  <a:pt x="6532435" y="0"/>
                </a:lnTo>
                <a:lnTo>
                  <a:pt x="6532435" y="2015489"/>
                </a:lnTo>
                <a:lnTo>
                  <a:pt x="0" y="20154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46" id="46"/>
          <p:cNvGrpSpPr/>
          <p:nvPr/>
        </p:nvGrpSpPr>
        <p:grpSpPr>
          <a:xfrm rot="22212">
            <a:off x="1394615" y="5324963"/>
            <a:ext cx="6574176" cy="19050"/>
            <a:chOff x="0" y="0"/>
            <a:chExt cx="8765568" cy="25400"/>
          </a:xfrm>
        </p:grpSpPr>
        <p:sp>
          <p:nvSpPr>
            <p:cNvPr name="Freeform 47" id="47"/>
            <p:cNvSpPr/>
            <p:nvPr/>
          </p:nvSpPr>
          <p:spPr>
            <a:xfrm flipH="false" flipV="false" rot="0">
              <a:off x="0" y="0"/>
              <a:ext cx="8765540" cy="25400"/>
            </a:xfrm>
            <a:custGeom>
              <a:avLst/>
              <a:gdLst/>
              <a:ahLst/>
              <a:cxnLst/>
              <a:rect r="r" b="b" t="t" l="l"/>
              <a:pathLst>
                <a:path h="25400" w="8765540">
                  <a:moveTo>
                    <a:pt x="12700" y="0"/>
                  </a:moveTo>
                  <a:lnTo>
                    <a:pt x="8752840" y="0"/>
                  </a:lnTo>
                  <a:cubicBezTo>
                    <a:pt x="8759825" y="0"/>
                    <a:pt x="8765540" y="5715"/>
                    <a:pt x="8765540" y="12700"/>
                  </a:cubicBezTo>
                  <a:cubicBezTo>
                    <a:pt x="8765540" y="19685"/>
                    <a:pt x="8759825" y="25400"/>
                    <a:pt x="8752840"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48" id="48"/>
          <p:cNvGrpSpPr/>
          <p:nvPr/>
        </p:nvGrpSpPr>
        <p:grpSpPr>
          <a:xfrm rot="0">
            <a:off x="3590882" y="5641476"/>
            <a:ext cx="4755000" cy="1104544"/>
            <a:chOff x="0" y="0"/>
            <a:chExt cx="6340000" cy="1472725"/>
          </a:xfrm>
        </p:grpSpPr>
        <p:sp>
          <p:nvSpPr>
            <p:cNvPr name="Freeform 49" id="49"/>
            <p:cNvSpPr/>
            <p:nvPr/>
          </p:nvSpPr>
          <p:spPr>
            <a:xfrm flipH="false" flipV="false" rot="0">
              <a:off x="0" y="0"/>
              <a:ext cx="6340000" cy="1472725"/>
            </a:xfrm>
            <a:custGeom>
              <a:avLst/>
              <a:gdLst/>
              <a:ahLst/>
              <a:cxnLst/>
              <a:rect r="r" b="b" t="t" l="l"/>
              <a:pathLst>
                <a:path h="1472725" w="6340000">
                  <a:moveTo>
                    <a:pt x="0" y="0"/>
                  </a:moveTo>
                  <a:lnTo>
                    <a:pt x="6340000" y="0"/>
                  </a:lnTo>
                  <a:lnTo>
                    <a:pt x="6340000" y="1472725"/>
                  </a:lnTo>
                  <a:lnTo>
                    <a:pt x="0" y="1472725"/>
                  </a:lnTo>
                  <a:close/>
                </a:path>
              </a:pathLst>
            </a:custGeom>
            <a:solidFill>
              <a:srgbClr val="000000">
                <a:alpha val="0"/>
              </a:srgbClr>
            </a:solidFill>
          </p:spPr>
        </p:sp>
        <p:sp>
          <p:nvSpPr>
            <p:cNvPr name="TextBox 50" id="50"/>
            <p:cNvSpPr txBox="true"/>
            <p:nvPr/>
          </p:nvSpPr>
          <p:spPr>
            <a:xfrm>
              <a:off x="0" y="-28575"/>
              <a:ext cx="6340000" cy="1501300"/>
            </a:xfrm>
            <a:prstGeom prst="rect">
              <a:avLst/>
            </a:prstGeom>
          </p:spPr>
          <p:txBody>
            <a:bodyPr anchor="b" rtlCol="false" tIns="0" lIns="0" bIns="0" rIns="0"/>
            <a:lstStyle/>
            <a:p>
              <a:pPr algn="l">
                <a:lnSpc>
                  <a:spcPts val="5759"/>
                </a:lnSpc>
              </a:pPr>
              <a:r>
                <a:rPr lang="en-US" sz="4800" b="true">
                  <a:solidFill>
                    <a:srgbClr val="000000"/>
                  </a:solidFill>
                  <a:latin typeface="Times New Roman Bold"/>
                  <a:ea typeface="Times New Roman Bold"/>
                  <a:cs typeface="Times New Roman Bold"/>
                  <a:sym typeface="Times New Roman Bold"/>
                </a:rPr>
                <a:t>Kế hoạch dự</a:t>
              </a:r>
              <a:r>
                <a:rPr lang="en-US" sz="4800" b="true">
                  <a:solidFill>
                    <a:srgbClr val="000000"/>
                  </a:solidFill>
                  <a:latin typeface="Times New Roman Bold"/>
                  <a:ea typeface="Times New Roman Bold"/>
                  <a:cs typeface="Times New Roman Bold"/>
                  <a:sym typeface="Times New Roman Bold"/>
                </a:rPr>
                <a:t> án</a:t>
              </a:r>
            </a:p>
          </p:txBody>
        </p:sp>
      </p:grpSp>
      <p:grpSp>
        <p:nvGrpSpPr>
          <p:cNvPr name="Group 51" id="51"/>
          <p:cNvGrpSpPr/>
          <p:nvPr/>
        </p:nvGrpSpPr>
        <p:grpSpPr>
          <a:xfrm rot="0">
            <a:off x="1321532" y="5366144"/>
            <a:ext cx="2269350" cy="1834458"/>
            <a:chOff x="0" y="0"/>
            <a:chExt cx="3025800" cy="2445943"/>
          </a:xfrm>
        </p:grpSpPr>
        <p:sp>
          <p:nvSpPr>
            <p:cNvPr name="Freeform 52" id="52"/>
            <p:cNvSpPr/>
            <p:nvPr/>
          </p:nvSpPr>
          <p:spPr>
            <a:xfrm flipH="false" flipV="false" rot="0">
              <a:off x="0" y="0"/>
              <a:ext cx="3025800" cy="2445944"/>
            </a:xfrm>
            <a:custGeom>
              <a:avLst/>
              <a:gdLst/>
              <a:ahLst/>
              <a:cxnLst/>
              <a:rect r="r" b="b" t="t" l="l"/>
              <a:pathLst>
                <a:path h="2445944" w="3025800">
                  <a:moveTo>
                    <a:pt x="0" y="0"/>
                  </a:moveTo>
                  <a:lnTo>
                    <a:pt x="3025800" y="0"/>
                  </a:lnTo>
                  <a:lnTo>
                    <a:pt x="3025800" y="2445944"/>
                  </a:lnTo>
                  <a:lnTo>
                    <a:pt x="0" y="2445944"/>
                  </a:lnTo>
                  <a:close/>
                </a:path>
              </a:pathLst>
            </a:custGeom>
            <a:solidFill>
              <a:srgbClr val="000000">
                <a:alpha val="0"/>
              </a:srgbClr>
            </a:solidFill>
          </p:spPr>
        </p:sp>
        <p:sp>
          <p:nvSpPr>
            <p:cNvPr name="TextBox 53" id="53"/>
            <p:cNvSpPr txBox="true"/>
            <p:nvPr/>
          </p:nvSpPr>
          <p:spPr>
            <a:xfrm>
              <a:off x="0" y="-9525"/>
              <a:ext cx="3025800" cy="2455468"/>
            </a:xfrm>
            <a:prstGeom prst="rect">
              <a:avLst/>
            </a:prstGeom>
          </p:spPr>
          <p:txBody>
            <a:bodyPr anchor="ctr" rtlCol="false" tIns="0" lIns="0" bIns="0" rIns="0"/>
            <a:lstStyle/>
            <a:p>
              <a:pPr algn="ctr">
                <a:lnSpc>
                  <a:spcPts val="11999"/>
                </a:lnSpc>
              </a:pPr>
              <a:r>
                <a:rPr lang="en-US" sz="9999" b="true">
                  <a:solidFill>
                    <a:srgbClr val="000000"/>
                  </a:solidFill>
                  <a:latin typeface="Rubik Bold"/>
                  <a:ea typeface="Rubik Bold"/>
                  <a:cs typeface="Rubik Bold"/>
                  <a:sym typeface="Rubik Bold"/>
                </a:rPr>
                <a:t>03</a:t>
              </a:r>
            </a:p>
          </p:txBody>
        </p:sp>
      </p:grpSp>
      <p:grpSp>
        <p:nvGrpSpPr>
          <p:cNvPr name="Group 54" id="54"/>
          <p:cNvGrpSpPr/>
          <p:nvPr/>
        </p:nvGrpSpPr>
        <p:grpSpPr>
          <a:xfrm rot="0">
            <a:off x="9533061" y="5208167"/>
            <a:ext cx="6503861" cy="1958340"/>
            <a:chOff x="0" y="0"/>
            <a:chExt cx="8671814" cy="2611120"/>
          </a:xfrm>
        </p:grpSpPr>
        <p:sp>
          <p:nvSpPr>
            <p:cNvPr name="Freeform 55" id="55"/>
            <p:cNvSpPr/>
            <p:nvPr/>
          </p:nvSpPr>
          <p:spPr>
            <a:xfrm flipH="false" flipV="false" rot="0">
              <a:off x="0" y="0"/>
              <a:ext cx="8671814" cy="2611120"/>
            </a:xfrm>
            <a:custGeom>
              <a:avLst/>
              <a:gdLst/>
              <a:ahLst/>
              <a:cxnLst/>
              <a:rect r="r" b="b" t="t" l="l"/>
              <a:pathLst>
                <a:path h="2611120" w="8671814">
                  <a:moveTo>
                    <a:pt x="0" y="0"/>
                  </a:moveTo>
                  <a:lnTo>
                    <a:pt x="8671814" y="0"/>
                  </a:lnTo>
                  <a:lnTo>
                    <a:pt x="8671814" y="2611120"/>
                  </a:lnTo>
                  <a:lnTo>
                    <a:pt x="0" y="2611120"/>
                  </a:lnTo>
                </a:path>
              </a:pathLst>
            </a:custGeom>
            <a:solidFill>
              <a:srgbClr val="000000"/>
            </a:solidFill>
            <a:ln w="12700">
              <a:solidFill>
                <a:srgbClr val="000000"/>
              </a:solidFill>
            </a:ln>
          </p:spPr>
        </p:sp>
      </p:grpSp>
      <p:sp>
        <p:nvSpPr>
          <p:cNvPr name="Freeform 56" id="56"/>
          <p:cNvSpPr/>
          <p:nvPr/>
        </p:nvSpPr>
        <p:spPr>
          <a:xfrm flipH="false" flipV="false" rot="0">
            <a:off x="9363219" y="5051589"/>
            <a:ext cx="6532435" cy="2015489"/>
          </a:xfrm>
          <a:custGeom>
            <a:avLst/>
            <a:gdLst/>
            <a:ahLst/>
            <a:cxnLst/>
            <a:rect r="r" b="b" t="t" l="l"/>
            <a:pathLst>
              <a:path h="2015489" w="6532435">
                <a:moveTo>
                  <a:pt x="0" y="0"/>
                </a:moveTo>
                <a:lnTo>
                  <a:pt x="6532435" y="0"/>
                </a:lnTo>
                <a:lnTo>
                  <a:pt x="6532435" y="2015489"/>
                </a:lnTo>
                <a:lnTo>
                  <a:pt x="0" y="20154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7" id="57"/>
          <p:cNvGrpSpPr/>
          <p:nvPr/>
        </p:nvGrpSpPr>
        <p:grpSpPr>
          <a:xfrm rot="22212">
            <a:off x="9325051" y="5324963"/>
            <a:ext cx="6574176" cy="19050"/>
            <a:chOff x="0" y="0"/>
            <a:chExt cx="8765568" cy="25400"/>
          </a:xfrm>
        </p:grpSpPr>
        <p:sp>
          <p:nvSpPr>
            <p:cNvPr name="Freeform 58" id="58"/>
            <p:cNvSpPr/>
            <p:nvPr/>
          </p:nvSpPr>
          <p:spPr>
            <a:xfrm flipH="false" flipV="false" rot="0">
              <a:off x="0" y="0"/>
              <a:ext cx="8765540" cy="25400"/>
            </a:xfrm>
            <a:custGeom>
              <a:avLst/>
              <a:gdLst/>
              <a:ahLst/>
              <a:cxnLst/>
              <a:rect r="r" b="b" t="t" l="l"/>
              <a:pathLst>
                <a:path h="25400" w="8765540">
                  <a:moveTo>
                    <a:pt x="12700" y="0"/>
                  </a:moveTo>
                  <a:lnTo>
                    <a:pt x="8752840" y="0"/>
                  </a:lnTo>
                  <a:cubicBezTo>
                    <a:pt x="8759825" y="0"/>
                    <a:pt x="8765540" y="5715"/>
                    <a:pt x="8765540" y="12700"/>
                  </a:cubicBezTo>
                  <a:cubicBezTo>
                    <a:pt x="8765540" y="19685"/>
                    <a:pt x="8759825" y="25400"/>
                    <a:pt x="8752840"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59" id="59"/>
          <p:cNvGrpSpPr/>
          <p:nvPr/>
        </p:nvGrpSpPr>
        <p:grpSpPr>
          <a:xfrm rot="0">
            <a:off x="11436709" y="5334488"/>
            <a:ext cx="4374336" cy="1681587"/>
            <a:chOff x="0" y="0"/>
            <a:chExt cx="5832448" cy="2242116"/>
          </a:xfrm>
        </p:grpSpPr>
        <p:sp>
          <p:nvSpPr>
            <p:cNvPr name="Freeform 60" id="60"/>
            <p:cNvSpPr/>
            <p:nvPr/>
          </p:nvSpPr>
          <p:spPr>
            <a:xfrm flipH="false" flipV="false" rot="0">
              <a:off x="0" y="0"/>
              <a:ext cx="5832448" cy="2242116"/>
            </a:xfrm>
            <a:custGeom>
              <a:avLst/>
              <a:gdLst/>
              <a:ahLst/>
              <a:cxnLst/>
              <a:rect r="r" b="b" t="t" l="l"/>
              <a:pathLst>
                <a:path h="2242116" w="5832448">
                  <a:moveTo>
                    <a:pt x="0" y="0"/>
                  </a:moveTo>
                  <a:lnTo>
                    <a:pt x="5832448" y="0"/>
                  </a:lnTo>
                  <a:lnTo>
                    <a:pt x="5832448" y="2242116"/>
                  </a:lnTo>
                  <a:lnTo>
                    <a:pt x="0" y="2242116"/>
                  </a:lnTo>
                  <a:close/>
                </a:path>
              </a:pathLst>
            </a:custGeom>
            <a:solidFill>
              <a:srgbClr val="000000">
                <a:alpha val="0"/>
              </a:srgbClr>
            </a:solidFill>
          </p:spPr>
        </p:sp>
        <p:sp>
          <p:nvSpPr>
            <p:cNvPr name="TextBox 61" id="61"/>
            <p:cNvSpPr txBox="true"/>
            <p:nvPr/>
          </p:nvSpPr>
          <p:spPr>
            <a:xfrm>
              <a:off x="0" y="-28575"/>
              <a:ext cx="5832448" cy="2270691"/>
            </a:xfrm>
            <a:prstGeom prst="rect">
              <a:avLst/>
            </a:prstGeom>
          </p:spPr>
          <p:txBody>
            <a:bodyPr anchor="b" rtlCol="false" tIns="0" lIns="0" bIns="0" rIns="0"/>
            <a:lstStyle/>
            <a:p>
              <a:pPr algn="l">
                <a:lnSpc>
                  <a:spcPts val="5759"/>
                </a:lnSpc>
              </a:pPr>
              <a:r>
                <a:rPr lang="en-US" sz="4800" b="true">
                  <a:solidFill>
                    <a:srgbClr val="000000"/>
                  </a:solidFill>
                  <a:latin typeface="Times New Roman Bold"/>
                  <a:ea typeface="Times New Roman Bold"/>
                  <a:cs typeface="Times New Roman Bold"/>
                  <a:sym typeface="Times New Roman Bold"/>
                </a:rPr>
                <a:t>Kết quả mô hình &amp; </a:t>
              </a:r>
              <a:r>
                <a:rPr lang="en-US" sz="4800" b="true">
                  <a:solidFill>
                    <a:srgbClr val="000000"/>
                  </a:solidFill>
                  <a:latin typeface="Times New Roman Bold"/>
                  <a:ea typeface="Times New Roman Bold"/>
                  <a:cs typeface="Times New Roman Bold"/>
                  <a:sym typeface="Times New Roman Bold"/>
                </a:rPr>
                <a:t>Demo</a:t>
              </a:r>
            </a:p>
          </p:txBody>
        </p:sp>
      </p:grpSp>
      <p:grpSp>
        <p:nvGrpSpPr>
          <p:cNvPr name="Group 62" id="62"/>
          <p:cNvGrpSpPr/>
          <p:nvPr/>
        </p:nvGrpSpPr>
        <p:grpSpPr>
          <a:xfrm rot="0">
            <a:off x="9251968" y="5366144"/>
            <a:ext cx="2269350" cy="1834458"/>
            <a:chOff x="0" y="0"/>
            <a:chExt cx="3025800" cy="2445943"/>
          </a:xfrm>
        </p:grpSpPr>
        <p:sp>
          <p:nvSpPr>
            <p:cNvPr name="Freeform 63" id="63"/>
            <p:cNvSpPr/>
            <p:nvPr/>
          </p:nvSpPr>
          <p:spPr>
            <a:xfrm flipH="false" flipV="false" rot="0">
              <a:off x="0" y="0"/>
              <a:ext cx="3025800" cy="2445944"/>
            </a:xfrm>
            <a:custGeom>
              <a:avLst/>
              <a:gdLst/>
              <a:ahLst/>
              <a:cxnLst/>
              <a:rect r="r" b="b" t="t" l="l"/>
              <a:pathLst>
                <a:path h="2445944" w="3025800">
                  <a:moveTo>
                    <a:pt x="0" y="0"/>
                  </a:moveTo>
                  <a:lnTo>
                    <a:pt x="3025800" y="0"/>
                  </a:lnTo>
                  <a:lnTo>
                    <a:pt x="3025800" y="2445944"/>
                  </a:lnTo>
                  <a:lnTo>
                    <a:pt x="0" y="2445944"/>
                  </a:lnTo>
                  <a:close/>
                </a:path>
              </a:pathLst>
            </a:custGeom>
            <a:solidFill>
              <a:srgbClr val="000000">
                <a:alpha val="0"/>
              </a:srgbClr>
            </a:solidFill>
          </p:spPr>
        </p:sp>
        <p:sp>
          <p:nvSpPr>
            <p:cNvPr name="TextBox 64" id="64"/>
            <p:cNvSpPr txBox="true"/>
            <p:nvPr/>
          </p:nvSpPr>
          <p:spPr>
            <a:xfrm>
              <a:off x="0" y="-9525"/>
              <a:ext cx="3025800" cy="2455468"/>
            </a:xfrm>
            <a:prstGeom prst="rect">
              <a:avLst/>
            </a:prstGeom>
          </p:spPr>
          <p:txBody>
            <a:bodyPr anchor="ctr" rtlCol="false" tIns="0" lIns="0" bIns="0" rIns="0"/>
            <a:lstStyle/>
            <a:p>
              <a:pPr algn="ctr">
                <a:lnSpc>
                  <a:spcPts val="11999"/>
                </a:lnSpc>
              </a:pPr>
              <a:r>
                <a:rPr lang="en-US" sz="9999" b="true">
                  <a:solidFill>
                    <a:srgbClr val="000000"/>
                  </a:solidFill>
                  <a:latin typeface="Rubik Bold"/>
                  <a:ea typeface="Rubik Bold"/>
                  <a:cs typeface="Rubik Bold"/>
                  <a:sym typeface="Rubik Bold"/>
                </a:rPr>
                <a:t>04</a:t>
              </a:r>
            </a:p>
          </p:txBody>
        </p:sp>
      </p:grpSp>
      <p:grpSp>
        <p:nvGrpSpPr>
          <p:cNvPr name="Group 65" id="65"/>
          <p:cNvGrpSpPr/>
          <p:nvPr/>
        </p:nvGrpSpPr>
        <p:grpSpPr>
          <a:xfrm rot="0">
            <a:off x="5766625" y="7569597"/>
            <a:ext cx="6503861" cy="1958340"/>
            <a:chOff x="0" y="0"/>
            <a:chExt cx="8671814" cy="2611120"/>
          </a:xfrm>
        </p:grpSpPr>
        <p:sp>
          <p:nvSpPr>
            <p:cNvPr name="Freeform 66" id="66"/>
            <p:cNvSpPr/>
            <p:nvPr/>
          </p:nvSpPr>
          <p:spPr>
            <a:xfrm flipH="false" flipV="false" rot="0">
              <a:off x="0" y="0"/>
              <a:ext cx="8671814" cy="2611120"/>
            </a:xfrm>
            <a:custGeom>
              <a:avLst/>
              <a:gdLst/>
              <a:ahLst/>
              <a:cxnLst/>
              <a:rect r="r" b="b" t="t" l="l"/>
              <a:pathLst>
                <a:path h="2611120" w="8671814">
                  <a:moveTo>
                    <a:pt x="0" y="0"/>
                  </a:moveTo>
                  <a:lnTo>
                    <a:pt x="8671814" y="0"/>
                  </a:lnTo>
                  <a:lnTo>
                    <a:pt x="8671814" y="2611120"/>
                  </a:lnTo>
                  <a:lnTo>
                    <a:pt x="0" y="2611120"/>
                  </a:lnTo>
                </a:path>
              </a:pathLst>
            </a:custGeom>
            <a:solidFill>
              <a:srgbClr val="000000"/>
            </a:solidFill>
            <a:ln w="12700">
              <a:solidFill>
                <a:srgbClr val="000000"/>
              </a:solidFill>
            </a:ln>
          </p:spPr>
        </p:sp>
      </p:grpSp>
      <p:sp>
        <p:nvSpPr>
          <p:cNvPr name="Freeform 67" id="67"/>
          <p:cNvSpPr/>
          <p:nvPr/>
        </p:nvSpPr>
        <p:spPr>
          <a:xfrm flipH="false" flipV="false" rot="0">
            <a:off x="5596783" y="7413019"/>
            <a:ext cx="6532435" cy="2015489"/>
          </a:xfrm>
          <a:custGeom>
            <a:avLst/>
            <a:gdLst/>
            <a:ahLst/>
            <a:cxnLst/>
            <a:rect r="r" b="b" t="t" l="l"/>
            <a:pathLst>
              <a:path h="2015489" w="6532435">
                <a:moveTo>
                  <a:pt x="0" y="0"/>
                </a:moveTo>
                <a:lnTo>
                  <a:pt x="6532435" y="0"/>
                </a:lnTo>
                <a:lnTo>
                  <a:pt x="6532435" y="2015489"/>
                </a:lnTo>
                <a:lnTo>
                  <a:pt x="0" y="20154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8" id="68"/>
          <p:cNvGrpSpPr/>
          <p:nvPr/>
        </p:nvGrpSpPr>
        <p:grpSpPr>
          <a:xfrm rot="22212">
            <a:off x="5558615" y="7686393"/>
            <a:ext cx="6574176" cy="19050"/>
            <a:chOff x="0" y="0"/>
            <a:chExt cx="8765568" cy="25400"/>
          </a:xfrm>
        </p:grpSpPr>
        <p:sp>
          <p:nvSpPr>
            <p:cNvPr name="Freeform 69" id="69"/>
            <p:cNvSpPr/>
            <p:nvPr/>
          </p:nvSpPr>
          <p:spPr>
            <a:xfrm flipH="false" flipV="false" rot="0">
              <a:off x="0" y="0"/>
              <a:ext cx="8765540" cy="25400"/>
            </a:xfrm>
            <a:custGeom>
              <a:avLst/>
              <a:gdLst/>
              <a:ahLst/>
              <a:cxnLst/>
              <a:rect r="r" b="b" t="t" l="l"/>
              <a:pathLst>
                <a:path h="25400" w="8765540">
                  <a:moveTo>
                    <a:pt x="12700" y="0"/>
                  </a:moveTo>
                  <a:lnTo>
                    <a:pt x="8752840" y="0"/>
                  </a:lnTo>
                  <a:cubicBezTo>
                    <a:pt x="8759825" y="0"/>
                    <a:pt x="8765540" y="5715"/>
                    <a:pt x="8765540" y="12700"/>
                  </a:cubicBezTo>
                  <a:cubicBezTo>
                    <a:pt x="8765540" y="19685"/>
                    <a:pt x="8759825" y="25400"/>
                    <a:pt x="8752840"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70" id="70"/>
          <p:cNvGrpSpPr/>
          <p:nvPr/>
        </p:nvGrpSpPr>
        <p:grpSpPr>
          <a:xfrm rot="0">
            <a:off x="7856872" y="7969546"/>
            <a:ext cx="4755000" cy="1104544"/>
            <a:chOff x="0" y="0"/>
            <a:chExt cx="6340000" cy="1472725"/>
          </a:xfrm>
        </p:grpSpPr>
        <p:sp>
          <p:nvSpPr>
            <p:cNvPr name="Freeform 71" id="71"/>
            <p:cNvSpPr/>
            <p:nvPr/>
          </p:nvSpPr>
          <p:spPr>
            <a:xfrm flipH="false" flipV="false" rot="0">
              <a:off x="0" y="0"/>
              <a:ext cx="6340000" cy="1472725"/>
            </a:xfrm>
            <a:custGeom>
              <a:avLst/>
              <a:gdLst/>
              <a:ahLst/>
              <a:cxnLst/>
              <a:rect r="r" b="b" t="t" l="l"/>
              <a:pathLst>
                <a:path h="1472725" w="6340000">
                  <a:moveTo>
                    <a:pt x="0" y="0"/>
                  </a:moveTo>
                  <a:lnTo>
                    <a:pt x="6340000" y="0"/>
                  </a:lnTo>
                  <a:lnTo>
                    <a:pt x="6340000" y="1472725"/>
                  </a:lnTo>
                  <a:lnTo>
                    <a:pt x="0" y="1472725"/>
                  </a:lnTo>
                  <a:close/>
                </a:path>
              </a:pathLst>
            </a:custGeom>
            <a:solidFill>
              <a:srgbClr val="000000">
                <a:alpha val="0"/>
              </a:srgbClr>
            </a:solidFill>
          </p:spPr>
        </p:sp>
        <p:sp>
          <p:nvSpPr>
            <p:cNvPr name="TextBox 72" id="72"/>
            <p:cNvSpPr txBox="true"/>
            <p:nvPr/>
          </p:nvSpPr>
          <p:spPr>
            <a:xfrm>
              <a:off x="0" y="-28575"/>
              <a:ext cx="6340000" cy="1501300"/>
            </a:xfrm>
            <a:prstGeom prst="rect">
              <a:avLst/>
            </a:prstGeom>
          </p:spPr>
          <p:txBody>
            <a:bodyPr anchor="b" rtlCol="false" tIns="0" lIns="0" bIns="0" rIns="0"/>
            <a:lstStyle/>
            <a:p>
              <a:pPr algn="l">
                <a:lnSpc>
                  <a:spcPts val="5759"/>
                </a:lnSpc>
              </a:pPr>
              <a:r>
                <a:rPr lang="en-US" sz="4800" b="true">
                  <a:solidFill>
                    <a:srgbClr val="000000"/>
                  </a:solidFill>
                  <a:latin typeface="Times New Roman Bold"/>
                  <a:ea typeface="Times New Roman Bold"/>
                  <a:cs typeface="Times New Roman Bold"/>
                  <a:sym typeface="Times New Roman Bold"/>
                </a:rPr>
                <a:t>Kết luận</a:t>
              </a:r>
            </a:p>
          </p:txBody>
        </p:sp>
      </p:grpSp>
      <p:grpSp>
        <p:nvGrpSpPr>
          <p:cNvPr name="Group 73" id="73"/>
          <p:cNvGrpSpPr/>
          <p:nvPr/>
        </p:nvGrpSpPr>
        <p:grpSpPr>
          <a:xfrm rot="0">
            <a:off x="5485532" y="7727574"/>
            <a:ext cx="2269350" cy="1834458"/>
            <a:chOff x="0" y="0"/>
            <a:chExt cx="3025800" cy="2445943"/>
          </a:xfrm>
        </p:grpSpPr>
        <p:sp>
          <p:nvSpPr>
            <p:cNvPr name="Freeform 74" id="74"/>
            <p:cNvSpPr/>
            <p:nvPr/>
          </p:nvSpPr>
          <p:spPr>
            <a:xfrm flipH="false" flipV="false" rot="0">
              <a:off x="0" y="0"/>
              <a:ext cx="3025800" cy="2445944"/>
            </a:xfrm>
            <a:custGeom>
              <a:avLst/>
              <a:gdLst/>
              <a:ahLst/>
              <a:cxnLst/>
              <a:rect r="r" b="b" t="t" l="l"/>
              <a:pathLst>
                <a:path h="2445944" w="3025800">
                  <a:moveTo>
                    <a:pt x="0" y="0"/>
                  </a:moveTo>
                  <a:lnTo>
                    <a:pt x="3025800" y="0"/>
                  </a:lnTo>
                  <a:lnTo>
                    <a:pt x="3025800" y="2445944"/>
                  </a:lnTo>
                  <a:lnTo>
                    <a:pt x="0" y="2445944"/>
                  </a:lnTo>
                  <a:close/>
                </a:path>
              </a:pathLst>
            </a:custGeom>
            <a:solidFill>
              <a:srgbClr val="000000">
                <a:alpha val="0"/>
              </a:srgbClr>
            </a:solidFill>
          </p:spPr>
        </p:sp>
        <p:sp>
          <p:nvSpPr>
            <p:cNvPr name="TextBox 75" id="75"/>
            <p:cNvSpPr txBox="true"/>
            <p:nvPr/>
          </p:nvSpPr>
          <p:spPr>
            <a:xfrm>
              <a:off x="0" y="-9525"/>
              <a:ext cx="3025800" cy="2455468"/>
            </a:xfrm>
            <a:prstGeom prst="rect">
              <a:avLst/>
            </a:prstGeom>
          </p:spPr>
          <p:txBody>
            <a:bodyPr anchor="ctr" rtlCol="false" tIns="0" lIns="0" bIns="0" rIns="0"/>
            <a:lstStyle/>
            <a:p>
              <a:pPr algn="ctr">
                <a:lnSpc>
                  <a:spcPts val="11999"/>
                </a:lnSpc>
              </a:pPr>
              <a:r>
                <a:rPr lang="en-US" sz="9999" b="true">
                  <a:solidFill>
                    <a:srgbClr val="000000"/>
                  </a:solidFill>
                  <a:latin typeface="Rubik Bold"/>
                  <a:ea typeface="Rubik Bold"/>
                  <a:cs typeface="Rubik Bold"/>
                  <a:sym typeface="Rubik Bold"/>
                </a:rPr>
                <a:t>05</a:t>
              </a:r>
            </a:p>
          </p:txBody>
        </p:sp>
      </p:gr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2925600" y="1668900"/>
            <a:ext cx="12801600" cy="7315200"/>
            <a:chOff x="0" y="0"/>
            <a:chExt cx="17068800" cy="9753600"/>
          </a:xfrm>
        </p:grpSpPr>
        <p:sp>
          <p:nvSpPr>
            <p:cNvPr name="Freeform 5" id="5"/>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6" id="6"/>
          <p:cNvSpPr/>
          <p:nvPr/>
        </p:nvSpPr>
        <p:spPr>
          <a:xfrm flipH="false" flipV="false" rot="0">
            <a:off x="2742600" y="1457325"/>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5277">
            <a:off x="2704437" y="2198250"/>
            <a:ext cx="12879127" cy="19050"/>
            <a:chOff x="0" y="0"/>
            <a:chExt cx="17172169" cy="25400"/>
          </a:xfrm>
        </p:grpSpPr>
        <p:sp>
          <p:nvSpPr>
            <p:cNvPr name="Freeform 8" id="8"/>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4870663" y="1832526"/>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4870663" y="1832526"/>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4327325" y="1640001"/>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12367">
            <a:off x="13615582" y="2015526"/>
            <a:ext cx="496632" cy="19050"/>
            <a:chOff x="0" y="0"/>
            <a:chExt cx="662176" cy="25400"/>
          </a:xfrm>
        </p:grpSpPr>
        <p:sp>
          <p:nvSpPr>
            <p:cNvPr name="Freeform 16" id="16"/>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0045450" y="2852300"/>
            <a:ext cx="7315180" cy="696694"/>
          </a:xfrm>
          <a:custGeom>
            <a:avLst/>
            <a:gdLst/>
            <a:ahLst/>
            <a:cxnLst/>
            <a:rect r="r" b="b" t="t" l="l"/>
            <a:pathLst>
              <a:path h="696694" w="7315180">
                <a:moveTo>
                  <a:pt x="0" y="0"/>
                </a:moveTo>
                <a:lnTo>
                  <a:pt x="7315180" y="0"/>
                </a:lnTo>
                <a:lnTo>
                  <a:pt x="7315180" y="696694"/>
                </a:lnTo>
                <a:lnTo>
                  <a:pt x="0" y="696694"/>
                </a:lnTo>
                <a:lnTo>
                  <a:pt x="0" y="0"/>
                </a:lnTo>
                <a:close/>
              </a:path>
            </a:pathLst>
          </a:custGeom>
          <a:blipFill>
            <a:blip r:embed="rId6">
              <a:extLst>
                <a:ext uri="{96DAC541-7B7A-43D3-8B79-37D633B846F1}">
                  <asvg:svgBlip xmlns:asvg="http://schemas.microsoft.com/office/drawing/2016/SVG/main" r:embed="rId7"/>
                </a:ext>
              </a:extLst>
            </a:blip>
            <a:stretch>
              <a:fillRect l="0" t="-585" r="0" b="-585"/>
            </a:stretch>
          </a:blipFill>
        </p:spPr>
      </p:sp>
      <p:sp>
        <p:nvSpPr>
          <p:cNvPr name="Freeform 18" id="18"/>
          <p:cNvSpPr/>
          <p:nvPr/>
        </p:nvSpPr>
        <p:spPr>
          <a:xfrm flipH="false" flipV="false" rot="0">
            <a:off x="14630399" y="3936501"/>
            <a:ext cx="2743192" cy="1206990"/>
          </a:xfrm>
          <a:custGeom>
            <a:avLst/>
            <a:gdLst/>
            <a:ahLst/>
            <a:cxnLst/>
            <a:rect r="r" b="b" t="t" l="l"/>
            <a:pathLst>
              <a:path h="1206990" w="2743192">
                <a:moveTo>
                  <a:pt x="0" y="0"/>
                </a:moveTo>
                <a:lnTo>
                  <a:pt x="2743192" y="0"/>
                </a:lnTo>
                <a:lnTo>
                  <a:pt x="2743192" y="1206990"/>
                </a:lnTo>
                <a:lnTo>
                  <a:pt x="0" y="1206990"/>
                </a:lnTo>
                <a:lnTo>
                  <a:pt x="0" y="0"/>
                </a:lnTo>
                <a:close/>
              </a:path>
            </a:pathLst>
          </a:custGeom>
          <a:blipFill>
            <a:blip r:embed="rId8">
              <a:extLst>
                <a:ext uri="{96DAC541-7B7A-43D3-8B79-37D633B846F1}">
                  <asvg:svgBlip xmlns:asvg="http://schemas.microsoft.com/office/drawing/2016/SVG/main" r:embed="rId9"/>
                </a:ext>
              </a:extLst>
            </a:blip>
            <a:stretch>
              <a:fillRect l="0" t="-111" r="0" b="-111"/>
            </a:stretch>
          </a:blipFill>
        </p:spPr>
      </p:sp>
      <p:grpSp>
        <p:nvGrpSpPr>
          <p:cNvPr name="Group 19" id="19"/>
          <p:cNvGrpSpPr/>
          <p:nvPr/>
        </p:nvGrpSpPr>
        <p:grpSpPr>
          <a:xfrm rot="0">
            <a:off x="1613200" y="728548"/>
            <a:ext cx="3657600" cy="3657600"/>
            <a:chOff x="0" y="0"/>
            <a:chExt cx="4876800" cy="4876800"/>
          </a:xfrm>
        </p:grpSpPr>
        <p:sp>
          <p:nvSpPr>
            <p:cNvPr name="Freeform 20" id="20"/>
            <p:cNvSpPr/>
            <p:nvPr/>
          </p:nvSpPr>
          <p:spPr>
            <a:xfrm flipH="false" flipV="false" rot="0">
              <a:off x="0" y="0"/>
              <a:ext cx="4876800" cy="4876800"/>
            </a:xfrm>
            <a:custGeom>
              <a:avLst/>
              <a:gdLst/>
              <a:ahLst/>
              <a:cxnLst/>
              <a:rect r="r" b="b" t="t" l="l"/>
              <a:pathLst>
                <a:path h="4876800" w="4876800">
                  <a:moveTo>
                    <a:pt x="0" y="0"/>
                  </a:moveTo>
                  <a:lnTo>
                    <a:pt x="4876800" y="0"/>
                  </a:lnTo>
                  <a:lnTo>
                    <a:pt x="4876800" y="4876800"/>
                  </a:lnTo>
                  <a:lnTo>
                    <a:pt x="0" y="4876800"/>
                  </a:lnTo>
                </a:path>
              </a:pathLst>
            </a:custGeom>
            <a:solidFill>
              <a:srgbClr val="000000"/>
            </a:solidFill>
            <a:ln w="12700">
              <a:solidFill>
                <a:srgbClr val="000000"/>
              </a:solidFill>
            </a:ln>
          </p:spPr>
        </p:sp>
      </p:grpSp>
      <p:sp>
        <p:nvSpPr>
          <p:cNvPr name="Freeform 21" id="21"/>
          <p:cNvSpPr/>
          <p:nvPr/>
        </p:nvSpPr>
        <p:spPr>
          <a:xfrm flipH="false" flipV="false" rot="0">
            <a:off x="1430200" y="519823"/>
            <a:ext cx="3686175" cy="3714750"/>
          </a:xfrm>
          <a:custGeom>
            <a:avLst/>
            <a:gdLst/>
            <a:ahLst/>
            <a:cxnLst/>
            <a:rect r="r" b="b" t="t" l="l"/>
            <a:pathLst>
              <a:path h="3714750" w="3686175">
                <a:moveTo>
                  <a:pt x="0" y="0"/>
                </a:moveTo>
                <a:lnTo>
                  <a:pt x="3686175" y="0"/>
                </a:lnTo>
                <a:lnTo>
                  <a:pt x="3686175" y="3714750"/>
                </a:lnTo>
                <a:lnTo>
                  <a:pt x="0" y="37147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2" id="22"/>
          <p:cNvGrpSpPr/>
          <p:nvPr/>
        </p:nvGrpSpPr>
        <p:grpSpPr>
          <a:xfrm rot="53047">
            <a:off x="1397584" y="1256550"/>
            <a:ext cx="3722841" cy="19050"/>
            <a:chOff x="0" y="0"/>
            <a:chExt cx="4963788" cy="25400"/>
          </a:xfrm>
        </p:grpSpPr>
        <p:sp>
          <p:nvSpPr>
            <p:cNvPr name="Freeform 23" id="23"/>
            <p:cNvSpPr/>
            <p:nvPr/>
          </p:nvSpPr>
          <p:spPr>
            <a:xfrm flipH="false" flipV="false" rot="0">
              <a:off x="0" y="0"/>
              <a:ext cx="4963795" cy="25400"/>
            </a:xfrm>
            <a:custGeom>
              <a:avLst/>
              <a:gdLst/>
              <a:ahLst/>
              <a:cxnLst/>
              <a:rect r="r" b="b" t="t" l="l"/>
              <a:pathLst>
                <a:path h="25400" w="4963795">
                  <a:moveTo>
                    <a:pt x="12700" y="0"/>
                  </a:moveTo>
                  <a:lnTo>
                    <a:pt x="4951095" y="0"/>
                  </a:lnTo>
                  <a:cubicBezTo>
                    <a:pt x="4958080" y="0"/>
                    <a:pt x="4963795" y="5715"/>
                    <a:pt x="4963795" y="12700"/>
                  </a:cubicBezTo>
                  <a:cubicBezTo>
                    <a:pt x="4963795" y="19685"/>
                    <a:pt x="4958080" y="25400"/>
                    <a:pt x="495109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4" id="24"/>
          <p:cNvGrpSpPr/>
          <p:nvPr/>
        </p:nvGrpSpPr>
        <p:grpSpPr>
          <a:xfrm rot="2699999">
            <a:off x="4410163" y="891876"/>
            <a:ext cx="617474" cy="19050"/>
            <a:chOff x="0" y="0"/>
            <a:chExt cx="823299" cy="25400"/>
          </a:xfrm>
        </p:grpSpPr>
        <p:sp>
          <p:nvSpPr>
            <p:cNvPr name="Freeform 25" id="25"/>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6" id="26"/>
          <p:cNvGrpSpPr/>
          <p:nvPr/>
        </p:nvGrpSpPr>
        <p:grpSpPr>
          <a:xfrm rot="2700000">
            <a:off x="4410163" y="891876"/>
            <a:ext cx="617474" cy="19050"/>
            <a:chOff x="0" y="0"/>
            <a:chExt cx="823299" cy="25400"/>
          </a:xfrm>
        </p:grpSpPr>
        <p:sp>
          <p:nvSpPr>
            <p:cNvPr name="Freeform 27" id="27"/>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8" id="28"/>
          <p:cNvGrpSpPr/>
          <p:nvPr/>
        </p:nvGrpSpPr>
        <p:grpSpPr>
          <a:xfrm rot="0">
            <a:off x="3874325" y="706551"/>
            <a:ext cx="415957" cy="415957"/>
            <a:chOff x="0" y="0"/>
            <a:chExt cx="554609" cy="554609"/>
          </a:xfrm>
        </p:grpSpPr>
        <p:sp>
          <p:nvSpPr>
            <p:cNvPr name="Freeform 29" id="29"/>
            <p:cNvSpPr/>
            <p:nvPr/>
          </p:nvSpPr>
          <p:spPr>
            <a:xfrm flipH="false" flipV="false" rot="0">
              <a:off x="0" y="0"/>
              <a:ext cx="554609" cy="554609"/>
            </a:xfrm>
            <a:custGeom>
              <a:avLst/>
              <a:gdLst/>
              <a:ahLst/>
              <a:cxnLst/>
              <a:rect r="r" b="b" t="t" l="l"/>
              <a:pathLst>
                <a:path h="554609" w="554609">
                  <a:moveTo>
                    <a:pt x="38100" y="0"/>
                  </a:moveTo>
                  <a:lnTo>
                    <a:pt x="516509" y="0"/>
                  </a:lnTo>
                  <a:cubicBezTo>
                    <a:pt x="537591" y="0"/>
                    <a:pt x="554609" y="17018"/>
                    <a:pt x="554609" y="38100"/>
                  </a:cubicBezTo>
                  <a:lnTo>
                    <a:pt x="554609" y="516509"/>
                  </a:lnTo>
                  <a:cubicBezTo>
                    <a:pt x="554609" y="537591"/>
                    <a:pt x="537591" y="554609"/>
                    <a:pt x="516509" y="554609"/>
                  </a:cubicBezTo>
                  <a:lnTo>
                    <a:pt x="38100" y="554609"/>
                  </a:lnTo>
                  <a:cubicBezTo>
                    <a:pt x="17018" y="554609"/>
                    <a:pt x="0" y="537591"/>
                    <a:pt x="0" y="516509"/>
                  </a:cubicBezTo>
                  <a:lnTo>
                    <a:pt x="0" y="38100"/>
                  </a:lnTo>
                  <a:cubicBezTo>
                    <a:pt x="0" y="17018"/>
                    <a:pt x="17018" y="0"/>
                    <a:pt x="38100" y="0"/>
                  </a:cubicBezTo>
                  <a:moveTo>
                    <a:pt x="38100" y="76200"/>
                  </a:moveTo>
                  <a:lnTo>
                    <a:pt x="38100" y="38100"/>
                  </a:lnTo>
                  <a:lnTo>
                    <a:pt x="76200" y="38100"/>
                  </a:lnTo>
                  <a:lnTo>
                    <a:pt x="76200" y="516509"/>
                  </a:lnTo>
                  <a:lnTo>
                    <a:pt x="38100" y="516509"/>
                  </a:lnTo>
                  <a:lnTo>
                    <a:pt x="38100" y="478409"/>
                  </a:lnTo>
                  <a:lnTo>
                    <a:pt x="516509" y="478409"/>
                  </a:lnTo>
                  <a:lnTo>
                    <a:pt x="516509" y="516509"/>
                  </a:lnTo>
                  <a:lnTo>
                    <a:pt x="478409" y="516509"/>
                  </a:lnTo>
                  <a:lnTo>
                    <a:pt x="478409" y="38100"/>
                  </a:lnTo>
                  <a:lnTo>
                    <a:pt x="516509" y="38100"/>
                  </a:lnTo>
                  <a:lnTo>
                    <a:pt x="516509" y="76200"/>
                  </a:lnTo>
                  <a:lnTo>
                    <a:pt x="38100" y="76200"/>
                  </a:lnTo>
                  <a:close/>
                </a:path>
              </a:pathLst>
            </a:custGeom>
            <a:solidFill>
              <a:srgbClr val="000000"/>
            </a:solidFill>
            <a:ln w="12700">
              <a:solidFill>
                <a:srgbClr val="000000"/>
              </a:solidFill>
            </a:ln>
          </p:spPr>
        </p:sp>
      </p:grpSp>
      <p:grpSp>
        <p:nvGrpSpPr>
          <p:cNvPr name="Group 30" id="30"/>
          <p:cNvGrpSpPr/>
          <p:nvPr/>
        </p:nvGrpSpPr>
        <p:grpSpPr>
          <a:xfrm rot="412367">
            <a:off x="3171882" y="1074876"/>
            <a:ext cx="496632" cy="19050"/>
            <a:chOff x="0" y="0"/>
            <a:chExt cx="662176" cy="25400"/>
          </a:xfrm>
        </p:grpSpPr>
        <p:sp>
          <p:nvSpPr>
            <p:cNvPr name="Freeform 31" id="31"/>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2" id="32"/>
          <p:cNvGrpSpPr/>
          <p:nvPr/>
        </p:nvGrpSpPr>
        <p:grpSpPr>
          <a:xfrm rot="0">
            <a:off x="1895100" y="1351556"/>
            <a:ext cx="2736600" cy="2750344"/>
            <a:chOff x="0" y="0"/>
            <a:chExt cx="3648800" cy="3667125"/>
          </a:xfrm>
        </p:grpSpPr>
        <p:sp>
          <p:nvSpPr>
            <p:cNvPr name="Freeform 33" id="33"/>
            <p:cNvSpPr/>
            <p:nvPr/>
          </p:nvSpPr>
          <p:spPr>
            <a:xfrm flipH="false" flipV="false" rot="0">
              <a:off x="0" y="0"/>
              <a:ext cx="3648800" cy="3667125"/>
            </a:xfrm>
            <a:custGeom>
              <a:avLst/>
              <a:gdLst/>
              <a:ahLst/>
              <a:cxnLst/>
              <a:rect r="r" b="b" t="t" l="l"/>
              <a:pathLst>
                <a:path h="3667125" w="3648800">
                  <a:moveTo>
                    <a:pt x="0" y="0"/>
                  </a:moveTo>
                  <a:lnTo>
                    <a:pt x="3648800" y="0"/>
                  </a:lnTo>
                  <a:lnTo>
                    <a:pt x="3648800" y="3667125"/>
                  </a:lnTo>
                  <a:lnTo>
                    <a:pt x="0" y="3667125"/>
                  </a:lnTo>
                  <a:close/>
                </a:path>
              </a:pathLst>
            </a:custGeom>
            <a:solidFill>
              <a:srgbClr val="000000">
                <a:alpha val="0"/>
              </a:srgbClr>
            </a:solidFill>
          </p:spPr>
        </p:sp>
        <p:sp>
          <p:nvSpPr>
            <p:cNvPr name="TextBox 34" id="34"/>
            <p:cNvSpPr txBox="true"/>
            <p:nvPr/>
          </p:nvSpPr>
          <p:spPr>
            <a:xfrm>
              <a:off x="0" y="-9525"/>
              <a:ext cx="3648800" cy="3676650"/>
            </a:xfrm>
            <a:prstGeom prst="rect">
              <a:avLst/>
            </a:prstGeom>
          </p:spPr>
          <p:txBody>
            <a:bodyPr anchor="ctr" rtlCol="false" tIns="0" lIns="0" bIns="0" rIns="0"/>
            <a:lstStyle/>
            <a:p>
              <a:pPr algn="ctr">
                <a:lnSpc>
                  <a:spcPts val="16800"/>
                </a:lnSpc>
              </a:pPr>
              <a:r>
                <a:rPr lang="en-US" sz="14000" b="true">
                  <a:solidFill>
                    <a:srgbClr val="000000"/>
                  </a:solidFill>
                  <a:latin typeface="Rubik Bold"/>
                  <a:ea typeface="Rubik Bold"/>
                  <a:cs typeface="Rubik Bold"/>
                  <a:sym typeface="Rubik Bold"/>
                </a:rPr>
                <a:t>01</a:t>
              </a:r>
            </a:p>
          </p:txBody>
        </p:sp>
      </p:grpSp>
      <p:sp>
        <p:nvSpPr>
          <p:cNvPr name="TextBox 35" id="35"/>
          <p:cNvSpPr txBox="true"/>
          <p:nvPr/>
        </p:nvSpPr>
        <p:spPr>
          <a:xfrm rot="0">
            <a:off x="3952607" y="4970073"/>
            <a:ext cx="10324981" cy="2190750"/>
          </a:xfrm>
          <a:prstGeom prst="rect">
            <a:avLst/>
          </a:prstGeom>
        </p:spPr>
        <p:txBody>
          <a:bodyPr anchor="t" rtlCol="false" tIns="0" lIns="0" bIns="0" rIns="0">
            <a:spAutoFit/>
          </a:bodyPr>
          <a:lstStyle/>
          <a:p>
            <a:pPr algn="ctr">
              <a:lnSpc>
                <a:spcPts val="16800"/>
              </a:lnSpc>
            </a:pPr>
            <a:r>
              <a:rPr lang="en-US" sz="14000" b="true">
                <a:solidFill>
                  <a:srgbClr val="000000"/>
                </a:solidFill>
                <a:latin typeface="Times New Roman Bold"/>
                <a:ea typeface="Times New Roman Bold"/>
                <a:cs typeface="Times New Roman Bold"/>
                <a:sym typeface="Times New Roman Bold"/>
              </a:rPr>
              <a:t>GIỚI THIỆU</a:t>
            </a:r>
          </a:p>
        </p:txBody>
      </p:sp>
      <p:sp>
        <p:nvSpPr>
          <p:cNvPr name="Freeform 36" id="36"/>
          <p:cNvSpPr/>
          <p:nvPr/>
        </p:nvSpPr>
        <p:spPr>
          <a:xfrm flipH="false" flipV="false" rot="0">
            <a:off x="903553" y="8187457"/>
            <a:ext cx="1053295" cy="1053295"/>
          </a:xfrm>
          <a:custGeom>
            <a:avLst/>
            <a:gdLst/>
            <a:ahLst/>
            <a:cxnLst/>
            <a:rect r="r" b="b" t="t" l="l"/>
            <a:pathLst>
              <a:path h="1053295" w="1053295">
                <a:moveTo>
                  <a:pt x="0" y="0"/>
                </a:moveTo>
                <a:lnTo>
                  <a:pt x="1053295" y="0"/>
                </a:lnTo>
                <a:lnTo>
                  <a:pt x="1053295" y="1053295"/>
                </a:lnTo>
                <a:lnTo>
                  <a:pt x="0" y="1053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false" flipV="false" rot="0">
            <a:off x="7656916" y="3442934"/>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4">
              <a:extLst>
                <a:ext uri="{96DAC541-7B7A-43D3-8B79-37D633B846F1}">
                  <asvg:svgBlip xmlns:asvg="http://schemas.microsoft.com/office/drawing/2016/SVG/main" r:embed="rId15"/>
                </a:ext>
              </a:extLst>
            </a:blip>
            <a:stretch>
              <a:fillRect l="0" t="-1547" r="0" b="-1547"/>
            </a:stretch>
          </a:blipFill>
        </p:spPr>
      </p:sp>
      <p:sp>
        <p:nvSpPr>
          <p:cNvPr name="Freeform 38" id="38"/>
          <p:cNvSpPr/>
          <p:nvPr/>
        </p:nvSpPr>
        <p:spPr>
          <a:xfrm flipH="false" flipV="false" rot="0">
            <a:off x="8585206" y="3141278"/>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9" id="39"/>
          <p:cNvSpPr/>
          <p:nvPr/>
        </p:nvSpPr>
        <p:spPr>
          <a:xfrm flipH="false" flipV="false" rot="0">
            <a:off x="6084978" y="283465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8">
              <a:extLst>
                <a:ext uri="{96DAC541-7B7A-43D3-8B79-37D633B846F1}">
                  <asvg:svgBlip xmlns:asvg="http://schemas.microsoft.com/office/drawing/2016/SVG/main" r:embed="rId19"/>
                </a:ext>
              </a:extLst>
            </a:blip>
            <a:stretch>
              <a:fillRect l="0" t="-5326" r="0" b="-5326"/>
            </a:stretch>
          </a:blipFill>
        </p:spPr>
      </p:sp>
      <p:sp>
        <p:nvSpPr>
          <p:cNvPr name="Freeform 40" id="40"/>
          <p:cNvSpPr/>
          <p:nvPr/>
        </p:nvSpPr>
        <p:spPr>
          <a:xfrm flipH="false" flipV="false" rot="0">
            <a:off x="898825" y="6811025"/>
            <a:ext cx="1062750" cy="1062750"/>
          </a:xfrm>
          <a:custGeom>
            <a:avLst/>
            <a:gdLst/>
            <a:ahLst/>
            <a:cxnLst/>
            <a:rect r="r" b="b" t="t" l="l"/>
            <a:pathLst>
              <a:path h="1062750" w="1062750">
                <a:moveTo>
                  <a:pt x="0" y="0"/>
                </a:moveTo>
                <a:lnTo>
                  <a:pt x="1062750" y="0"/>
                </a:lnTo>
                <a:lnTo>
                  <a:pt x="1062750" y="1062750"/>
                </a:lnTo>
                <a:lnTo>
                  <a:pt x="0" y="106275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907" y="0"/>
            <a:ext cx="18272093" cy="10287000"/>
            <a:chOff x="0" y="0"/>
            <a:chExt cx="24362790" cy="13716000"/>
          </a:xfrm>
        </p:grpSpPr>
        <p:sp>
          <p:nvSpPr>
            <p:cNvPr name="Freeform 3" id="3"/>
            <p:cNvSpPr/>
            <p:nvPr/>
          </p:nvSpPr>
          <p:spPr>
            <a:xfrm flipH="false" flipV="false" rot="0">
              <a:off x="0" y="0"/>
              <a:ext cx="24362790" cy="13716000"/>
            </a:xfrm>
            <a:custGeom>
              <a:avLst/>
              <a:gdLst/>
              <a:ahLst/>
              <a:cxnLst/>
              <a:rect r="r" b="b" t="t" l="l"/>
              <a:pathLst>
                <a:path h="13716000" w="24362790">
                  <a:moveTo>
                    <a:pt x="0" y="0"/>
                  </a:moveTo>
                  <a:lnTo>
                    <a:pt x="24362790" y="0"/>
                  </a:lnTo>
                  <a:lnTo>
                    <a:pt x="24362790" y="13716000"/>
                  </a:lnTo>
                  <a:lnTo>
                    <a:pt x="0" y="13716000"/>
                  </a:lnTo>
                  <a:lnTo>
                    <a:pt x="0" y="0"/>
                  </a:lnTo>
                  <a:close/>
                </a:path>
              </a:pathLst>
            </a:custGeom>
            <a:blipFill>
              <a:blip r:embed="rId3"/>
              <a:stretch>
                <a:fillRect l="0" t="0" r="0" b="0"/>
              </a:stretch>
            </a:blipFill>
          </p:spPr>
        </p:sp>
      </p:grpSp>
      <p:sp>
        <p:nvSpPr>
          <p:cNvPr name="Freeform 4" id="4"/>
          <p:cNvSpPr/>
          <p:nvPr/>
        </p:nvSpPr>
        <p:spPr>
          <a:xfrm flipH="false" flipV="false" rot="0">
            <a:off x="2925041" y="1343261"/>
            <a:ext cx="12122741" cy="1227428"/>
          </a:xfrm>
          <a:custGeom>
            <a:avLst/>
            <a:gdLst/>
            <a:ahLst/>
            <a:cxnLst/>
            <a:rect r="r" b="b" t="t" l="l"/>
            <a:pathLst>
              <a:path h="1227428" w="12122741">
                <a:moveTo>
                  <a:pt x="0" y="0"/>
                </a:moveTo>
                <a:lnTo>
                  <a:pt x="12122741" y="0"/>
                </a:lnTo>
                <a:lnTo>
                  <a:pt x="12122741" y="1227427"/>
                </a:lnTo>
                <a:lnTo>
                  <a:pt x="0" y="1227427"/>
                </a:lnTo>
                <a:lnTo>
                  <a:pt x="0" y="0"/>
                </a:lnTo>
                <a:close/>
              </a:path>
            </a:pathLst>
          </a:custGeom>
          <a:blipFill>
            <a:blip r:embed="rId4"/>
            <a:stretch>
              <a:fillRect l="0" t="0" r="0" b="0"/>
            </a:stretch>
          </a:blipFill>
        </p:spPr>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4498519" y="1507222"/>
            <a:ext cx="9290962"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TỔNG QUAN DỰ ÁN</a:t>
            </a:r>
          </a:p>
        </p:txBody>
      </p:sp>
      <p:sp>
        <p:nvSpPr>
          <p:cNvPr name="TextBox 18" id="18"/>
          <p:cNvSpPr txBox="true"/>
          <p:nvPr/>
        </p:nvSpPr>
        <p:spPr>
          <a:xfrm rot="0">
            <a:off x="1138533" y="3207827"/>
            <a:ext cx="10913334" cy="2133600"/>
          </a:xfrm>
          <a:prstGeom prst="rect">
            <a:avLst/>
          </a:prstGeom>
        </p:spPr>
        <p:txBody>
          <a:bodyPr anchor="t" rtlCol="false" tIns="0" lIns="0" bIns="0" rIns="0">
            <a:spAutoFit/>
          </a:bodyPr>
          <a:lstStyle/>
          <a:p>
            <a:pPr algn="ctr">
              <a:lnSpc>
                <a:spcPts val="3358"/>
              </a:lnSpc>
            </a:pPr>
            <a:r>
              <a:rPr lang="en-US" sz="2799">
                <a:solidFill>
                  <a:srgbClr val="000000"/>
                </a:solidFill>
                <a:latin typeface="Times New Roman"/>
                <a:ea typeface="Times New Roman"/>
                <a:cs typeface="Times New Roman"/>
                <a:sym typeface="Times New Roman"/>
              </a:rPr>
              <a:t>Đề tài “Ứng dụng phân loại sâu hại trên cây sầu riêng bằng ảnh” hướng tới việc xây dựng một ứng dụng di động giúp người trồng sầu riêng chụp ảnh lá, cành hoặc quả để hệ thống tự động nhận diện loài sâu và gợi ý biện pháp IPM phù hợp, có thể hoạt động cơ bản khi ngoại tuyến và lưu lại nhật ký xử lý để theo dõi.</a:t>
            </a:r>
          </a:p>
        </p:txBody>
      </p:sp>
      <p:sp>
        <p:nvSpPr>
          <p:cNvPr name="TextBox 19" id="19"/>
          <p:cNvSpPr txBox="true"/>
          <p:nvPr/>
        </p:nvSpPr>
        <p:spPr>
          <a:xfrm rot="0">
            <a:off x="1243625" y="5997225"/>
            <a:ext cx="10913334" cy="1295400"/>
          </a:xfrm>
          <a:prstGeom prst="rect">
            <a:avLst/>
          </a:prstGeom>
        </p:spPr>
        <p:txBody>
          <a:bodyPr anchor="t" rtlCol="false" tIns="0" lIns="0" bIns="0" rIns="0">
            <a:spAutoFit/>
          </a:bodyPr>
          <a:lstStyle/>
          <a:p>
            <a:pPr algn="ctr">
              <a:lnSpc>
                <a:spcPts val="3358"/>
              </a:lnSpc>
            </a:pPr>
            <a:r>
              <a:rPr lang="en-US" sz="2799">
                <a:solidFill>
                  <a:srgbClr val="000000"/>
                </a:solidFill>
                <a:latin typeface="Times New Roman"/>
                <a:ea typeface="Times New Roman"/>
                <a:cs typeface="Times New Roman"/>
                <a:sym typeface="Times New Roman"/>
              </a:rPr>
              <a:t>Chẩn đoán thủ công dễ sai, thiếu công cụ di động chuẩn hóa quy trình; giải pháp giúp nông hộ xử lý nhanh, giảm chi phí và lạm dụng thuốc, đồng thời khả thi kỹ thuật</a:t>
            </a:r>
          </a:p>
        </p:txBody>
      </p:sp>
      <p:sp>
        <p:nvSpPr>
          <p:cNvPr name="Freeform 20" id="20"/>
          <p:cNvSpPr/>
          <p:nvPr/>
        </p:nvSpPr>
        <p:spPr>
          <a:xfrm flipH="false" flipV="false" rot="0">
            <a:off x="1432524" y="8041596"/>
            <a:ext cx="1365256" cy="626458"/>
          </a:xfrm>
          <a:custGeom>
            <a:avLst/>
            <a:gdLst/>
            <a:ahLst/>
            <a:cxnLst/>
            <a:rect r="r" b="b" t="t" l="l"/>
            <a:pathLst>
              <a:path h="626458" w="1365256">
                <a:moveTo>
                  <a:pt x="0" y="0"/>
                </a:moveTo>
                <a:lnTo>
                  <a:pt x="1365256" y="0"/>
                </a:lnTo>
                <a:lnTo>
                  <a:pt x="1365256" y="626458"/>
                </a:lnTo>
                <a:lnTo>
                  <a:pt x="0" y="626458"/>
                </a:lnTo>
                <a:lnTo>
                  <a:pt x="0" y="0"/>
                </a:lnTo>
                <a:close/>
              </a:path>
            </a:pathLst>
          </a:custGeom>
          <a:blipFill>
            <a:blip r:embed="rId6">
              <a:extLst>
                <a:ext uri="{96DAC541-7B7A-43D3-8B79-37D633B846F1}">
                  <asvg:svgBlip xmlns:asvg="http://schemas.microsoft.com/office/drawing/2016/SVG/main" r:embed="rId7"/>
                </a:ext>
              </a:extLst>
            </a:blip>
            <a:stretch>
              <a:fillRect l="-57" t="0" r="-57" b="0"/>
            </a:stretch>
          </a:blipFill>
        </p:spPr>
      </p:sp>
      <p:sp>
        <p:nvSpPr>
          <p:cNvPr name="Freeform 21" id="21"/>
          <p:cNvSpPr/>
          <p:nvPr/>
        </p:nvSpPr>
        <p:spPr>
          <a:xfrm flipH="false" flipV="false" rot="0">
            <a:off x="15943336" y="209806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8">
              <a:extLst>
                <a:ext uri="{96DAC541-7B7A-43D3-8B79-37D633B846F1}">
                  <asvg:svgBlip xmlns:asvg="http://schemas.microsoft.com/office/drawing/2016/SVG/main" r:embed="rId9"/>
                </a:ext>
              </a:extLst>
            </a:blip>
            <a:stretch>
              <a:fillRect l="0" t="-5326" r="0" b="-5326"/>
            </a:stretch>
          </a:blipFill>
        </p:spPr>
      </p:sp>
      <p:grpSp>
        <p:nvGrpSpPr>
          <p:cNvPr name="Group 22" id="22"/>
          <p:cNvGrpSpPr/>
          <p:nvPr/>
        </p:nvGrpSpPr>
        <p:grpSpPr>
          <a:xfrm rot="0">
            <a:off x="693458" y="625358"/>
            <a:ext cx="3474625" cy="1919954"/>
            <a:chOff x="0" y="0"/>
            <a:chExt cx="4632833" cy="2559939"/>
          </a:xfrm>
        </p:grpSpPr>
        <p:sp>
          <p:nvSpPr>
            <p:cNvPr name="Freeform 23" id="23"/>
            <p:cNvSpPr/>
            <p:nvPr/>
          </p:nvSpPr>
          <p:spPr>
            <a:xfrm flipH="false" flipV="false" rot="0">
              <a:off x="0" y="0"/>
              <a:ext cx="4632833" cy="2559939"/>
            </a:xfrm>
            <a:custGeom>
              <a:avLst/>
              <a:gdLst/>
              <a:ahLst/>
              <a:cxnLst/>
              <a:rect r="r" b="b" t="t" l="l"/>
              <a:pathLst>
                <a:path h="2559939" w="4632833">
                  <a:moveTo>
                    <a:pt x="0" y="0"/>
                  </a:moveTo>
                  <a:lnTo>
                    <a:pt x="4632833" y="0"/>
                  </a:lnTo>
                  <a:lnTo>
                    <a:pt x="4632833" y="2559939"/>
                  </a:lnTo>
                  <a:lnTo>
                    <a:pt x="0" y="2559939"/>
                  </a:lnTo>
                </a:path>
              </a:pathLst>
            </a:custGeom>
            <a:solidFill>
              <a:srgbClr val="000000"/>
            </a:solidFill>
            <a:ln w="12700">
              <a:solidFill>
                <a:srgbClr val="000000"/>
              </a:solidFill>
            </a:ln>
          </p:spPr>
        </p:sp>
      </p:grpSp>
      <p:sp>
        <p:nvSpPr>
          <p:cNvPr name="Freeform 24" id="24"/>
          <p:cNvSpPr/>
          <p:nvPr/>
        </p:nvSpPr>
        <p:spPr>
          <a:xfrm flipH="false" flipV="false" rot="0">
            <a:off x="513108" y="414083"/>
            <a:ext cx="3503200" cy="1977104"/>
          </a:xfrm>
          <a:custGeom>
            <a:avLst/>
            <a:gdLst/>
            <a:ahLst/>
            <a:cxnLst/>
            <a:rect r="r" b="b" t="t" l="l"/>
            <a:pathLst>
              <a:path h="1977104" w="3503200">
                <a:moveTo>
                  <a:pt x="0" y="0"/>
                </a:moveTo>
                <a:lnTo>
                  <a:pt x="3503200" y="0"/>
                </a:lnTo>
                <a:lnTo>
                  <a:pt x="3503200" y="1977104"/>
                </a:lnTo>
                <a:lnTo>
                  <a:pt x="0" y="19771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5" id="25"/>
          <p:cNvGrpSpPr/>
          <p:nvPr/>
        </p:nvGrpSpPr>
        <p:grpSpPr>
          <a:xfrm rot="56023">
            <a:off x="485025" y="789008"/>
            <a:ext cx="3526066" cy="19050"/>
            <a:chOff x="0" y="0"/>
            <a:chExt cx="4701421" cy="25400"/>
          </a:xfrm>
        </p:grpSpPr>
        <p:sp>
          <p:nvSpPr>
            <p:cNvPr name="Freeform 26" id="26"/>
            <p:cNvSpPr/>
            <p:nvPr/>
          </p:nvSpPr>
          <p:spPr>
            <a:xfrm flipH="false" flipV="false" rot="0">
              <a:off x="0" y="0"/>
              <a:ext cx="4701413" cy="25400"/>
            </a:xfrm>
            <a:custGeom>
              <a:avLst/>
              <a:gdLst/>
              <a:ahLst/>
              <a:cxnLst/>
              <a:rect r="r" b="b" t="t" l="l"/>
              <a:pathLst>
                <a:path h="25400" w="4701413">
                  <a:moveTo>
                    <a:pt x="12700" y="0"/>
                  </a:moveTo>
                  <a:lnTo>
                    <a:pt x="4688713" y="0"/>
                  </a:lnTo>
                  <a:cubicBezTo>
                    <a:pt x="4695698" y="0"/>
                    <a:pt x="4701413" y="5715"/>
                    <a:pt x="4701413" y="12700"/>
                  </a:cubicBezTo>
                  <a:cubicBezTo>
                    <a:pt x="4701413" y="19685"/>
                    <a:pt x="4695698" y="25400"/>
                    <a:pt x="4688713"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27" id="27"/>
          <p:cNvSpPr/>
          <p:nvPr/>
        </p:nvSpPr>
        <p:spPr>
          <a:xfrm flipH="false" flipV="false" rot="0">
            <a:off x="836389" y="1130001"/>
            <a:ext cx="2735762" cy="943958"/>
          </a:xfrm>
          <a:custGeom>
            <a:avLst/>
            <a:gdLst/>
            <a:ahLst/>
            <a:cxnLst/>
            <a:rect r="r" b="b" t="t" l="l"/>
            <a:pathLst>
              <a:path h="943958" w="2735762">
                <a:moveTo>
                  <a:pt x="0" y="0"/>
                </a:moveTo>
                <a:lnTo>
                  <a:pt x="2735762" y="0"/>
                </a:lnTo>
                <a:lnTo>
                  <a:pt x="2735762" y="943958"/>
                </a:lnTo>
                <a:lnTo>
                  <a:pt x="0" y="943958"/>
                </a:lnTo>
                <a:lnTo>
                  <a:pt x="0" y="0"/>
                </a:lnTo>
                <a:close/>
              </a:path>
            </a:pathLst>
          </a:custGeom>
          <a:blipFill>
            <a:blip r:embed="rId12">
              <a:extLst>
                <a:ext uri="{96DAC541-7B7A-43D3-8B79-37D633B846F1}">
                  <asvg:svgBlip xmlns:asvg="http://schemas.microsoft.com/office/drawing/2016/SVG/main" r:embed="rId13"/>
                </a:ext>
              </a:extLst>
            </a:blip>
            <a:stretch>
              <a:fillRect l="0" t="-315" r="0" b="-315"/>
            </a:stretch>
          </a:blipFill>
        </p:spPr>
      </p:sp>
      <p:grpSp>
        <p:nvGrpSpPr>
          <p:cNvPr name="Group 28" id="28"/>
          <p:cNvGrpSpPr/>
          <p:nvPr/>
        </p:nvGrpSpPr>
        <p:grpSpPr>
          <a:xfrm rot="0">
            <a:off x="13381830" y="2313514"/>
            <a:ext cx="3542919" cy="6869335"/>
            <a:chOff x="0" y="0"/>
            <a:chExt cx="4723892" cy="9159113"/>
          </a:xfrm>
        </p:grpSpPr>
        <p:sp>
          <p:nvSpPr>
            <p:cNvPr name="Freeform 29" id="29" descr="A screenshot of a phone  AI-generated content may be incorrect."/>
            <p:cNvSpPr/>
            <p:nvPr/>
          </p:nvSpPr>
          <p:spPr>
            <a:xfrm flipH="false" flipV="false" rot="0">
              <a:off x="0" y="0"/>
              <a:ext cx="4723892" cy="9159113"/>
            </a:xfrm>
            <a:custGeom>
              <a:avLst/>
              <a:gdLst/>
              <a:ahLst/>
              <a:cxnLst/>
              <a:rect r="r" b="b" t="t" l="l"/>
              <a:pathLst>
                <a:path h="9159113" w="4723892">
                  <a:moveTo>
                    <a:pt x="0" y="0"/>
                  </a:moveTo>
                  <a:lnTo>
                    <a:pt x="4723892" y="0"/>
                  </a:lnTo>
                  <a:lnTo>
                    <a:pt x="4723892" y="9159113"/>
                  </a:lnTo>
                  <a:lnTo>
                    <a:pt x="0" y="9159113"/>
                  </a:lnTo>
                  <a:lnTo>
                    <a:pt x="0" y="0"/>
                  </a:lnTo>
                  <a:close/>
                </a:path>
              </a:pathLst>
            </a:custGeom>
            <a:blipFill>
              <a:blip r:embed="rId14"/>
              <a:stretch>
                <a:fillRect l="0" t="0" r="0" b="0"/>
              </a:stretch>
            </a:blipFill>
          </p:spPr>
        </p:sp>
      </p:gr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2925600" y="1668900"/>
            <a:ext cx="12801600" cy="7315200"/>
            <a:chOff x="0" y="0"/>
            <a:chExt cx="17068800" cy="9753600"/>
          </a:xfrm>
        </p:grpSpPr>
        <p:sp>
          <p:nvSpPr>
            <p:cNvPr name="Freeform 5" id="5"/>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6" id="6"/>
          <p:cNvSpPr/>
          <p:nvPr/>
        </p:nvSpPr>
        <p:spPr>
          <a:xfrm flipH="false" flipV="false" rot="0">
            <a:off x="2742600" y="1457325"/>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5277">
            <a:off x="2704437" y="2198250"/>
            <a:ext cx="12879127" cy="19050"/>
            <a:chOff x="0" y="0"/>
            <a:chExt cx="17172169" cy="25400"/>
          </a:xfrm>
        </p:grpSpPr>
        <p:sp>
          <p:nvSpPr>
            <p:cNvPr name="Freeform 8" id="8"/>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4870663" y="1832526"/>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4870663" y="1832526"/>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4327325" y="1640001"/>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12367">
            <a:off x="13615582" y="2015526"/>
            <a:ext cx="496632" cy="19050"/>
            <a:chOff x="0" y="0"/>
            <a:chExt cx="662176" cy="25400"/>
          </a:xfrm>
        </p:grpSpPr>
        <p:sp>
          <p:nvSpPr>
            <p:cNvPr name="Freeform 16" id="16"/>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0045450" y="2852300"/>
            <a:ext cx="7315180" cy="696694"/>
          </a:xfrm>
          <a:custGeom>
            <a:avLst/>
            <a:gdLst/>
            <a:ahLst/>
            <a:cxnLst/>
            <a:rect r="r" b="b" t="t" l="l"/>
            <a:pathLst>
              <a:path h="696694" w="7315180">
                <a:moveTo>
                  <a:pt x="0" y="0"/>
                </a:moveTo>
                <a:lnTo>
                  <a:pt x="7315180" y="0"/>
                </a:lnTo>
                <a:lnTo>
                  <a:pt x="7315180" y="696694"/>
                </a:lnTo>
                <a:lnTo>
                  <a:pt x="0" y="696694"/>
                </a:lnTo>
                <a:lnTo>
                  <a:pt x="0" y="0"/>
                </a:lnTo>
                <a:close/>
              </a:path>
            </a:pathLst>
          </a:custGeom>
          <a:blipFill>
            <a:blip r:embed="rId6">
              <a:extLst>
                <a:ext uri="{96DAC541-7B7A-43D3-8B79-37D633B846F1}">
                  <asvg:svgBlip xmlns:asvg="http://schemas.microsoft.com/office/drawing/2016/SVG/main" r:embed="rId7"/>
                </a:ext>
              </a:extLst>
            </a:blip>
            <a:stretch>
              <a:fillRect l="0" t="-585" r="0" b="-585"/>
            </a:stretch>
          </a:blipFill>
        </p:spPr>
      </p:sp>
      <p:sp>
        <p:nvSpPr>
          <p:cNvPr name="Freeform 18" id="18"/>
          <p:cNvSpPr/>
          <p:nvPr/>
        </p:nvSpPr>
        <p:spPr>
          <a:xfrm flipH="false" flipV="false" rot="0">
            <a:off x="14630399" y="3936501"/>
            <a:ext cx="2743192" cy="1206990"/>
          </a:xfrm>
          <a:custGeom>
            <a:avLst/>
            <a:gdLst/>
            <a:ahLst/>
            <a:cxnLst/>
            <a:rect r="r" b="b" t="t" l="l"/>
            <a:pathLst>
              <a:path h="1206990" w="2743192">
                <a:moveTo>
                  <a:pt x="0" y="0"/>
                </a:moveTo>
                <a:lnTo>
                  <a:pt x="2743192" y="0"/>
                </a:lnTo>
                <a:lnTo>
                  <a:pt x="2743192" y="1206990"/>
                </a:lnTo>
                <a:lnTo>
                  <a:pt x="0" y="1206990"/>
                </a:lnTo>
                <a:lnTo>
                  <a:pt x="0" y="0"/>
                </a:lnTo>
                <a:close/>
              </a:path>
            </a:pathLst>
          </a:custGeom>
          <a:blipFill>
            <a:blip r:embed="rId8">
              <a:extLst>
                <a:ext uri="{96DAC541-7B7A-43D3-8B79-37D633B846F1}">
                  <asvg:svgBlip xmlns:asvg="http://schemas.microsoft.com/office/drawing/2016/SVG/main" r:embed="rId9"/>
                </a:ext>
              </a:extLst>
            </a:blip>
            <a:stretch>
              <a:fillRect l="0" t="-111" r="0" b="-111"/>
            </a:stretch>
          </a:blipFill>
        </p:spPr>
      </p:sp>
      <p:grpSp>
        <p:nvGrpSpPr>
          <p:cNvPr name="Group 19" id="19"/>
          <p:cNvGrpSpPr/>
          <p:nvPr/>
        </p:nvGrpSpPr>
        <p:grpSpPr>
          <a:xfrm rot="0">
            <a:off x="1613200" y="728548"/>
            <a:ext cx="3657600" cy="3657600"/>
            <a:chOff x="0" y="0"/>
            <a:chExt cx="4876800" cy="4876800"/>
          </a:xfrm>
        </p:grpSpPr>
        <p:sp>
          <p:nvSpPr>
            <p:cNvPr name="Freeform 20" id="20"/>
            <p:cNvSpPr/>
            <p:nvPr/>
          </p:nvSpPr>
          <p:spPr>
            <a:xfrm flipH="false" flipV="false" rot="0">
              <a:off x="0" y="0"/>
              <a:ext cx="4876800" cy="4876800"/>
            </a:xfrm>
            <a:custGeom>
              <a:avLst/>
              <a:gdLst/>
              <a:ahLst/>
              <a:cxnLst/>
              <a:rect r="r" b="b" t="t" l="l"/>
              <a:pathLst>
                <a:path h="4876800" w="4876800">
                  <a:moveTo>
                    <a:pt x="0" y="0"/>
                  </a:moveTo>
                  <a:lnTo>
                    <a:pt x="4876800" y="0"/>
                  </a:lnTo>
                  <a:lnTo>
                    <a:pt x="4876800" y="4876800"/>
                  </a:lnTo>
                  <a:lnTo>
                    <a:pt x="0" y="4876800"/>
                  </a:lnTo>
                </a:path>
              </a:pathLst>
            </a:custGeom>
            <a:solidFill>
              <a:srgbClr val="000000"/>
            </a:solidFill>
            <a:ln w="12700">
              <a:solidFill>
                <a:srgbClr val="000000"/>
              </a:solidFill>
            </a:ln>
          </p:spPr>
        </p:sp>
      </p:grpSp>
      <p:sp>
        <p:nvSpPr>
          <p:cNvPr name="Freeform 21" id="21"/>
          <p:cNvSpPr/>
          <p:nvPr/>
        </p:nvSpPr>
        <p:spPr>
          <a:xfrm flipH="false" flipV="false" rot="0">
            <a:off x="1430200" y="519823"/>
            <a:ext cx="3686175" cy="3714750"/>
          </a:xfrm>
          <a:custGeom>
            <a:avLst/>
            <a:gdLst/>
            <a:ahLst/>
            <a:cxnLst/>
            <a:rect r="r" b="b" t="t" l="l"/>
            <a:pathLst>
              <a:path h="3714750" w="3686175">
                <a:moveTo>
                  <a:pt x="0" y="0"/>
                </a:moveTo>
                <a:lnTo>
                  <a:pt x="3686175" y="0"/>
                </a:lnTo>
                <a:lnTo>
                  <a:pt x="3686175" y="3714750"/>
                </a:lnTo>
                <a:lnTo>
                  <a:pt x="0" y="37147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2" id="22"/>
          <p:cNvGrpSpPr/>
          <p:nvPr/>
        </p:nvGrpSpPr>
        <p:grpSpPr>
          <a:xfrm rot="53047">
            <a:off x="1397584" y="1256550"/>
            <a:ext cx="3722841" cy="19050"/>
            <a:chOff x="0" y="0"/>
            <a:chExt cx="4963788" cy="25400"/>
          </a:xfrm>
        </p:grpSpPr>
        <p:sp>
          <p:nvSpPr>
            <p:cNvPr name="Freeform 23" id="23"/>
            <p:cNvSpPr/>
            <p:nvPr/>
          </p:nvSpPr>
          <p:spPr>
            <a:xfrm flipH="false" flipV="false" rot="0">
              <a:off x="0" y="0"/>
              <a:ext cx="4963795" cy="25400"/>
            </a:xfrm>
            <a:custGeom>
              <a:avLst/>
              <a:gdLst/>
              <a:ahLst/>
              <a:cxnLst/>
              <a:rect r="r" b="b" t="t" l="l"/>
              <a:pathLst>
                <a:path h="25400" w="4963795">
                  <a:moveTo>
                    <a:pt x="12700" y="0"/>
                  </a:moveTo>
                  <a:lnTo>
                    <a:pt x="4951095" y="0"/>
                  </a:lnTo>
                  <a:cubicBezTo>
                    <a:pt x="4958080" y="0"/>
                    <a:pt x="4963795" y="5715"/>
                    <a:pt x="4963795" y="12700"/>
                  </a:cubicBezTo>
                  <a:cubicBezTo>
                    <a:pt x="4963795" y="19685"/>
                    <a:pt x="4958080" y="25400"/>
                    <a:pt x="495109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4" id="24"/>
          <p:cNvGrpSpPr/>
          <p:nvPr/>
        </p:nvGrpSpPr>
        <p:grpSpPr>
          <a:xfrm rot="2699999">
            <a:off x="4410163" y="891876"/>
            <a:ext cx="617474" cy="19050"/>
            <a:chOff x="0" y="0"/>
            <a:chExt cx="823299" cy="25400"/>
          </a:xfrm>
        </p:grpSpPr>
        <p:sp>
          <p:nvSpPr>
            <p:cNvPr name="Freeform 25" id="25"/>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6" id="26"/>
          <p:cNvGrpSpPr/>
          <p:nvPr/>
        </p:nvGrpSpPr>
        <p:grpSpPr>
          <a:xfrm rot="2700000">
            <a:off x="4410163" y="891876"/>
            <a:ext cx="617474" cy="19050"/>
            <a:chOff x="0" y="0"/>
            <a:chExt cx="823299" cy="25400"/>
          </a:xfrm>
        </p:grpSpPr>
        <p:sp>
          <p:nvSpPr>
            <p:cNvPr name="Freeform 27" id="27"/>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8" id="28"/>
          <p:cNvGrpSpPr/>
          <p:nvPr/>
        </p:nvGrpSpPr>
        <p:grpSpPr>
          <a:xfrm rot="0">
            <a:off x="3874325" y="706551"/>
            <a:ext cx="415957" cy="415957"/>
            <a:chOff x="0" y="0"/>
            <a:chExt cx="554609" cy="554609"/>
          </a:xfrm>
        </p:grpSpPr>
        <p:sp>
          <p:nvSpPr>
            <p:cNvPr name="Freeform 29" id="29"/>
            <p:cNvSpPr/>
            <p:nvPr/>
          </p:nvSpPr>
          <p:spPr>
            <a:xfrm flipH="false" flipV="false" rot="0">
              <a:off x="0" y="0"/>
              <a:ext cx="554609" cy="554609"/>
            </a:xfrm>
            <a:custGeom>
              <a:avLst/>
              <a:gdLst/>
              <a:ahLst/>
              <a:cxnLst/>
              <a:rect r="r" b="b" t="t" l="l"/>
              <a:pathLst>
                <a:path h="554609" w="554609">
                  <a:moveTo>
                    <a:pt x="38100" y="0"/>
                  </a:moveTo>
                  <a:lnTo>
                    <a:pt x="516509" y="0"/>
                  </a:lnTo>
                  <a:cubicBezTo>
                    <a:pt x="537591" y="0"/>
                    <a:pt x="554609" y="17018"/>
                    <a:pt x="554609" y="38100"/>
                  </a:cubicBezTo>
                  <a:lnTo>
                    <a:pt x="554609" y="516509"/>
                  </a:lnTo>
                  <a:cubicBezTo>
                    <a:pt x="554609" y="537591"/>
                    <a:pt x="537591" y="554609"/>
                    <a:pt x="516509" y="554609"/>
                  </a:cubicBezTo>
                  <a:lnTo>
                    <a:pt x="38100" y="554609"/>
                  </a:lnTo>
                  <a:cubicBezTo>
                    <a:pt x="17018" y="554609"/>
                    <a:pt x="0" y="537591"/>
                    <a:pt x="0" y="516509"/>
                  </a:cubicBezTo>
                  <a:lnTo>
                    <a:pt x="0" y="38100"/>
                  </a:lnTo>
                  <a:cubicBezTo>
                    <a:pt x="0" y="17018"/>
                    <a:pt x="17018" y="0"/>
                    <a:pt x="38100" y="0"/>
                  </a:cubicBezTo>
                  <a:moveTo>
                    <a:pt x="38100" y="76200"/>
                  </a:moveTo>
                  <a:lnTo>
                    <a:pt x="38100" y="38100"/>
                  </a:lnTo>
                  <a:lnTo>
                    <a:pt x="76200" y="38100"/>
                  </a:lnTo>
                  <a:lnTo>
                    <a:pt x="76200" y="516509"/>
                  </a:lnTo>
                  <a:lnTo>
                    <a:pt x="38100" y="516509"/>
                  </a:lnTo>
                  <a:lnTo>
                    <a:pt x="38100" y="478409"/>
                  </a:lnTo>
                  <a:lnTo>
                    <a:pt x="516509" y="478409"/>
                  </a:lnTo>
                  <a:lnTo>
                    <a:pt x="516509" y="516509"/>
                  </a:lnTo>
                  <a:lnTo>
                    <a:pt x="478409" y="516509"/>
                  </a:lnTo>
                  <a:lnTo>
                    <a:pt x="478409" y="38100"/>
                  </a:lnTo>
                  <a:lnTo>
                    <a:pt x="516509" y="38100"/>
                  </a:lnTo>
                  <a:lnTo>
                    <a:pt x="516509" y="76200"/>
                  </a:lnTo>
                  <a:lnTo>
                    <a:pt x="38100" y="76200"/>
                  </a:lnTo>
                  <a:close/>
                </a:path>
              </a:pathLst>
            </a:custGeom>
            <a:solidFill>
              <a:srgbClr val="000000"/>
            </a:solidFill>
            <a:ln w="12700">
              <a:solidFill>
                <a:srgbClr val="000000"/>
              </a:solidFill>
            </a:ln>
          </p:spPr>
        </p:sp>
      </p:grpSp>
      <p:grpSp>
        <p:nvGrpSpPr>
          <p:cNvPr name="Group 30" id="30"/>
          <p:cNvGrpSpPr/>
          <p:nvPr/>
        </p:nvGrpSpPr>
        <p:grpSpPr>
          <a:xfrm rot="412367">
            <a:off x="3171882" y="1074876"/>
            <a:ext cx="496632" cy="19050"/>
            <a:chOff x="0" y="0"/>
            <a:chExt cx="662176" cy="25400"/>
          </a:xfrm>
        </p:grpSpPr>
        <p:sp>
          <p:nvSpPr>
            <p:cNvPr name="Freeform 31" id="31"/>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2" id="32"/>
          <p:cNvGrpSpPr/>
          <p:nvPr/>
        </p:nvGrpSpPr>
        <p:grpSpPr>
          <a:xfrm rot="0">
            <a:off x="1712100" y="1362056"/>
            <a:ext cx="3006800" cy="2750344"/>
            <a:chOff x="0" y="0"/>
            <a:chExt cx="4009067" cy="3667125"/>
          </a:xfrm>
        </p:grpSpPr>
        <p:sp>
          <p:nvSpPr>
            <p:cNvPr name="Freeform 33" id="33"/>
            <p:cNvSpPr/>
            <p:nvPr/>
          </p:nvSpPr>
          <p:spPr>
            <a:xfrm flipH="false" flipV="false" rot="0">
              <a:off x="0" y="0"/>
              <a:ext cx="4009067" cy="3667125"/>
            </a:xfrm>
            <a:custGeom>
              <a:avLst/>
              <a:gdLst/>
              <a:ahLst/>
              <a:cxnLst/>
              <a:rect r="r" b="b" t="t" l="l"/>
              <a:pathLst>
                <a:path h="3667125" w="4009067">
                  <a:moveTo>
                    <a:pt x="0" y="0"/>
                  </a:moveTo>
                  <a:lnTo>
                    <a:pt x="4009067" y="0"/>
                  </a:lnTo>
                  <a:lnTo>
                    <a:pt x="4009067" y="3667125"/>
                  </a:lnTo>
                  <a:lnTo>
                    <a:pt x="0" y="3667125"/>
                  </a:lnTo>
                  <a:close/>
                </a:path>
              </a:pathLst>
            </a:custGeom>
            <a:solidFill>
              <a:srgbClr val="000000">
                <a:alpha val="0"/>
              </a:srgbClr>
            </a:solidFill>
          </p:spPr>
        </p:sp>
        <p:sp>
          <p:nvSpPr>
            <p:cNvPr name="TextBox 34" id="34"/>
            <p:cNvSpPr txBox="true"/>
            <p:nvPr/>
          </p:nvSpPr>
          <p:spPr>
            <a:xfrm>
              <a:off x="0" y="-9525"/>
              <a:ext cx="4009067" cy="3676650"/>
            </a:xfrm>
            <a:prstGeom prst="rect">
              <a:avLst/>
            </a:prstGeom>
          </p:spPr>
          <p:txBody>
            <a:bodyPr anchor="ctr" rtlCol="false" tIns="0" lIns="0" bIns="0" rIns="0"/>
            <a:lstStyle/>
            <a:p>
              <a:pPr algn="ctr">
                <a:lnSpc>
                  <a:spcPts val="16800"/>
                </a:lnSpc>
              </a:pPr>
              <a:r>
                <a:rPr lang="en-US" sz="14000" b="true">
                  <a:solidFill>
                    <a:srgbClr val="000000"/>
                  </a:solidFill>
                  <a:latin typeface="Rubik Bold"/>
                  <a:ea typeface="Rubik Bold"/>
                  <a:cs typeface="Rubik Bold"/>
                  <a:sym typeface="Rubik Bold"/>
                </a:rPr>
                <a:t>02</a:t>
              </a:r>
            </a:p>
          </p:txBody>
        </p:sp>
      </p:grpSp>
      <p:sp>
        <p:nvSpPr>
          <p:cNvPr name="TextBox 35" id="35"/>
          <p:cNvSpPr txBox="true"/>
          <p:nvPr/>
        </p:nvSpPr>
        <p:spPr>
          <a:xfrm rot="0">
            <a:off x="3720123" y="5027223"/>
            <a:ext cx="10789950" cy="1590675"/>
          </a:xfrm>
          <a:prstGeom prst="rect">
            <a:avLst/>
          </a:prstGeom>
        </p:spPr>
        <p:txBody>
          <a:bodyPr anchor="t" rtlCol="false" tIns="0" lIns="0" bIns="0" rIns="0">
            <a:spAutoFit/>
          </a:bodyPr>
          <a:lstStyle/>
          <a:p>
            <a:pPr algn="ctr">
              <a:lnSpc>
                <a:spcPts val="11999"/>
              </a:lnSpc>
            </a:pPr>
            <a:r>
              <a:rPr lang="en-US" sz="9999" b="true">
                <a:solidFill>
                  <a:srgbClr val="000000"/>
                </a:solidFill>
                <a:latin typeface="Times New Roman Bold"/>
                <a:ea typeface="Times New Roman Bold"/>
                <a:cs typeface="Times New Roman Bold"/>
                <a:sym typeface="Times New Roman Bold"/>
              </a:rPr>
              <a:t>BẢN TÔN CHỈ</a:t>
            </a:r>
          </a:p>
        </p:txBody>
      </p:sp>
      <p:sp>
        <p:nvSpPr>
          <p:cNvPr name="Freeform 36" id="36"/>
          <p:cNvSpPr/>
          <p:nvPr/>
        </p:nvSpPr>
        <p:spPr>
          <a:xfrm flipH="false" flipV="false" rot="0">
            <a:off x="903553" y="8187457"/>
            <a:ext cx="1053295" cy="1053295"/>
          </a:xfrm>
          <a:custGeom>
            <a:avLst/>
            <a:gdLst/>
            <a:ahLst/>
            <a:cxnLst/>
            <a:rect r="r" b="b" t="t" l="l"/>
            <a:pathLst>
              <a:path h="1053295" w="1053295">
                <a:moveTo>
                  <a:pt x="0" y="0"/>
                </a:moveTo>
                <a:lnTo>
                  <a:pt x="1053295" y="0"/>
                </a:lnTo>
                <a:lnTo>
                  <a:pt x="1053295" y="1053295"/>
                </a:lnTo>
                <a:lnTo>
                  <a:pt x="0" y="1053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false" flipV="false" rot="0">
            <a:off x="7656916" y="3442934"/>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4">
              <a:extLst>
                <a:ext uri="{96DAC541-7B7A-43D3-8B79-37D633B846F1}">
                  <asvg:svgBlip xmlns:asvg="http://schemas.microsoft.com/office/drawing/2016/SVG/main" r:embed="rId15"/>
                </a:ext>
              </a:extLst>
            </a:blip>
            <a:stretch>
              <a:fillRect l="0" t="-1547" r="0" b="-1547"/>
            </a:stretch>
          </a:blipFill>
        </p:spPr>
      </p:sp>
      <p:sp>
        <p:nvSpPr>
          <p:cNvPr name="Freeform 38" id="38"/>
          <p:cNvSpPr/>
          <p:nvPr/>
        </p:nvSpPr>
        <p:spPr>
          <a:xfrm flipH="false" flipV="false" rot="0">
            <a:off x="8585206" y="3141278"/>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9" id="39"/>
          <p:cNvSpPr/>
          <p:nvPr/>
        </p:nvSpPr>
        <p:spPr>
          <a:xfrm flipH="false" flipV="false" rot="0">
            <a:off x="6084978" y="283465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8">
              <a:extLst>
                <a:ext uri="{96DAC541-7B7A-43D3-8B79-37D633B846F1}">
                  <asvg:svgBlip xmlns:asvg="http://schemas.microsoft.com/office/drawing/2016/SVG/main" r:embed="rId19"/>
                </a:ext>
              </a:extLst>
            </a:blip>
            <a:stretch>
              <a:fillRect l="0" t="-5326" r="0" b="-5326"/>
            </a:stretch>
          </a:blipFill>
        </p:spPr>
      </p:sp>
      <p:sp>
        <p:nvSpPr>
          <p:cNvPr name="Freeform 40" id="40"/>
          <p:cNvSpPr/>
          <p:nvPr/>
        </p:nvSpPr>
        <p:spPr>
          <a:xfrm flipH="false" flipV="false" rot="0">
            <a:off x="898825" y="6811025"/>
            <a:ext cx="1062750" cy="1062750"/>
          </a:xfrm>
          <a:custGeom>
            <a:avLst/>
            <a:gdLst/>
            <a:ahLst/>
            <a:cxnLst/>
            <a:rect r="r" b="b" t="t" l="l"/>
            <a:pathLst>
              <a:path h="1062750" w="1062750">
                <a:moveTo>
                  <a:pt x="0" y="0"/>
                </a:moveTo>
                <a:lnTo>
                  <a:pt x="1062750" y="0"/>
                </a:lnTo>
                <a:lnTo>
                  <a:pt x="1062750" y="1062750"/>
                </a:lnTo>
                <a:lnTo>
                  <a:pt x="0" y="106275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7" id="17"/>
          <p:cNvGrpSpPr/>
          <p:nvPr/>
        </p:nvGrpSpPr>
        <p:grpSpPr>
          <a:xfrm rot="0">
            <a:off x="2013577" y="1493559"/>
            <a:ext cx="14263282" cy="1197109"/>
            <a:chOff x="0" y="0"/>
            <a:chExt cx="19017709" cy="1596145"/>
          </a:xfrm>
        </p:grpSpPr>
        <p:sp>
          <p:nvSpPr>
            <p:cNvPr name="Freeform 18" id="18"/>
            <p:cNvSpPr/>
            <p:nvPr/>
          </p:nvSpPr>
          <p:spPr>
            <a:xfrm flipH="false" flipV="false" rot="0">
              <a:off x="0" y="0"/>
              <a:ext cx="19017709" cy="1596145"/>
            </a:xfrm>
            <a:custGeom>
              <a:avLst/>
              <a:gdLst/>
              <a:ahLst/>
              <a:cxnLst/>
              <a:rect r="r" b="b" t="t" l="l"/>
              <a:pathLst>
                <a:path h="1596145" w="19017709">
                  <a:moveTo>
                    <a:pt x="0" y="0"/>
                  </a:moveTo>
                  <a:lnTo>
                    <a:pt x="19017709" y="0"/>
                  </a:lnTo>
                  <a:lnTo>
                    <a:pt x="19017709" y="1596145"/>
                  </a:lnTo>
                  <a:lnTo>
                    <a:pt x="0" y="1596145"/>
                  </a:lnTo>
                  <a:close/>
                </a:path>
              </a:pathLst>
            </a:custGeom>
            <a:solidFill>
              <a:srgbClr val="000000">
                <a:alpha val="0"/>
              </a:srgbClr>
            </a:solidFill>
          </p:spPr>
        </p:sp>
        <p:sp>
          <p:nvSpPr>
            <p:cNvPr name="TextBox 19" id="19"/>
            <p:cNvSpPr txBox="true"/>
            <p:nvPr/>
          </p:nvSpPr>
          <p:spPr>
            <a:xfrm>
              <a:off x="0" y="-28575"/>
              <a:ext cx="19017709" cy="1624720"/>
            </a:xfrm>
            <a:prstGeom prst="rect">
              <a:avLst/>
            </a:prstGeom>
          </p:spPr>
          <p:txBody>
            <a:bodyPr anchor="b" rtlCol="false" tIns="0" lIns="0" bIns="0" rIns="0"/>
            <a:lstStyle/>
            <a:p>
              <a:pPr algn="ctr">
                <a:lnSpc>
                  <a:spcPts val="7198"/>
                </a:lnSpc>
              </a:pPr>
              <a:r>
                <a:rPr lang="en-US" sz="6000" b="true">
                  <a:solidFill>
                    <a:srgbClr val="000000"/>
                  </a:solidFill>
                  <a:latin typeface="Times New Roman Bold"/>
                  <a:ea typeface="Times New Roman Bold"/>
                  <a:cs typeface="Times New Roman Bold"/>
                  <a:sym typeface="Times New Roman Bold"/>
                </a:rPr>
                <a:t>MỤC TIÊU DỰ ÁN</a:t>
              </a:r>
            </a:p>
          </p:txBody>
        </p:sp>
      </p:grpSp>
      <p:sp>
        <p:nvSpPr>
          <p:cNvPr name="Freeform 20" id="20"/>
          <p:cNvSpPr/>
          <p:nvPr/>
        </p:nvSpPr>
        <p:spPr>
          <a:xfrm flipH="false" flipV="false" rot="0">
            <a:off x="15943400" y="216325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6">
              <a:extLst>
                <a:ext uri="{96DAC541-7B7A-43D3-8B79-37D633B846F1}">
                  <asvg:svgBlip xmlns:asvg="http://schemas.microsoft.com/office/drawing/2016/SVG/main" r:embed="rId7"/>
                </a:ext>
              </a:extLst>
            </a:blip>
            <a:stretch>
              <a:fillRect l="0" t="-5326" r="0" b="-5326"/>
            </a:stretch>
          </a:blipFill>
        </p:spPr>
      </p:sp>
      <p:sp>
        <p:nvSpPr>
          <p:cNvPr name="Freeform 21" id="21"/>
          <p:cNvSpPr/>
          <p:nvPr/>
        </p:nvSpPr>
        <p:spPr>
          <a:xfrm flipH="false" flipV="false" rot="0">
            <a:off x="15478720" y="1865946"/>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2" id="22"/>
          <p:cNvSpPr/>
          <p:nvPr/>
        </p:nvSpPr>
        <p:spPr>
          <a:xfrm flipH="false" flipV="false" rot="0">
            <a:off x="1430320" y="250545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0">
              <a:extLst>
                <a:ext uri="{96DAC541-7B7A-43D3-8B79-37D633B846F1}">
                  <asvg:svgBlip xmlns:asvg="http://schemas.microsoft.com/office/drawing/2016/SVG/main" r:embed="rId11"/>
                </a:ext>
              </a:extLst>
            </a:blip>
            <a:stretch>
              <a:fillRect l="0" t="-1547" r="0" b="-1547"/>
            </a:stretch>
          </a:blipFill>
        </p:spPr>
      </p:sp>
      <p:grpSp>
        <p:nvGrpSpPr>
          <p:cNvPr name="Group 23" id="23"/>
          <p:cNvGrpSpPr/>
          <p:nvPr/>
        </p:nvGrpSpPr>
        <p:grpSpPr>
          <a:xfrm rot="0">
            <a:off x="2070521" y="3490943"/>
            <a:ext cx="15091505" cy="5560028"/>
            <a:chOff x="0" y="0"/>
            <a:chExt cx="20122006" cy="7413371"/>
          </a:xfrm>
        </p:grpSpPr>
        <p:sp>
          <p:nvSpPr>
            <p:cNvPr name="Freeform 24" id="24"/>
            <p:cNvSpPr/>
            <p:nvPr/>
          </p:nvSpPr>
          <p:spPr>
            <a:xfrm flipH="false" flipV="false" rot="0">
              <a:off x="0" y="0"/>
              <a:ext cx="20122007" cy="7413371"/>
            </a:xfrm>
            <a:custGeom>
              <a:avLst/>
              <a:gdLst/>
              <a:ahLst/>
              <a:cxnLst/>
              <a:rect r="r" b="b" t="t" l="l"/>
              <a:pathLst>
                <a:path h="7413371" w="20122007">
                  <a:moveTo>
                    <a:pt x="0" y="0"/>
                  </a:moveTo>
                  <a:lnTo>
                    <a:pt x="20122007" y="0"/>
                  </a:lnTo>
                  <a:lnTo>
                    <a:pt x="20122007" y="7413371"/>
                  </a:lnTo>
                  <a:lnTo>
                    <a:pt x="0" y="7413371"/>
                  </a:lnTo>
                </a:path>
              </a:pathLst>
            </a:custGeom>
            <a:solidFill>
              <a:srgbClr val="000000"/>
            </a:solidFill>
            <a:ln w="12700">
              <a:solidFill>
                <a:srgbClr val="000000"/>
              </a:solidFill>
            </a:ln>
          </p:spPr>
        </p:sp>
      </p:grpSp>
      <p:sp>
        <p:nvSpPr>
          <p:cNvPr name="Freeform 25" id="25"/>
          <p:cNvSpPr/>
          <p:nvPr/>
        </p:nvSpPr>
        <p:spPr>
          <a:xfrm flipH="false" flipV="false" rot="0">
            <a:off x="1717167" y="3205193"/>
            <a:ext cx="15120080" cy="5617177"/>
          </a:xfrm>
          <a:custGeom>
            <a:avLst/>
            <a:gdLst/>
            <a:ahLst/>
            <a:cxnLst/>
            <a:rect r="r" b="b" t="t" l="l"/>
            <a:pathLst>
              <a:path h="5617177" w="15120080">
                <a:moveTo>
                  <a:pt x="0" y="0"/>
                </a:moveTo>
                <a:lnTo>
                  <a:pt x="15120080" y="0"/>
                </a:lnTo>
                <a:lnTo>
                  <a:pt x="15120080" y="5617177"/>
                </a:lnTo>
                <a:lnTo>
                  <a:pt x="0" y="56171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6" id="26"/>
          <p:cNvSpPr txBox="true"/>
          <p:nvPr/>
        </p:nvSpPr>
        <p:spPr>
          <a:xfrm rot="0">
            <a:off x="3166437" y="4253562"/>
            <a:ext cx="11955126" cy="3339465"/>
          </a:xfrm>
          <a:prstGeom prst="rect">
            <a:avLst/>
          </a:prstGeom>
        </p:spPr>
        <p:txBody>
          <a:bodyPr anchor="t" rtlCol="false" tIns="0" lIns="0" bIns="0" rIns="0">
            <a:spAutoFit/>
          </a:bodyPr>
          <a:lstStyle/>
          <a:p>
            <a:pPr algn="l" marL="815219" indent="-271740" lvl="2">
              <a:lnSpc>
                <a:spcPts val="5038"/>
              </a:lnSpc>
              <a:buFont typeface="Arial"/>
              <a:buChar char="⚬"/>
            </a:pPr>
            <a:r>
              <a:rPr lang="en-US" sz="2799">
                <a:solidFill>
                  <a:srgbClr val="000000"/>
                </a:solidFill>
                <a:latin typeface="Times New Roman"/>
                <a:ea typeface="Times New Roman"/>
                <a:cs typeface="Times New Roman"/>
                <a:sym typeface="Times New Roman"/>
              </a:rPr>
              <a:t>Xây dựng ứng dụng Flutter tích hợp AI nhận diện các loài sâu hại phổ biến trên cây sầu riêng.</a:t>
            </a:r>
          </a:p>
          <a:p>
            <a:pPr algn="l" marL="815219" indent="-271740" lvl="2">
              <a:lnSpc>
                <a:spcPts val="5038"/>
              </a:lnSpc>
              <a:buFont typeface="Arial"/>
              <a:buChar char="⚬"/>
            </a:pPr>
            <a:r>
              <a:rPr lang="en-US" sz="2799">
                <a:solidFill>
                  <a:srgbClr val="000000"/>
                </a:solidFill>
                <a:latin typeface="Times New Roman"/>
                <a:ea typeface="Times New Roman"/>
                <a:cs typeface="Times New Roman"/>
                <a:sym typeface="Times New Roman"/>
              </a:rPr>
              <a:t>Mức độ chính xác của mô hình đạt trên 90%.</a:t>
            </a:r>
          </a:p>
          <a:p>
            <a:pPr algn="l" marL="815219" indent="-271740" lvl="2">
              <a:lnSpc>
                <a:spcPts val="5038"/>
              </a:lnSpc>
              <a:buFont typeface="Arial"/>
              <a:buChar char="⚬"/>
            </a:pPr>
            <a:r>
              <a:rPr lang="en-US" sz="2799">
                <a:solidFill>
                  <a:srgbClr val="000000"/>
                </a:solidFill>
                <a:latin typeface="Times New Roman"/>
                <a:ea typeface="Times New Roman"/>
                <a:cs typeface="Times New Roman"/>
                <a:sym typeface="Times New Roman"/>
              </a:rPr>
              <a:t>Ứng dụng có giao diện thân thiện, dễ sử dụng, phù hợp với người nông dân.</a:t>
            </a:r>
          </a:p>
          <a:p>
            <a:pPr algn="l" marL="815219" indent="-271740" lvl="2">
              <a:lnSpc>
                <a:spcPts val="5038"/>
              </a:lnSpc>
              <a:buFont typeface="Arial"/>
              <a:buChar char="⚬"/>
            </a:pPr>
            <a:r>
              <a:rPr lang="en-US" sz="2799">
                <a:solidFill>
                  <a:srgbClr val="000000"/>
                </a:solidFill>
                <a:latin typeface="Times New Roman"/>
                <a:ea typeface="Times New Roman"/>
                <a:cs typeface="Times New Roman"/>
                <a:sym typeface="Times New Roman"/>
              </a:rPr>
              <a:t>Tạo cơ sở dữ liệu hình ảnh phục vụ cho huấn luyện và nghiên cứu tiếp theo.</a:t>
            </a:r>
          </a:p>
        </p:txBody>
      </p:sp>
      <p:grpSp>
        <p:nvGrpSpPr>
          <p:cNvPr name="Group 27" id="27"/>
          <p:cNvGrpSpPr/>
          <p:nvPr/>
        </p:nvGrpSpPr>
        <p:grpSpPr>
          <a:xfrm rot="0">
            <a:off x="1878003" y="3655238"/>
            <a:ext cx="14899584" cy="28575"/>
            <a:chOff x="0" y="0"/>
            <a:chExt cx="19866112" cy="38100"/>
          </a:xfrm>
        </p:grpSpPr>
        <p:sp>
          <p:nvSpPr>
            <p:cNvPr name="Freeform 28" id="28"/>
            <p:cNvSpPr/>
            <p:nvPr/>
          </p:nvSpPr>
          <p:spPr>
            <a:xfrm flipH="false" flipV="false" rot="0">
              <a:off x="0" y="0"/>
              <a:ext cx="19866102" cy="38100"/>
            </a:xfrm>
            <a:custGeom>
              <a:avLst/>
              <a:gdLst/>
              <a:ahLst/>
              <a:cxnLst/>
              <a:rect r="r" b="b" t="t" l="l"/>
              <a:pathLst>
                <a:path h="38100" w="19866102">
                  <a:moveTo>
                    <a:pt x="12700" y="12700"/>
                  </a:moveTo>
                  <a:lnTo>
                    <a:pt x="19853402" y="0"/>
                  </a:lnTo>
                  <a:cubicBezTo>
                    <a:pt x="19860388" y="0"/>
                    <a:pt x="19866102" y="5715"/>
                    <a:pt x="19866102" y="12700"/>
                  </a:cubicBezTo>
                  <a:cubicBezTo>
                    <a:pt x="19866102" y="19685"/>
                    <a:pt x="19860388" y="25400"/>
                    <a:pt x="19853402" y="25400"/>
                  </a:cubicBezTo>
                  <a:lnTo>
                    <a:pt x="12700" y="38100"/>
                  </a:lnTo>
                  <a:cubicBezTo>
                    <a:pt x="5715" y="38100"/>
                    <a:pt x="0" y="32385"/>
                    <a:pt x="0" y="25400"/>
                  </a:cubicBezTo>
                  <a:cubicBezTo>
                    <a:pt x="0" y="18415"/>
                    <a:pt x="5715" y="12700"/>
                    <a:pt x="12700" y="12700"/>
                  </a:cubicBezTo>
                  <a:close/>
                </a:path>
              </a:pathLst>
            </a:custGeom>
            <a:solidFill>
              <a:srgbClr val="000000"/>
            </a:solidFill>
            <a:ln w="12700">
              <a:solidFill>
                <a:srgbClr val="000000"/>
              </a:solidFill>
            </a:ln>
          </p:spPr>
        </p:sp>
      </p:gr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7" id="17"/>
          <p:cNvGrpSpPr/>
          <p:nvPr/>
        </p:nvGrpSpPr>
        <p:grpSpPr>
          <a:xfrm rot="0">
            <a:off x="2227388" y="3417627"/>
            <a:ext cx="15091505" cy="5560028"/>
            <a:chOff x="0" y="0"/>
            <a:chExt cx="20122006" cy="7413371"/>
          </a:xfrm>
        </p:grpSpPr>
        <p:sp>
          <p:nvSpPr>
            <p:cNvPr name="Freeform 18" id="18"/>
            <p:cNvSpPr/>
            <p:nvPr/>
          </p:nvSpPr>
          <p:spPr>
            <a:xfrm flipH="false" flipV="false" rot="0">
              <a:off x="0" y="0"/>
              <a:ext cx="20122007" cy="7413371"/>
            </a:xfrm>
            <a:custGeom>
              <a:avLst/>
              <a:gdLst/>
              <a:ahLst/>
              <a:cxnLst/>
              <a:rect r="r" b="b" t="t" l="l"/>
              <a:pathLst>
                <a:path h="7413371" w="20122007">
                  <a:moveTo>
                    <a:pt x="0" y="0"/>
                  </a:moveTo>
                  <a:lnTo>
                    <a:pt x="20122007" y="0"/>
                  </a:lnTo>
                  <a:lnTo>
                    <a:pt x="20122007" y="7413371"/>
                  </a:lnTo>
                  <a:lnTo>
                    <a:pt x="0" y="7413371"/>
                  </a:lnTo>
                </a:path>
              </a:pathLst>
            </a:custGeom>
            <a:solidFill>
              <a:srgbClr val="000000"/>
            </a:solidFill>
            <a:ln w="12700">
              <a:solidFill>
                <a:srgbClr val="000000"/>
              </a:solidFill>
            </a:ln>
          </p:spPr>
        </p:sp>
      </p:grpSp>
      <p:sp>
        <p:nvSpPr>
          <p:cNvPr name="Freeform 19" id="19"/>
          <p:cNvSpPr/>
          <p:nvPr/>
        </p:nvSpPr>
        <p:spPr>
          <a:xfrm flipH="false" flipV="false" rot="0">
            <a:off x="1569919" y="3209427"/>
            <a:ext cx="15120080" cy="5617177"/>
          </a:xfrm>
          <a:custGeom>
            <a:avLst/>
            <a:gdLst/>
            <a:ahLst/>
            <a:cxnLst/>
            <a:rect r="r" b="b" t="t" l="l"/>
            <a:pathLst>
              <a:path h="5617177" w="15120080">
                <a:moveTo>
                  <a:pt x="0" y="0"/>
                </a:moveTo>
                <a:lnTo>
                  <a:pt x="15120080" y="0"/>
                </a:lnTo>
                <a:lnTo>
                  <a:pt x="15120080" y="5617177"/>
                </a:lnTo>
                <a:lnTo>
                  <a:pt x="0" y="56171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0" id="20"/>
          <p:cNvGrpSpPr/>
          <p:nvPr/>
        </p:nvGrpSpPr>
        <p:grpSpPr>
          <a:xfrm rot="12681">
            <a:off x="1531767" y="3578658"/>
            <a:ext cx="15264842" cy="19050"/>
            <a:chOff x="0" y="0"/>
            <a:chExt cx="20353123" cy="25400"/>
          </a:xfrm>
        </p:grpSpPr>
        <p:sp>
          <p:nvSpPr>
            <p:cNvPr name="Freeform 21" id="21"/>
            <p:cNvSpPr/>
            <p:nvPr/>
          </p:nvSpPr>
          <p:spPr>
            <a:xfrm flipH="false" flipV="false" rot="0">
              <a:off x="0" y="0"/>
              <a:ext cx="20353147" cy="25400"/>
            </a:xfrm>
            <a:custGeom>
              <a:avLst/>
              <a:gdLst/>
              <a:ahLst/>
              <a:cxnLst/>
              <a:rect r="r" b="b" t="t" l="l"/>
              <a:pathLst>
                <a:path h="25400" w="20353147">
                  <a:moveTo>
                    <a:pt x="12700" y="0"/>
                  </a:moveTo>
                  <a:lnTo>
                    <a:pt x="20340447" y="0"/>
                  </a:lnTo>
                  <a:cubicBezTo>
                    <a:pt x="20347432" y="0"/>
                    <a:pt x="20353147" y="5715"/>
                    <a:pt x="20353147" y="12700"/>
                  </a:cubicBezTo>
                  <a:cubicBezTo>
                    <a:pt x="20353147" y="19685"/>
                    <a:pt x="20347432" y="25400"/>
                    <a:pt x="20340447"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2" id="22"/>
          <p:cNvGrpSpPr/>
          <p:nvPr/>
        </p:nvGrpSpPr>
        <p:grpSpPr>
          <a:xfrm rot="0">
            <a:off x="1887528" y="1715799"/>
            <a:ext cx="14263282" cy="1197109"/>
            <a:chOff x="0" y="0"/>
            <a:chExt cx="19017709" cy="1596145"/>
          </a:xfrm>
        </p:grpSpPr>
        <p:sp>
          <p:nvSpPr>
            <p:cNvPr name="Freeform 23" id="23"/>
            <p:cNvSpPr/>
            <p:nvPr/>
          </p:nvSpPr>
          <p:spPr>
            <a:xfrm flipH="false" flipV="false" rot="0">
              <a:off x="0" y="0"/>
              <a:ext cx="19017709" cy="1596145"/>
            </a:xfrm>
            <a:custGeom>
              <a:avLst/>
              <a:gdLst/>
              <a:ahLst/>
              <a:cxnLst/>
              <a:rect r="r" b="b" t="t" l="l"/>
              <a:pathLst>
                <a:path h="1596145" w="19017709">
                  <a:moveTo>
                    <a:pt x="0" y="0"/>
                  </a:moveTo>
                  <a:lnTo>
                    <a:pt x="19017709" y="0"/>
                  </a:lnTo>
                  <a:lnTo>
                    <a:pt x="19017709" y="1596145"/>
                  </a:lnTo>
                  <a:lnTo>
                    <a:pt x="0" y="1596145"/>
                  </a:lnTo>
                  <a:close/>
                </a:path>
              </a:pathLst>
            </a:custGeom>
            <a:solidFill>
              <a:srgbClr val="000000">
                <a:alpha val="0"/>
              </a:srgbClr>
            </a:solidFill>
          </p:spPr>
        </p:sp>
        <p:sp>
          <p:nvSpPr>
            <p:cNvPr name="TextBox 24" id="24"/>
            <p:cNvSpPr txBox="true"/>
            <p:nvPr/>
          </p:nvSpPr>
          <p:spPr>
            <a:xfrm>
              <a:off x="0" y="-28575"/>
              <a:ext cx="19017709" cy="1624720"/>
            </a:xfrm>
            <a:prstGeom prst="rect">
              <a:avLst/>
            </a:prstGeom>
          </p:spPr>
          <p:txBody>
            <a:bodyPr anchor="b" rtlCol="false" tIns="0" lIns="0" bIns="0" rIns="0"/>
            <a:lstStyle/>
            <a:p>
              <a:pPr algn="ctr">
                <a:lnSpc>
                  <a:spcPts val="7198"/>
                </a:lnSpc>
              </a:pPr>
              <a:r>
                <a:rPr lang="en-US" sz="6000" b="true">
                  <a:solidFill>
                    <a:srgbClr val="000000"/>
                  </a:solidFill>
                  <a:latin typeface="Times New Roman Bold"/>
                  <a:ea typeface="Times New Roman Bold"/>
                  <a:cs typeface="Times New Roman Bold"/>
                  <a:sym typeface="Times New Roman Bold"/>
                </a:rPr>
                <a:t>PHẠM VI DỰ ÁN</a:t>
              </a:r>
            </a:p>
          </p:txBody>
        </p:sp>
      </p:grpSp>
      <p:sp>
        <p:nvSpPr>
          <p:cNvPr name="TextBox 25" id="25"/>
          <p:cNvSpPr txBox="true"/>
          <p:nvPr/>
        </p:nvSpPr>
        <p:spPr>
          <a:xfrm rot="0">
            <a:off x="1887528" y="3940152"/>
            <a:ext cx="13750406" cy="3109735"/>
          </a:xfrm>
          <a:prstGeom prst="rect">
            <a:avLst/>
          </a:prstGeom>
        </p:spPr>
        <p:txBody>
          <a:bodyPr anchor="t" rtlCol="false" tIns="0" lIns="0" bIns="0" rIns="0">
            <a:spAutoFit/>
          </a:bodyPr>
          <a:lstStyle/>
          <a:p>
            <a:pPr algn="l" marL="937575" indent="-312525" lvl="2">
              <a:lnSpc>
                <a:spcPts val="5796"/>
              </a:lnSpc>
              <a:buFont typeface="Arial"/>
              <a:buChar char="⚬"/>
            </a:pPr>
            <a:r>
              <a:rPr lang="en-US" sz="3220">
                <a:solidFill>
                  <a:srgbClr val="000000"/>
                </a:solidFill>
                <a:latin typeface="Times New Roman"/>
                <a:ea typeface="Times New Roman"/>
                <a:cs typeface="Times New Roman"/>
                <a:sym typeface="Times New Roman"/>
              </a:rPr>
              <a:t>Bao gồm: thu thập dữ liệu/ảnh; API; UI nhập liệu; tài liệu hướng dẫn. </a:t>
            </a:r>
          </a:p>
          <a:p>
            <a:pPr algn="l" marL="937722" indent="-312574" lvl="2">
              <a:lnSpc>
                <a:spcPts val="5796"/>
              </a:lnSpc>
              <a:buFont typeface="Arial"/>
              <a:buChar char="⚬"/>
            </a:pPr>
            <a:r>
              <a:rPr lang="en-US" sz="3220">
                <a:solidFill>
                  <a:srgbClr val="000000"/>
                </a:solidFill>
                <a:latin typeface="Times New Roman"/>
                <a:ea typeface="Times New Roman"/>
                <a:cs typeface="Times New Roman"/>
                <a:sym typeface="Times New Roman"/>
              </a:rPr>
              <a:t>Giống: Ri6, Monthong,Dona, Musa King,..</a:t>
            </a:r>
          </a:p>
          <a:p>
            <a:pPr algn="l" marL="937722" indent="-312574" lvl="2">
              <a:lnSpc>
                <a:spcPts val="5796"/>
              </a:lnSpc>
              <a:buFont typeface="Arial"/>
              <a:buChar char="⚬"/>
            </a:pPr>
            <a:r>
              <a:rPr lang="en-US" sz="3220">
                <a:solidFill>
                  <a:srgbClr val="000000"/>
                </a:solidFill>
                <a:latin typeface="Times New Roman"/>
                <a:ea typeface="Times New Roman"/>
                <a:cs typeface="Times New Roman"/>
                <a:sym typeface="Times New Roman"/>
              </a:rPr>
              <a:t>Tình trạng: khỏe/thiếu dinh dưỡng/dấu sâu hại thường gặp. </a:t>
            </a:r>
          </a:p>
          <a:p>
            <a:pPr algn="l" marL="937722" indent="-312574" lvl="2">
              <a:lnSpc>
                <a:spcPts val="5796"/>
              </a:lnSpc>
              <a:buFont typeface="Arial"/>
              <a:buChar char="⚬"/>
            </a:pPr>
            <a:r>
              <a:rPr lang="en-US" sz="3220">
                <a:solidFill>
                  <a:srgbClr val="000000"/>
                </a:solidFill>
                <a:latin typeface="Times New Roman"/>
                <a:ea typeface="Times New Roman"/>
                <a:cs typeface="Times New Roman"/>
                <a:sym typeface="Times New Roman"/>
              </a:rPr>
              <a:t>Yêu cầu tương thích mobile và hạ tầng on‑prem hoặc cloud.</a:t>
            </a:r>
          </a:p>
        </p:txBody>
      </p:sp>
      <p:sp>
        <p:nvSpPr>
          <p:cNvPr name="Freeform 26" id="26"/>
          <p:cNvSpPr/>
          <p:nvPr/>
        </p:nvSpPr>
        <p:spPr>
          <a:xfrm flipH="false" flipV="false" rot="0">
            <a:off x="15943400" y="216325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8">
              <a:extLst>
                <a:ext uri="{96DAC541-7B7A-43D3-8B79-37D633B846F1}">
                  <asvg:svgBlip xmlns:asvg="http://schemas.microsoft.com/office/drawing/2016/SVG/main" r:embed="rId9"/>
                </a:ext>
              </a:extLst>
            </a:blip>
            <a:stretch>
              <a:fillRect l="0" t="-5326" r="0" b="-5326"/>
            </a:stretch>
          </a:blipFill>
        </p:spPr>
      </p:sp>
      <p:sp>
        <p:nvSpPr>
          <p:cNvPr name="Freeform 27" id="27"/>
          <p:cNvSpPr/>
          <p:nvPr/>
        </p:nvSpPr>
        <p:spPr>
          <a:xfrm flipH="false" flipV="false" rot="0">
            <a:off x="15478720" y="1865946"/>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1430320" y="250545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2">
              <a:extLst>
                <a:ext uri="{96DAC541-7B7A-43D3-8B79-37D633B846F1}">
                  <asvg:svgBlip xmlns:asvg="http://schemas.microsoft.com/office/drawing/2016/SVG/main" r:embed="rId13"/>
                </a:ext>
              </a:extLst>
            </a:blip>
            <a:stretch>
              <a:fillRect l="0" t="-1547" r="0" b="-1547"/>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5375612" y="1684790"/>
            <a:ext cx="7514392"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CÁC VẤN ĐỀ CHÍNH</a:t>
            </a:r>
          </a:p>
        </p:txBody>
      </p:sp>
      <p:sp>
        <p:nvSpPr>
          <p:cNvPr name="Freeform 18" id="18"/>
          <p:cNvSpPr/>
          <p:nvPr/>
        </p:nvSpPr>
        <p:spPr>
          <a:xfrm flipH="false" flipV="false" rot="0">
            <a:off x="15935894" y="218009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6">
              <a:extLst>
                <a:ext uri="{96DAC541-7B7A-43D3-8B79-37D633B846F1}">
                  <asvg:svgBlip xmlns:asvg="http://schemas.microsoft.com/office/drawing/2016/SVG/main" r:embed="rId7"/>
                </a:ext>
              </a:extLst>
            </a:blip>
            <a:stretch>
              <a:fillRect l="0" t="-5326" r="0" b="-5326"/>
            </a:stretch>
          </a:blipFill>
        </p:spPr>
      </p:sp>
      <p:sp>
        <p:nvSpPr>
          <p:cNvPr name="Freeform 19" id="19"/>
          <p:cNvSpPr/>
          <p:nvPr/>
        </p:nvSpPr>
        <p:spPr>
          <a:xfrm flipH="false" flipV="false" rot="0">
            <a:off x="15478720" y="1865946"/>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320" y="250545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0">
              <a:extLst>
                <a:ext uri="{96DAC541-7B7A-43D3-8B79-37D633B846F1}">
                  <asvg:svgBlip xmlns:asvg="http://schemas.microsoft.com/office/drawing/2016/SVG/main" r:embed="rId11"/>
                </a:ext>
              </a:extLst>
            </a:blip>
            <a:stretch>
              <a:fillRect l="0" t="-1547" r="0" b="-1547"/>
            </a:stretch>
          </a:blipFill>
        </p:spPr>
      </p:sp>
      <p:graphicFrame>
        <p:nvGraphicFramePr>
          <p:cNvPr name="Table 21" id="21"/>
          <p:cNvGraphicFramePr>
            <a:graphicFrameLocks noGrp="true"/>
          </p:cNvGraphicFramePr>
          <p:nvPr/>
        </p:nvGraphicFramePr>
        <p:xfrm>
          <a:off x="3036808" y="3359079"/>
          <a:ext cx="12192000" cy="4940300"/>
        </p:xfrm>
        <a:graphic>
          <a:graphicData uri="http://schemas.openxmlformats.org/drawingml/2006/table">
            <a:tbl>
              <a:tblPr/>
              <a:tblGrid>
                <a:gridCol w="6096000"/>
                <a:gridCol w="6096000"/>
              </a:tblGrid>
              <a:tr h="730603">
                <a:tc>
                  <a:txBody>
                    <a:bodyPr anchor="t" rtlCol="false"/>
                    <a:lstStyle/>
                    <a:p>
                      <a:pPr algn="ctr">
                        <a:lnSpc>
                          <a:spcPts val="3036"/>
                        </a:lnSpc>
                        <a:defRPr/>
                      </a:pPr>
                      <a:r>
                        <a:rPr lang="en-US" sz="2200" b="true">
                          <a:solidFill>
                            <a:srgbClr val="FCF6E8"/>
                          </a:solidFill>
                          <a:latin typeface="Times New Roman Bold"/>
                          <a:ea typeface="Times New Roman Bold"/>
                          <a:cs typeface="Times New Roman Bold"/>
                          <a:sym typeface="Times New Roman Bold"/>
                        </a:rPr>
                        <a:t>Mức độ</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0000"/>
                    </a:solidFill>
                  </a:tcPr>
                </a:tc>
                <a:tc>
                  <a:txBody>
                    <a:bodyPr anchor="t" rtlCol="false"/>
                    <a:lstStyle/>
                    <a:p>
                      <a:pPr algn="ctr">
                        <a:lnSpc>
                          <a:spcPts val="3036"/>
                        </a:lnSpc>
                        <a:defRPr/>
                      </a:pPr>
                      <a:r>
                        <a:rPr lang="en-US" sz="2200" b="true">
                          <a:solidFill>
                            <a:srgbClr val="FCF6E8"/>
                          </a:solidFill>
                          <a:latin typeface="Times New Roman Bold"/>
                          <a:ea typeface="Times New Roman Bold"/>
                          <a:cs typeface="Times New Roman Bold"/>
                          <a:sym typeface="Times New Roman Bold"/>
                        </a:rPr>
                        <a:t>Mô tả vấn đề</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0000"/>
                    </a:solidFill>
                  </a:tcPr>
                </a:tc>
              </a:tr>
              <a:tr h="952558">
                <a:tc>
                  <a:txBody>
                    <a:bodyPr anchor="t" rtlCol="false"/>
                    <a:lstStyle/>
                    <a:p>
                      <a:pPr algn="l">
                        <a:lnSpc>
                          <a:spcPts val="3036"/>
                        </a:lnSpc>
                        <a:defRPr/>
                      </a:pPr>
                      <a:r>
                        <a:rPr lang="en-US" sz="2200" b="true">
                          <a:solidFill>
                            <a:srgbClr val="000000"/>
                          </a:solidFill>
                          <a:latin typeface="Times New Roman Bold"/>
                          <a:ea typeface="Times New Roman Bold"/>
                          <a:cs typeface="Times New Roman Bold"/>
                          <a:sym typeface="Times New Roman Bold"/>
                        </a:rPr>
                        <a:t>Cao</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c>
                  <a:txBody>
                    <a:bodyPr anchor="t" rtlCol="false"/>
                    <a:lstStyle/>
                    <a:p>
                      <a:pPr algn="l">
                        <a:lnSpc>
                          <a:spcPts val="3036"/>
                        </a:lnSpc>
                        <a:defRPr/>
                      </a:pPr>
                      <a:r>
                        <a:rPr lang="en-US" sz="2200">
                          <a:solidFill>
                            <a:srgbClr val="000000"/>
                          </a:solidFill>
                          <a:latin typeface="Times New Roman"/>
                          <a:ea typeface="Times New Roman"/>
                          <a:cs typeface="Times New Roman"/>
                          <a:sym typeface="Times New Roman"/>
                        </a:rPr>
                        <a:t>Dữ liệu hình ảnh và thông tin về sâu hại còn hạn chế, cần được thu thập và cập nhật thường xuyên.</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r>
              <a:tr h="952558">
                <a:tc>
                  <a:txBody>
                    <a:bodyPr anchor="t" rtlCol="false"/>
                    <a:lstStyle/>
                    <a:p>
                      <a:pPr algn="l">
                        <a:lnSpc>
                          <a:spcPts val="3036"/>
                        </a:lnSpc>
                        <a:defRPr/>
                      </a:pPr>
                      <a:r>
                        <a:rPr lang="en-US" sz="2200" b="true">
                          <a:solidFill>
                            <a:srgbClr val="000000"/>
                          </a:solidFill>
                          <a:latin typeface="Times New Roman Bold"/>
                          <a:ea typeface="Times New Roman Bold"/>
                          <a:cs typeface="Times New Roman Bold"/>
                          <a:sym typeface="Times New Roman Bold"/>
                        </a:rPr>
                        <a:t>Trung bình</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E7E7"/>
                    </a:solidFill>
                  </a:tcPr>
                </a:tc>
                <a:tc>
                  <a:txBody>
                    <a:bodyPr anchor="t" rtlCol="false"/>
                    <a:lstStyle/>
                    <a:p>
                      <a:pPr algn="l">
                        <a:lnSpc>
                          <a:spcPts val="3036"/>
                        </a:lnSpc>
                        <a:defRPr/>
                      </a:pPr>
                      <a:r>
                        <a:rPr lang="en-US" sz="2200">
                          <a:solidFill>
                            <a:srgbClr val="000000"/>
                          </a:solidFill>
                          <a:latin typeface="Times New Roman"/>
                          <a:ea typeface="Times New Roman"/>
                          <a:cs typeface="Times New Roman"/>
                          <a:sym typeface="Times New Roman"/>
                        </a:rPr>
                        <a:t>Một số loài sâu có đặc điểm hình thái tương tự nhau, dễ gây nhầm lẫn khi tra cứu.</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E7E7"/>
                    </a:solidFill>
                  </a:tcPr>
                </a:tc>
              </a:tr>
              <a:tr h="952558">
                <a:tc>
                  <a:txBody>
                    <a:bodyPr anchor="t" rtlCol="false"/>
                    <a:lstStyle/>
                    <a:p>
                      <a:pPr algn="l">
                        <a:lnSpc>
                          <a:spcPts val="3036"/>
                        </a:lnSpc>
                        <a:defRPr/>
                      </a:pPr>
                      <a:r>
                        <a:rPr lang="en-US" sz="2200" b="true">
                          <a:solidFill>
                            <a:srgbClr val="000000"/>
                          </a:solidFill>
                          <a:latin typeface="Times New Roman Bold"/>
                          <a:ea typeface="Times New Roman Bold"/>
                          <a:cs typeface="Times New Roman Bold"/>
                          <a:sym typeface="Times New Roman Bold"/>
                        </a:rPr>
                        <a:t>Trung bình</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c>
                  <a:txBody>
                    <a:bodyPr anchor="t" rtlCol="false"/>
                    <a:lstStyle/>
                    <a:p>
                      <a:pPr algn="l">
                        <a:lnSpc>
                          <a:spcPts val="3036"/>
                        </a:lnSpc>
                        <a:defRPr/>
                      </a:pPr>
                      <a:r>
                        <a:rPr lang="en-US" sz="2200">
                          <a:solidFill>
                            <a:srgbClr val="000000"/>
                          </a:solidFill>
                          <a:latin typeface="Times New Roman"/>
                          <a:ea typeface="Times New Roman"/>
                          <a:cs typeface="Times New Roman"/>
                          <a:sym typeface="Times New Roman"/>
                        </a:rPr>
                        <a:t>Cần đảm bảo khả năng lưu trữ và truy xuất dữ liệu ổn định khi ứng dụng hoạt động lâu dài.</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r>
              <a:tr h="1352024">
                <a:tc>
                  <a:txBody>
                    <a:bodyPr anchor="t" rtlCol="false"/>
                    <a:lstStyle/>
                    <a:p>
                      <a:pPr algn="l">
                        <a:lnSpc>
                          <a:spcPts val="3036"/>
                        </a:lnSpc>
                        <a:defRPr/>
                      </a:pPr>
                      <a:r>
                        <a:rPr lang="en-US" sz="2200" b="true">
                          <a:solidFill>
                            <a:srgbClr val="000000"/>
                          </a:solidFill>
                          <a:latin typeface="Times New Roman Bold"/>
                          <a:ea typeface="Times New Roman Bold"/>
                          <a:cs typeface="Times New Roman Bold"/>
                          <a:sym typeface="Times New Roman Bold"/>
                        </a:rPr>
                        <a:t>Thấp</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E7E7"/>
                    </a:solidFill>
                  </a:tcPr>
                </a:tc>
                <a:tc>
                  <a:txBody>
                    <a:bodyPr anchor="t" rtlCol="false"/>
                    <a:lstStyle/>
                    <a:p>
                      <a:pPr algn="l">
                        <a:lnSpc>
                          <a:spcPts val="3036"/>
                        </a:lnSpc>
                        <a:defRPr/>
                      </a:pPr>
                      <a:r>
                        <a:rPr lang="en-US" sz="2200">
                          <a:solidFill>
                            <a:srgbClr val="000000"/>
                          </a:solidFill>
                          <a:latin typeface="Times New Roman"/>
                          <a:ea typeface="Times New Roman"/>
                          <a:cs typeface="Times New Roman"/>
                          <a:sym typeface="Times New Roman"/>
                        </a:rPr>
                        <a:t>Khó khăn trong việc tối ưu giao diện và đảm bảo tương thích trên nhiều thiết bị Android khác nhau.</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E7E7"/>
                    </a:solidFill>
                  </a:tcPr>
                </a:tc>
              </a:tr>
            </a:tbl>
          </a:graphicData>
        </a:graphic>
      </p:graphicFrame>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6455813" y="1684790"/>
            <a:ext cx="5369004"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RỦI RO DỰ ÁN</a:t>
            </a:r>
          </a:p>
        </p:txBody>
      </p:sp>
      <p:sp>
        <p:nvSpPr>
          <p:cNvPr name="Freeform 18" id="18"/>
          <p:cNvSpPr/>
          <p:nvPr/>
        </p:nvSpPr>
        <p:spPr>
          <a:xfrm flipH="false" flipV="false" rot="0">
            <a:off x="15935894" y="218009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6">
              <a:extLst>
                <a:ext uri="{96DAC541-7B7A-43D3-8B79-37D633B846F1}">
                  <asvg:svgBlip xmlns:asvg="http://schemas.microsoft.com/office/drawing/2016/SVG/main" r:embed="rId7"/>
                </a:ext>
              </a:extLst>
            </a:blip>
            <a:stretch>
              <a:fillRect l="0" t="-5326" r="0" b="-5326"/>
            </a:stretch>
          </a:blipFill>
        </p:spPr>
      </p:sp>
      <p:sp>
        <p:nvSpPr>
          <p:cNvPr name="Freeform 19" id="19"/>
          <p:cNvSpPr/>
          <p:nvPr/>
        </p:nvSpPr>
        <p:spPr>
          <a:xfrm flipH="false" flipV="false" rot="0">
            <a:off x="15478720" y="1865946"/>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320" y="250545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0">
              <a:extLst>
                <a:ext uri="{96DAC541-7B7A-43D3-8B79-37D633B846F1}">
                  <asvg:svgBlip xmlns:asvg="http://schemas.microsoft.com/office/drawing/2016/SVG/main" r:embed="rId11"/>
                </a:ext>
              </a:extLst>
            </a:blip>
            <a:stretch>
              <a:fillRect l="0" t="-1547" r="0" b="-1547"/>
            </a:stretch>
          </a:blipFill>
        </p:spPr>
      </p:sp>
      <p:graphicFrame>
        <p:nvGraphicFramePr>
          <p:cNvPr name="Table 21" id="21"/>
          <p:cNvGraphicFramePr>
            <a:graphicFrameLocks noGrp="true"/>
          </p:cNvGraphicFramePr>
          <p:nvPr/>
        </p:nvGraphicFramePr>
        <p:xfrm>
          <a:off x="3231000" y="3133205"/>
          <a:ext cx="12192000" cy="5029200"/>
        </p:xfrm>
        <a:graphic>
          <a:graphicData uri="http://schemas.openxmlformats.org/drawingml/2006/table">
            <a:tbl>
              <a:tblPr/>
              <a:tblGrid>
                <a:gridCol w="6096000"/>
                <a:gridCol w="6096000"/>
              </a:tblGrid>
              <a:tr h="727668">
                <a:tc>
                  <a:txBody>
                    <a:bodyPr anchor="t" rtlCol="false"/>
                    <a:lstStyle/>
                    <a:p>
                      <a:pPr algn="ctr">
                        <a:lnSpc>
                          <a:spcPts val="3036"/>
                        </a:lnSpc>
                        <a:defRPr/>
                      </a:pPr>
                      <a:r>
                        <a:rPr lang="en-US" sz="2200" b="true">
                          <a:solidFill>
                            <a:srgbClr val="FCF6E8"/>
                          </a:solidFill>
                          <a:latin typeface="Times New Roman Bold"/>
                          <a:ea typeface="Times New Roman Bold"/>
                          <a:cs typeface="Times New Roman Bold"/>
                          <a:sym typeface="Times New Roman Bold"/>
                        </a:rPr>
                        <a:t>Mức độ</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0000"/>
                    </a:solidFill>
                  </a:tcPr>
                </a:tc>
                <a:tc>
                  <a:txBody>
                    <a:bodyPr anchor="t" rtlCol="false"/>
                    <a:lstStyle/>
                    <a:p>
                      <a:pPr algn="ctr">
                        <a:lnSpc>
                          <a:spcPts val="3036"/>
                        </a:lnSpc>
                        <a:defRPr/>
                      </a:pPr>
                      <a:r>
                        <a:rPr lang="en-US" sz="2200" b="true">
                          <a:solidFill>
                            <a:srgbClr val="FCF6E8"/>
                          </a:solidFill>
                          <a:latin typeface="Times New Roman Bold"/>
                          <a:ea typeface="Times New Roman Bold"/>
                          <a:cs typeface="Times New Roman Bold"/>
                          <a:sym typeface="Times New Roman Bold"/>
                        </a:rPr>
                        <a:t>Mô tả vấn đề</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000000"/>
                    </a:solidFill>
                  </a:tcPr>
                </a:tc>
              </a:tr>
              <a:tr h="948732">
                <a:tc>
                  <a:txBody>
                    <a:bodyPr anchor="t" rtlCol="false"/>
                    <a:lstStyle/>
                    <a:p>
                      <a:pPr algn="l">
                        <a:lnSpc>
                          <a:spcPts val="3036"/>
                        </a:lnSpc>
                        <a:defRPr/>
                      </a:pPr>
                      <a:r>
                        <a:rPr lang="en-US" sz="2200" b="true">
                          <a:solidFill>
                            <a:srgbClr val="000000"/>
                          </a:solidFill>
                          <a:latin typeface="Times New Roman Bold"/>
                          <a:ea typeface="Times New Roman Bold"/>
                          <a:cs typeface="Times New Roman Bold"/>
                          <a:sym typeface="Times New Roman Bold"/>
                        </a:rPr>
                        <a:t>Cao</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c>
                  <a:txBody>
                    <a:bodyPr anchor="t" rtlCol="false"/>
                    <a:lstStyle/>
                    <a:p>
                      <a:pPr algn="l">
                        <a:lnSpc>
                          <a:spcPts val="3036"/>
                        </a:lnSpc>
                        <a:defRPr/>
                      </a:pPr>
                      <a:r>
                        <a:rPr lang="en-US" sz="2200">
                          <a:solidFill>
                            <a:srgbClr val="000000"/>
                          </a:solidFill>
                          <a:latin typeface="Times New Roman"/>
                          <a:ea typeface="Times New Roman"/>
                          <a:cs typeface="Times New Roman"/>
                          <a:sym typeface="Times New Roman"/>
                        </a:rPr>
                        <a:t>Thiếu chất lượng ảnh cao; sai lệch mẫu theo mùa/giống</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r>
              <a:tr h="948732">
                <a:tc>
                  <a:txBody>
                    <a:bodyPr anchor="t" rtlCol="false"/>
                    <a:lstStyle/>
                    <a:p>
                      <a:pPr algn="l">
                        <a:lnSpc>
                          <a:spcPts val="3036"/>
                        </a:lnSpc>
                        <a:defRPr/>
                      </a:pPr>
                      <a:r>
                        <a:rPr lang="en-US" sz="2200" b="true">
                          <a:solidFill>
                            <a:srgbClr val="000000"/>
                          </a:solidFill>
                          <a:latin typeface="Times New Roman Bold"/>
                          <a:ea typeface="Times New Roman Bold"/>
                          <a:cs typeface="Times New Roman Bold"/>
                          <a:sym typeface="Times New Roman Bold"/>
                        </a:rPr>
                        <a:t>Trung bình</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E7E7"/>
                    </a:solidFill>
                  </a:tcPr>
                </a:tc>
                <a:tc>
                  <a:txBody>
                    <a:bodyPr anchor="t" rtlCol="false"/>
                    <a:lstStyle/>
                    <a:p>
                      <a:pPr algn="l">
                        <a:lnSpc>
                          <a:spcPts val="3036"/>
                        </a:lnSpc>
                        <a:defRPr/>
                      </a:pPr>
                      <a:r>
                        <a:rPr lang="en-US" sz="2200">
                          <a:solidFill>
                            <a:srgbClr val="000000"/>
                          </a:solidFill>
                          <a:latin typeface="Times New Roman"/>
                          <a:ea typeface="Times New Roman"/>
                          <a:cs typeface="Times New Roman"/>
                          <a:sym typeface="Times New Roman"/>
                        </a:rPr>
                        <a:t>Tiến độ thu thập dữ liệu bị ảnh hưởng bởi thời tiết/mùa vụ</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E7E7"/>
                    </a:solidFill>
                  </a:tcPr>
                </a:tc>
              </a:tr>
              <a:tr h="727668">
                <a:tc>
                  <a:txBody>
                    <a:bodyPr anchor="t" rtlCol="false"/>
                    <a:lstStyle/>
                    <a:p>
                      <a:pPr algn="l">
                        <a:lnSpc>
                          <a:spcPts val="3036"/>
                        </a:lnSpc>
                        <a:defRPr/>
                      </a:pPr>
                      <a:r>
                        <a:rPr lang="en-US" sz="2200" b="true">
                          <a:solidFill>
                            <a:srgbClr val="000000"/>
                          </a:solidFill>
                          <a:latin typeface="Times New Roman Bold"/>
                          <a:ea typeface="Times New Roman Bold"/>
                          <a:cs typeface="Times New Roman Bold"/>
                          <a:sym typeface="Times New Roman Bold"/>
                        </a:rPr>
                        <a:t>Trung bình</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c>
                  <a:txBody>
                    <a:bodyPr anchor="t" rtlCol="false"/>
                    <a:lstStyle/>
                    <a:p>
                      <a:pPr algn="l">
                        <a:lnSpc>
                          <a:spcPts val="3036"/>
                        </a:lnSpc>
                        <a:defRPr/>
                      </a:pPr>
                      <a:r>
                        <a:rPr lang="en-US" sz="2200">
                          <a:solidFill>
                            <a:srgbClr val="000000"/>
                          </a:solidFill>
                          <a:latin typeface="Times New Roman"/>
                          <a:ea typeface="Times New Roman"/>
                          <a:cs typeface="Times New Roman"/>
                          <a:sym typeface="Times New Roman"/>
                        </a:rPr>
                        <a:t>Hạn chế nguồn lực truyền thông, chính sách dữ liệu</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r>
              <a:tr h="727668">
                <a:tc>
                  <a:txBody>
                    <a:bodyPr anchor="t" rtlCol="false"/>
                    <a:lstStyle/>
                    <a:p>
                      <a:pPr algn="l">
                        <a:lnSpc>
                          <a:spcPts val="3035"/>
                        </a:lnSpc>
                        <a:defRPr/>
                      </a:pPr>
                      <a:r>
                        <a:rPr lang="en-US" sz="2199" b="true">
                          <a:solidFill>
                            <a:srgbClr val="000000"/>
                          </a:solidFill>
                          <a:latin typeface="Times New Roman Bold"/>
                          <a:ea typeface="Times New Roman Bold"/>
                          <a:cs typeface="Times New Roman Bold"/>
                          <a:sym typeface="Times New Roman Bold"/>
                        </a:rPr>
                        <a:t>Trung bình</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c>
                  <a:txBody>
                    <a:bodyPr anchor="t" rtlCol="false"/>
                    <a:lstStyle/>
                    <a:p>
                      <a:pPr algn="l">
                        <a:lnSpc>
                          <a:spcPts val="3035"/>
                        </a:lnSpc>
                        <a:defRPr/>
                      </a:pPr>
                      <a:r>
                        <a:rPr lang="en-US" sz="2199">
                          <a:solidFill>
                            <a:srgbClr val="000000"/>
                          </a:solidFill>
                          <a:latin typeface="Times New Roman"/>
                          <a:ea typeface="Times New Roman"/>
                          <a:cs typeface="Times New Roman"/>
                          <a:sym typeface="Times New Roman"/>
                        </a:rPr>
                        <a:t>Rủi ro hạ tầng inference và chi phí vận hành</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CBCBCB"/>
                    </a:solidFill>
                  </a:tcPr>
                </a:tc>
              </a:tr>
              <a:tr h="948732">
                <a:tc>
                  <a:txBody>
                    <a:bodyPr anchor="t" rtlCol="false"/>
                    <a:lstStyle/>
                    <a:p>
                      <a:pPr algn="l">
                        <a:lnSpc>
                          <a:spcPts val="3036"/>
                        </a:lnSpc>
                        <a:defRPr/>
                      </a:pPr>
                      <a:r>
                        <a:rPr lang="en-US" sz="2200" b="true">
                          <a:solidFill>
                            <a:srgbClr val="000000"/>
                          </a:solidFill>
                          <a:latin typeface="Times New Roman Bold"/>
                          <a:ea typeface="Times New Roman Bold"/>
                          <a:cs typeface="Times New Roman Bold"/>
                          <a:sym typeface="Times New Roman Bold"/>
                        </a:rPr>
                        <a:t>Thấp</a:t>
                      </a:r>
                      <a:endParaRPr lang="en-US" sz="1100"/>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E7E7"/>
                    </a:solidFill>
                  </a:tcPr>
                </a:tc>
                <a:tc>
                  <a:txBody>
                    <a:bodyPr anchor="t" rtlCol="false"/>
                    <a:lstStyle/>
                    <a:p>
                      <a:pPr algn="l">
                        <a:lnSpc>
                          <a:spcPts val="3035"/>
                        </a:lnSpc>
                        <a:defRPr/>
                      </a:pPr>
                      <a:r>
                        <a:rPr lang="en-US" sz="2199">
                          <a:solidFill>
                            <a:srgbClr val="000000"/>
                          </a:solidFill>
                          <a:latin typeface="Times New Roman"/>
                          <a:ea typeface="Times New Roman"/>
                          <a:cs typeface="Times New Roman"/>
                          <a:sym typeface="Times New Roman"/>
                        </a:rPr>
                        <a:t>Thay đổi yêu cầu lớp phân loại từ phía nghiệp vụ</a:t>
                      </a:r>
                      <a:endParaRPr lang="en-US" sz="1100"/>
                    </a:p>
                    <a:p>
                      <a:pPr algn="l">
                        <a:lnSpc>
                          <a:spcPts val="3036"/>
                        </a:lnSpc>
                      </a:pPr>
                    </a:p>
                  </a:txBody>
                  <a:tcPr marL="68580" marR="68580" marT="68580" marB="6858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E7E7E7"/>
                    </a:solidFill>
                  </a:tcPr>
                </a:tc>
              </a:tr>
            </a:tbl>
          </a:graphicData>
        </a:graphic>
      </p:graphicFrame>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5935894" y="218009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6">
              <a:extLst>
                <a:ext uri="{96DAC541-7B7A-43D3-8B79-37D633B846F1}">
                  <asvg:svgBlip xmlns:asvg="http://schemas.microsoft.com/office/drawing/2016/SVG/main" r:embed="rId7"/>
                </a:ext>
              </a:extLst>
            </a:blip>
            <a:stretch>
              <a:fillRect l="0" t="-5326" r="0" b="-5326"/>
            </a:stretch>
          </a:blipFill>
        </p:spPr>
      </p:sp>
      <p:sp>
        <p:nvSpPr>
          <p:cNvPr name="Freeform 18" id="18"/>
          <p:cNvSpPr/>
          <p:nvPr/>
        </p:nvSpPr>
        <p:spPr>
          <a:xfrm flipH="false" flipV="false" rot="0">
            <a:off x="15478720" y="1865946"/>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731400" y="1308393"/>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0">
              <a:extLst>
                <a:ext uri="{96DAC541-7B7A-43D3-8B79-37D633B846F1}">
                  <asvg:svgBlip xmlns:asvg="http://schemas.microsoft.com/office/drawing/2016/SVG/main" r:embed="rId11"/>
                </a:ext>
              </a:extLst>
            </a:blip>
            <a:stretch>
              <a:fillRect l="0" t="-1547" r="0" b="-1547"/>
            </a:stretch>
          </a:blipFill>
        </p:spPr>
      </p:sp>
      <p:grpSp>
        <p:nvGrpSpPr>
          <p:cNvPr name="Group 20" id="20"/>
          <p:cNvGrpSpPr/>
          <p:nvPr/>
        </p:nvGrpSpPr>
        <p:grpSpPr>
          <a:xfrm rot="0">
            <a:off x="8303004" y="3017100"/>
            <a:ext cx="9167872" cy="5560028"/>
            <a:chOff x="0" y="0"/>
            <a:chExt cx="12223830" cy="7413371"/>
          </a:xfrm>
        </p:grpSpPr>
        <p:sp>
          <p:nvSpPr>
            <p:cNvPr name="Freeform 21" id="21"/>
            <p:cNvSpPr/>
            <p:nvPr/>
          </p:nvSpPr>
          <p:spPr>
            <a:xfrm flipH="false" flipV="false" rot="0">
              <a:off x="0" y="0"/>
              <a:ext cx="12223877" cy="7413371"/>
            </a:xfrm>
            <a:custGeom>
              <a:avLst/>
              <a:gdLst/>
              <a:ahLst/>
              <a:cxnLst/>
              <a:rect r="r" b="b" t="t" l="l"/>
              <a:pathLst>
                <a:path h="7413371" w="12223877">
                  <a:moveTo>
                    <a:pt x="0" y="0"/>
                  </a:moveTo>
                  <a:lnTo>
                    <a:pt x="12223877" y="0"/>
                  </a:lnTo>
                  <a:lnTo>
                    <a:pt x="12223877" y="7413371"/>
                  </a:lnTo>
                  <a:lnTo>
                    <a:pt x="0" y="7413371"/>
                  </a:lnTo>
                </a:path>
              </a:pathLst>
            </a:custGeom>
            <a:solidFill>
              <a:srgbClr val="000000"/>
            </a:solidFill>
            <a:ln w="12700">
              <a:solidFill>
                <a:srgbClr val="000000"/>
              </a:solidFill>
            </a:ln>
          </p:spPr>
        </p:sp>
      </p:grpSp>
      <p:sp>
        <p:nvSpPr>
          <p:cNvPr name="Freeform 22" id="22"/>
          <p:cNvSpPr/>
          <p:nvPr/>
        </p:nvSpPr>
        <p:spPr>
          <a:xfrm flipH="false" flipV="false" rot="0">
            <a:off x="8039115" y="2731350"/>
            <a:ext cx="9157523" cy="5617177"/>
          </a:xfrm>
          <a:custGeom>
            <a:avLst/>
            <a:gdLst/>
            <a:ahLst/>
            <a:cxnLst/>
            <a:rect r="r" b="b" t="t" l="l"/>
            <a:pathLst>
              <a:path h="5617177" w="9157523">
                <a:moveTo>
                  <a:pt x="0" y="0"/>
                </a:moveTo>
                <a:lnTo>
                  <a:pt x="9157523" y="0"/>
                </a:lnTo>
                <a:lnTo>
                  <a:pt x="9157523" y="5617177"/>
                </a:lnTo>
                <a:lnTo>
                  <a:pt x="0" y="56171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3" id="23"/>
          <p:cNvGrpSpPr/>
          <p:nvPr/>
        </p:nvGrpSpPr>
        <p:grpSpPr>
          <a:xfrm rot="0">
            <a:off x="8012284" y="3181395"/>
            <a:ext cx="9074153" cy="19050"/>
            <a:chOff x="0" y="0"/>
            <a:chExt cx="12098871" cy="25400"/>
          </a:xfrm>
        </p:grpSpPr>
        <p:sp>
          <p:nvSpPr>
            <p:cNvPr name="Freeform 24" id="24"/>
            <p:cNvSpPr/>
            <p:nvPr/>
          </p:nvSpPr>
          <p:spPr>
            <a:xfrm flipH="false" flipV="false" rot="0">
              <a:off x="0" y="0"/>
              <a:ext cx="12098909" cy="25400"/>
            </a:xfrm>
            <a:custGeom>
              <a:avLst/>
              <a:gdLst/>
              <a:ahLst/>
              <a:cxnLst/>
              <a:rect r="r" b="b" t="t" l="l"/>
              <a:pathLst>
                <a:path h="25400" w="12098909">
                  <a:moveTo>
                    <a:pt x="12700" y="0"/>
                  </a:moveTo>
                  <a:lnTo>
                    <a:pt x="12086209" y="0"/>
                  </a:lnTo>
                  <a:cubicBezTo>
                    <a:pt x="12093194" y="0"/>
                    <a:pt x="12098909" y="5715"/>
                    <a:pt x="12098909" y="12700"/>
                  </a:cubicBezTo>
                  <a:cubicBezTo>
                    <a:pt x="12098909" y="19685"/>
                    <a:pt x="12093194" y="25400"/>
                    <a:pt x="12086209"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25" id="25"/>
          <p:cNvSpPr txBox="true"/>
          <p:nvPr/>
        </p:nvSpPr>
        <p:spPr>
          <a:xfrm rot="0">
            <a:off x="1188608" y="4387420"/>
            <a:ext cx="5993120" cy="2781289"/>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TIÊU CHÍ ĐÁNH </a:t>
            </a:r>
          </a:p>
          <a:p>
            <a:pPr algn="ctr">
              <a:lnSpc>
                <a:spcPts val="7200"/>
              </a:lnSpc>
            </a:pPr>
            <a:r>
              <a:rPr lang="en-US" sz="6000" b="true">
                <a:solidFill>
                  <a:srgbClr val="000000"/>
                </a:solidFill>
                <a:latin typeface="Times New Roman Bold"/>
                <a:ea typeface="Times New Roman Bold"/>
                <a:cs typeface="Times New Roman Bold"/>
                <a:sym typeface="Times New Roman Bold"/>
              </a:rPr>
              <a:t>GIÁ THÀNH CÔNG</a:t>
            </a:r>
          </a:p>
        </p:txBody>
      </p:sp>
      <p:sp>
        <p:nvSpPr>
          <p:cNvPr name="TextBox 26" id="26"/>
          <p:cNvSpPr txBox="true"/>
          <p:nvPr/>
        </p:nvSpPr>
        <p:spPr>
          <a:xfrm rot="0">
            <a:off x="7810234" y="3581445"/>
            <a:ext cx="8923166" cy="3339465"/>
          </a:xfrm>
          <a:prstGeom prst="rect">
            <a:avLst/>
          </a:prstGeom>
        </p:spPr>
        <p:txBody>
          <a:bodyPr anchor="t" rtlCol="false" tIns="0" lIns="0" bIns="0" rIns="0">
            <a:spAutoFit/>
          </a:bodyPr>
          <a:lstStyle/>
          <a:p>
            <a:pPr algn="l" marL="815091" indent="-271697" lvl="2">
              <a:lnSpc>
                <a:spcPts val="5038"/>
              </a:lnSpc>
              <a:buFont typeface="Arial"/>
              <a:buChar char="⚬"/>
            </a:pPr>
            <a:r>
              <a:rPr lang="en-US" sz="2799">
                <a:solidFill>
                  <a:srgbClr val="000000"/>
                </a:solidFill>
                <a:latin typeface="Times New Roman"/>
                <a:ea typeface="Times New Roman"/>
                <a:cs typeface="Times New Roman"/>
                <a:sym typeface="Times New Roman"/>
              </a:rPr>
              <a:t>Ứng dụng hoạt động ổn định, chính xác ≥ 90%.</a:t>
            </a:r>
          </a:p>
          <a:p>
            <a:pPr algn="l" marL="815091" indent="-271697" lvl="2">
              <a:lnSpc>
                <a:spcPts val="5038"/>
              </a:lnSpc>
              <a:buFont typeface="Arial"/>
              <a:buChar char="⚬"/>
            </a:pPr>
            <a:r>
              <a:rPr lang="en-US" sz="2799">
                <a:solidFill>
                  <a:srgbClr val="000000"/>
                </a:solidFill>
                <a:latin typeface="Times New Roman"/>
                <a:ea typeface="Times New Roman"/>
                <a:cs typeface="Times New Roman"/>
                <a:sym typeface="Times New Roman"/>
              </a:rPr>
              <a:t>Nhận được phản hồi tích cực từ giảng viên và người dùng thử nghiệm.</a:t>
            </a:r>
          </a:p>
          <a:p>
            <a:pPr algn="l" marL="815219" indent="-271740" lvl="2">
              <a:lnSpc>
                <a:spcPts val="5038"/>
              </a:lnSpc>
              <a:buFont typeface="Arial"/>
              <a:buChar char="⚬"/>
            </a:pPr>
            <a:r>
              <a:rPr lang="en-US" sz="2799">
                <a:solidFill>
                  <a:srgbClr val="000000"/>
                </a:solidFill>
                <a:latin typeface="Times New Roman"/>
                <a:ea typeface="Times New Roman"/>
                <a:cs typeface="Times New Roman"/>
                <a:sym typeface="Times New Roman"/>
              </a:rPr>
              <a:t>Hoàn thành đúng tiến độ và đúng phạm vi đã đề ra.</a:t>
            </a:r>
          </a:p>
          <a:p>
            <a:pPr algn="l" marL="815091" indent="-271697" lvl="2">
              <a:lnSpc>
                <a:spcPts val="5038"/>
              </a:lnSpc>
              <a:buFont typeface="Arial"/>
              <a:buChar char="⚬"/>
            </a:pPr>
            <a:r>
              <a:rPr lang="en-US" sz="2799">
                <a:solidFill>
                  <a:srgbClr val="000000"/>
                </a:solidFill>
                <a:latin typeface="Times New Roman"/>
                <a:ea typeface="Times New Roman"/>
                <a:cs typeface="Times New Roman"/>
                <a:sym typeface="Times New Roman"/>
              </a:rPr>
              <a:t>Có tài liệu hướng dẫn và báo cáo đầy đủ.</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5935894" y="218009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6">
              <a:extLst>
                <a:ext uri="{96DAC541-7B7A-43D3-8B79-37D633B846F1}">
                  <asvg:svgBlip xmlns:asvg="http://schemas.microsoft.com/office/drawing/2016/SVG/main" r:embed="rId7"/>
                </a:ext>
              </a:extLst>
            </a:blip>
            <a:stretch>
              <a:fillRect l="0" t="-5326" r="0" b="-5326"/>
            </a:stretch>
          </a:blipFill>
        </p:spPr>
      </p:sp>
      <p:sp>
        <p:nvSpPr>
          <p:cNvPr name="Freeform 18" id="18"/>
          <p:cNvSpPr/>
          <p:nvPr/>
        </p:nvSpPr>
        <p:spPr>
          <a:xfrm flipH="false" flipV="false" rot="0">
            <a:off x="15478720" y="1865946"/>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731400" y="1308393"/>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0">
              <a:extLst>
                <a:ext uri="{96DAC541-7B7A-43D3-8B79-37D633B846F1}">
                  <asvg:svgBlip xmlns:asvg="http://schemas.microsoft.com/office/drawing/2016/SVG/main" r:embed="rId11"/>
                </a:ext>
              </a:extLst>
            </a:blip>
            <a:stretch>
              <a:fillRect l="0" t="-1547" r="0" b="-1547"/>
            </a:stretch>
          </a:blipFill>
        </p:spPr>
      </p:sp>
      <p:grpSp>
        <p:nvGrpSpPr>
          <p:cNvPr name="Group 20" id="20"/>
          <p:cNvGrpSpPr/>
          <p:nvPr/>
        </p:nvGrpSpPr>
        <p:grpSpPr>
          <a:xfrm rot="0">
            <a:off x="8303004" y="2499387"/>
            <a:ext cx="9167872" cy="6758860"/>
            <a:chOff x="0" y="0"/>
            <a:chExt cx="12223830" cy="9011814"/>
          </a:xfrm>
        </p:grpSpPr>
        <p:sp>
          <p:nvSpPr>
            <p:cNvPr name="Freeform 21" id="21"/>
            <p:cNvSpPr/>
            <p:nvPr/>
          </p:nvSpPr>
          <p:spPr>
            <a:xfrm flipH="false" flipV="false" rot="0">
              <a:off x="0" y="0"/>
              <a:ext cx="12223877" cy="9011793"/>
            </a:xfrm>
            <a:custGeom>
              <a:avLst/>
              <a:gdLst/>
              <a:ahLst/>
              <a:cxnLst/>
              <a:rect r="r" b="b" t="t" l="l"/>
              <a:pathLst>
                <a:path h="9011793" w="12223877">
                  <a:moveTo>
                    <a:pt x="0" y="0"/>
                  </a:moveTo>
                  <a:lnTo>
                    <a:pt x="12223877" y="0"/>
                  </a:lnTo>
                  <a:lnTo>
                    <a:pt x="12223877" y="9011793"/>
                  </a:lnTo>
                  <a:lnTo>
                    <a:pt x="0" y="9011793"/>
                  </a:lnTo>
                </a:path>
              </a:pathLst>
            </a:custGeom>
            <a:solidFill>
              <a:srgbClr val="000000"/>
            </a:solidFill>
            <a:ln w="12700">
              <a:solidFill>
                <a:srgbClr val="000000"/>
              </a:solidFill>
            </a:ln>
          </p:spPr>
        </p:sp>
      </p:grpSp>
      <p:sp>
        <p:nvSpPr>
          <p:cNvPr name="Freeform 22" id="22"/>
          <p:cNvSpPr/>
          <p:nvPr/>
        </p:nvSpPr>
        <p:spPr>
          <a:xfrm flipH="false" flipV="false" rot="0">
            <a:off x="8024156" y="2499387"/>
            <a:ext cx="9157523" cy="6482581"/>
          </a:xfrm>
          <a:custGeom>
            <a:avLst/>
            <a:gdLst/>
            <a:ahLst/>
            <a:cxnLst/>
            <a:rect r="r" b="b" t="t" l="l"/>
            <a:pathLst>
              <a:path h="6482581" w="9157523">
                <a:moveTo>
                  <a:pt x="0" y="0"/>
                </a:moveTo>
                <a:lnTo>
                  <a:pt x="9157523" y="0"/>
                </a:lnTo>
                <a:lnTo>
                  <a:pt x="9157523" y="6482581"/>
                </a:lnTo>
                <a:lnTo>
                  <a:pt x="0" y="64825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23" id="23"/>
          <p:cNvGrpSpPr/>
          <p:nvPr/>
        </p:nvGrpSpPr>
        <p:grpSpPr>
          <a:xfrm rot="0">
            <a:off x="8012284" y="3181395"/>
            <a:ext cx="9074153" cy="19050"/>
            <a:chOff x="0" y="0"/>
            <a:chExt cx="12098871" cy="25400"/>
          </a:xfrm>
        </p:grpSpPr>
        <p:sp>
          <p:nvSpPr>
            <p:cNvPr name="Freeform 24" id="24"/>
            <p:cNvSpPr/>
            <p:nvPr/>
          </p:nvSpPr>
          <p:spPr>
            <a:xfrm flipH="false" flipV="false" rot="0">
              <a:off x="0" y="0"/>
              <a:ext cx="12098909" cy="25400"/>
            </a:xfrm>
            <a:custGeom>
              <a:avLst/>
              <a:gdLst/>
              <a:ahLst/>
              <a:cxnLst/>
              <a:rect r="r" b="b" t="t" l="l"/>
              <a:pathLst>
                <a:path h="25400" w="12098909">
                  <a:moveTo>
                    <a:pt x="12700" y="0"/>
                  </a:moveTo>
                  <a:lnTo>
                    <a:pt x="12086209" y="0"/>
                  </a:lnTo>
                  <a:cubicBezTo>
                    <a:pt x="12093194" y="0"/>
                    <a:pt x="12098909" y="5715"/>
                    <a:pt x="12098909" y="12700"/>
                  </a:cubicBezTo>
                  <a:cubicBezTo>
                    <a:pt x="12098909" y="19685"/>
                    <a:pt x="12093194" y="25400"/>
                    <a:pt x="12086209"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25" id="25"/>
          <p:cNvSpPr txBox="true"/>
          <p:nvPr/>
        </p:nvSpPr>
        <p:spPr>
          <a:xfrm rot="0">
            <a:off x="1188608" y="4413529"/>
            <a:ext cx="5993120" cy="27813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YẾU TỐ QUYẾT ĐỊNH THÀNH CÔNG</a:t>
            </a:r>
          </a:p>
        </p:txBody>
      </p:sp>
      <p:sp>
        <p:nvSpPr>
          <p:cNvPr name="TextBox 26" id="26"/>
          <p:cNvSpPr txBox="true"/>
          <p:nvPr/>
        </p:nvSpPr>
        <p:spPr>
          <a:xfrm rot="0">
            <a:off x="7810234" y="3105747"/>
            <a:ext cx="8923166" cy="5253990"/>
          </a:xfrm>
          <a:prstGeom prst="rect">
            <a:avLst/>
          </a:prstGeom>
        </p:spPr>
        <p:txBody>
          <a:bodyPr anchor="t" rtlCol="false" tIns="0" lIns="0" bIns="0" rIns="0">
            <a:spAutoFit/>
          </a:bodyPr>
          <a:lstStyle/>
          <a:p>
            <a:pPr algn="l" marL="815091" indent="-271697" lvl="2">
              <a:lnSpc>
                <a:spcPts val="5038"/>
              </a:lnSpc>
              <a:buFont typeface="Arial"/>
              <a:buChar char="⚬"/>
            </a:pPr>
            <a:r>
              <a:rPr lang="en-US" sz="2799">
                <a:solidFill>
                  <a:srgbClr val="000000"/>
                </a:solidFill>
                <a:latin typeface="Times New Roman"/>
                <a:ea typeface="Times New Roman"/>
                <a:cs typeface="Times New Roman"/>
                <a:sym typeface="Times New Roman"/>
              </a:rPr>
              <a:t>Nguồn dữ liệu và thông tin về sâu hại được thu thập đầy đủ, chính xác và cập nhật.</a:t>
            </a:r>
          </a:p>
          <a:p>
            <a:pPr algn="l" marL="815091" indent="-271697" lvl="2">
              <a:lnSpc>
                <a:spcPts val="5038"/>
              </a:lnSpc>
              <a:buFont typeface="Arial"/>
              <a:buChar char="⚬"/>
            </a:pPr>
            <a:r>
              <a:rPr lang="en-US" sz="2799">
                <a:solidFill>
                  <a:srgbClr val="000000"/>
                </a:solidFill>
                <a:latin typeface="Times New Roman"/>
                <a:ea typeface="Times New Roman"/>
                <a:cs typeface="Times New Roman"/>
                <a:sym typeface="Times New Roman"/>
              </a:rPr>
              <a:t>Quản lý tiến độ chặt chẽ, có phân công công việc rõ ràng và kiểm tra định kỳ.</a:t>
            </a:r>
          </a:p>
          <a:p>
            <a:pPr algn="l" marL="815218" indent="-271739" lvl="2">
              <a:lnSpc>
                <a:spcPts val="5038"/>
              </a:lnSpc>
              <a:buFont typeface="Arial"/>
              <a:buChar char="⚬"/>
            </a:pPr>
            <a:r>
              <a:rPr lang="en-US" sz="2799">
                <a:solidFill>
                  <a:srgbClr val="000000"/>
                </a:solidFill>
                <a:latin typeface="Times New Roman"/>
                <a:ea typeface="Times New Roman"/>
                <a:cs typeface="Times New Roman"/>
                <a:sym typeface="Times New Roman"/>
              </a:rPr>
              <a:t>Kiểm thử ứng dụng thường xuyên để phát hiện và khắc phục lỗi kịp thời.</a:t>
            </a:r>
          </a:p>
          <a:p>
            <a:pPr algn="l" marL="815091" indent="-271697" lvl="2">
              <a:lnSpc>
                <a:spcPts val="5038"/>
              </a:lnSpc>
              <a:buFont typeface="Arial"/>
              <a:buChar char="⚬"/>
            </a:pPr>
            <a:r>
              <a:rPr lang="en-US" sz="2799">
                <a:solidFill>
                  <a:srgbClr val="000000"/>
                </a:solidFill>
                <a:latin typeface="Times New Roman"/>
                <a:ea typeface="Times New Roman"/>
                <a:cs typeface="Times New Roman"/>
                <a:sym typeface="Times New Roman"/>
              </a:rPr>
              <a:t>Giao diện ứng dụng thân thiện, dễ sử dụng và phù hợp với người dùng mục tiêu.</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2925600" y="1668900"/>
            <a:ext cx="12801600" cy="7315200"/>
            <a:chOff x="0" y="0"/>
            <a:chExt cx="17068800" cy="9753600"/>
          </a:xfrm>
        </p:grpSpPr>
        <p:sp>
          <p:nvSpPr>
            <p:cNvPr name="Freeform 5" id="5"/>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6" id="6"/>
          <p:cNvSpPr/>
          <p:nvPr/>
        </p:nvSpPr>
        <p:spPr>
          <a:xfrm flipH="false" flipV="false" rot="0">
            <a:off x="2742600" y="1457325"/>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5277">
            <a:off x="2704437" y="2198250"/>
            <a:ext cx="12879127" cy="19050"/>
            <a:chOff x="0" y="0"/>
            <a:chExt cx="17172169" cy="25400"/>
          </a:xfrm>
        </p:grpSpPr>
        <p:sp>
          <p:nvSpPr>
            <p:cNvPr name="Freeform 8" id="8"/>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4870663" y="1832526"/>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4870663" y="1832526"/>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4327325" y="1640001"/>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12367">
            <a:off x="13615582" y="2015526"/>
            <a:ext cx="496632" cy="19050"/>
            <a:chOff x="0" y="0"/>
            <a:chExt cx="662176" cy="25400"/>
          </a:xfrm>
        </p:grpSpPr>
        <p:sp>
          <p:nvSpPr>
            <p:cNvPr name="Freeform 16" id="16"/>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0045450" y="2852300"/>
            <a:ext cx="7315180" cy="696694"/>
          </a:xfrm>
          <a:custGeom>
            <a:avLst/>
            <a:gdLst/>
            <a:ahLst/>
            <a:cxnLst/>
            <a:rect r="r" b="b" t="t" l="l"/>
            <a:pathLst>
              <a:path h="696694" w="7315180">
                <a:moveTo>
                  <a:pt x="0" y="0"/>
                </a:moveTo>
                <a:lnTo>
                  <a:pt x="7315180" y="0"/>
                </a:lnTo>
                <a:lnTo>
                  <a:pt x="7315180" y="696694"/>
                </a:lnTo>
                <a:lnTo>
                  <a:pt x="0" y="696694"/>
                </a:lnTo>
                <a:lnTo>
                  <a:pt x="0" y="0"/>
                </a:lnTo>
                <a:close/>
              </a:path>
            </a:pathLst>
          </a:custGeom>
          <a:blipFill>
            <a:blip r:embed="rId6">
              <a:extLst>
                <a:ext uri="{96DAC541-7B7A-43D3-8B79-37D633B846F1}">
                  <asvg:svgBlip xmlns:asvg="http://schemas.microsoft.com/office/drawing/2016/SVG/main" r:embed="rId7"/>
                </a:ext>
              </a:extLst>
            </a:blip>
            <a:stretch>
              <a:fillRect l="0" t="-585" r="0" b="-585"/>
            </a:stretch>
          </a:blipFill>
        </p:spPr>
      </p:sp>
      <p:sp>
        <p:nvSpPr>
          <p:cNvPr name="Freeform 18" id="18"/>
          <p:cNvSpPr/>
          <p:nvPr/>
        </p:nvSpPr>
        <p:spPr>
          <a:xfrm flipH="false" flipV="false" rot="0">
            <a:off x="14630399" y="3936501"/>
            <a:ext cx="2743192" cy="1206990"/>
          </a:xfrm>
          <a:custGeom>
            <a:avLst/>
            <a:gdLst/>
            <a:ahLst/>
            <a:cxnLst/>
            <a:rect r="r" b="b" t="t" l="l"/>
            <a:pathLst>
              <a:path h="1206990" w="2743192">
                <a:moveTo>
                  <a:pt x="0" y="0"/>
                </a:moveTo>
                <a:lnTo>
                  <a:pt x="2743192" y="0"/>
                </a:lnTo>
                <a:lnTo>
                  <a:pt x="2743192" y="1206990"/>
                </a:lnTo>
                <a:lnTo>
                  <a:pt x="0" y="1206990"/>
                </a:lnTo>
                <a:lnTo>
                  <a:pt x="0" y="0"/>
                </a:lnTo>
                <a:close/>
              </a:path>
            </a:pathLst>
          </a:custGeom>
          <a:blipFill>
            <a:blip r:embed="rId8">
              <a:extLst>
                <a:ext uri="{96DAC541-7B7A-43D3-8B79-37D633B846F1}">
                  <asvg:svgBlip xmlns:asvg="http://schemas.microsoft.com/office/drawing/2016/SVG/main" r:embed="rId9"/>
                </a:ext>
              </a:extLst>
            </a:blip>
            <a:stretch>
              <a:fillRect l="0" t="-111" r="0" b="-111"/>
            </a:stretch>
          </a:blipFill>
        </p:spPr>
      </p:sp>
      <p:grpSp>
        <p:nvGrpSpPr>
          <p:cNvPr name="Group 19" id="19"/>
          <p:cNvGrpSpPr/>
          <p:nvPr/>
        </p:nvGrpSpPr>
        <p:grpSpPr>
          <a:xfrm rot="0">
            <a:off x="1613200" y="728548"/>
            <a:ext cx="3657600" cy="3657600"/>
            <a:chOff x="0" y="0"/>
            <a:chExt cx="4876800" cy="4876800"/>
          </a:xfrm>
        </p:grpSpPr>
        <p:sp>
          <p:nvSpPr>
            <p:cNvPr name="Freeform 20" id="20"/>
            <p:cNvSpPr/>
            <p:nvPr/>
          </p:nvSpPr>
          <p:spPr>
            <a:xfrm flipH="false" flipV="false" rot="0">
              <a:off x="0" y="0"/>
              <a:ext cx="4876800" cy="4876800"/>
            </a:xfrm>
            <a:custGeom>
              <a:avLst/>
              <a:gdLst/>
              <a:ahLst/>
              <a:cxnLst/>
              <a:rect r="r" b="b" t="t" l="l"/>
              <a:pathLst>
                <a:path h="4876800" w="4876800">
                  <a:moveTo>
                    <a:pt x="0" y="0"/>
                  </a:moveTo>
                  <a:lnTo>
                    <a:pt x="4876800" y="0"/>
                  </a:lnTo>
                  <a:lnTo>
                    <a:pt x="4876800" y="4876800"/>
                  </a:lnTo>
                  <a:lnTo>
                    <a:pt x="0" y="4876800"/>
                  </a:lnTo>
                </a:path>
              </a:pathLst>
            </a:custGeom>
            <a:solidFill>
              <a:srgbClr val="000000"/>
            </a:solidFill>
            <a:ln w="12700">
              <a:solidFill>
                <a:srgbClr val="000000"/>
              </a:solidFill>
            </a:ln>
          </p:spPr>
        </p:sp>
      </p:grpSp>
      <p:sp>
        <p:nvSpPr>
          <p:cNvPr name="Freeform 21" id="21"/>
          <p:cNvSpPr/>
          <p:nvPr/>
        </p:nvSpPr>
        <p:spPr>
          <a:xfrm flipH="false" flipV="false" rot="0">
            <a:off x="1430200" y="519823"/>
            <a:ext cx="3686175" cy="3714750"/>
          </a:xfrm>
          <a:custGeom>
            <a:avLst/>
            <a:gdLst/>
            <a:ahLst/>
            <a:cxnLst/>
            <a:rect r="r" b="b" t="t" l="l"/>
            <a:pathLst>
              <a:path h="3714750" w="3686175">
                <a:moveTo>
                  <a:pt x="0" y="0"/>
                </a:moveTo>
                <a:lnTo>
                  <a:pt x="3686175" y="0"/>
                </a:lnTo>
                <a:lnTo>
                  <a:pt x="3686175" y="3714750"/>
                </a:lnTo>
                <a:lnTo>
                  <a:pt x="0" y="37147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2" id="22"/>
          <p:cNvGrpSpPr/>
          <p:nvPr/>
        </p:nvGrpSpPr>
        <p:grpSpPr>
          <a:xfrm rot="53047">
            <a:off x="1397584" y="1256550"/>
            <a:ext cx="3722841" cy="19050"/>
            <a:chOff x="0" y="0"/>
            <a:chExt cx="4963788" cy="25400"/>
          </a:xfrm>
        </p:grpSpPr>
        <p:sp>
          <p:nvSpPr>
            <p:cNvPr name="Freeform 23" id="23"/>
            <p:cNvSpPr/>
            <p:nvPr/>
          </p:nvSpPr>
          <p:spPr>
            <a:xfrm flipH="false" flipV="false" rot="0">
              <a:off x="0" y="0"/>
              <a:ext cx="4963795" cy="25400"/>
            </a:xfrm>
            <a:custGeom>
              <a:avLst/>
              <a:gdLst/>
              <a:ahLst/>
              <a:cxnLst/>
              <a:rect r="r" b="b" t="t" l="l"/>
              <a:pathLst>
                <a:path h="25400" w="4963795">
                  <a:moveTo>
                    <a:pt x="12700" y="0"/>
                  </a:moveTo>
                  <a:lnTo>
                    <a:pt x="4951095" y="0"/>
                  </a:lnTo>
                  <a:cubicBezTo>
                    <a:pt x="4958080" y="0"/>
                    <a:pt x="4963795" y="5715"/>
                    <a:pt x="4963795" y="12700"/>
                  </a:cubicBezTo>
                  <a:cubicBezTo>
                    <a:pt x="4963795" y="19685"/>
                    <a:pt x="4958080" y="25400"/>
                    <a:pt x="495109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4" id="24"/>
          <p:cNvGrpSpPr/>
          <p:nvPr/>
        </p:nvGrpSpPr>
        <p:grpSpPr>
          <a:xfrm rot="2699999">
            <a:off x="4410163" y="891876"/>
            <a:ext cx="617474" cy="19050"/>
            <a:chOff x="0" y="0"/>
            <a:chExt cx="823299" cy="25400"/>
          </a:xfrm>
        </p:grpSpPr>
        <p:sp>
          <p:nvSpPr>
            <p:cNvPr name="Freeform 25" id="25"/>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6" id="26"/>
          <p:cNvGrpSpPr/>
          <p:nvPr/>
        </p:nvGrpSpPr>
        <p:grpSpPr>
          <a:xfrm rot="2700000">
            <a:off x="4410163" y="891876"/>
            <a:ext cx="617474" cy="19050"/>
            <a:chOff x="0" y="0"/>
            <a:chExt cx="823299" cy="25400"/>
          </a:xfrm>
        </p:grpSpPr>
        <p:sp>
          <p:nvSpPr>
            <p:cNvPr name="Freeform 27" id="27"/>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8" id="28"/>
          <p:cNvGrpSpPr/>
          <p:nvPr/>
        </p:nvGrpSpPr>
        <p:grpSpPr>
          <a:xfrm rot="0">
            <a:off x="3874325" y="706551"/>
            <a:ext cx="415957" cy="415957"/>
            <a:chOff x="0" y="0"/>
            <a:chExt cx="554609" cy="554609"/>
          </a:xfrm>
        </p:grpSpPr>
        <p:sp>
          <p:nvSpPr>
            <p:cNvPr name="Freeform 29" id="29"/>
            <p:cNvSpPr/>
            <p:nvPr/>
          </p:nvSpPr>
          <p:spPr>
            <a:xfrm flipH="false" flipV="false" rot="0">
              <a:off x="0" y="0"/>
              <a:ext cx="554609" cy="554609"/>
            </a:xfrm>
            <a:custGeom>
              <a:avLst/>
              <a:gdLst/>
              <a:ahLst/>
              <a:cxnLst/>
              <a:rect r="r" b="b" t="t" l="l"/>
              <a:pathLst>
                <a:path h="554609" w="554609">
                  <a:moveTo>
                    <a:pt x="38100" y="0"/>
                  </a:moveTo>
                  <a:lnTo>
                    <a:pt x="516509" y="0"/>
                  </a:lnTo>
                  <a:cubicBezTo>
                    <a:pt x="537591" y="0"/>
                    <a:pt x="554609" y="17018"/>
                    <a:pt x="554609" y="38100"/>
                  </a:cubicBezTo>
                  <a:lnTo>
                    <a:pt x="554609" y="516509"/>
                  </a:lnTo>
                  <a:cubicBezTo>
                    <a:pt x="554609" y="537591"/>
                    <a:pt x="537591" y="554609"/>
                    <a:pt x="516509" y="554609"/>
                  </a:cubicBezTo>
                  <a:lnTo>
                    <a:pt x="38100" y="554609"/>
                  </a:lnTo>
                  <a:cubicBezTo>
                    <a:pt x="17018" y="554609"/>
                    <a:pt x="0" y="537591"/>
                    <a:pt x="0" y="516509"/>
                  </a:cubicBezTo>
                  <a:lnTo>
                    <a:pt x="0" y="38100"/>
                  </a:lnTo>
                  <a:cubicBezTo>
                    <a:pt x="0" y="17018"/>
                    <a:pt x="17018" y="0"/>
                    <a:pt x="38100" y="0"/>
                  </a:cubicBezTo>
                  <a:moveTo>
                    <a:pt x="38100" y="76200"/>
                  </a:moveTo>
                  <a:lnTo>
                    <a:pt x="38100" y="38100"/>
                  </a:lnTo>
                  <a:lnTo>
                    <a:pt x="76200" y="38100"/>
                  </a:lnTo>
                  <a:lnTo>
                    <a:pt x="76200" y="516509"/>
                  </a:lnTo>
                  <a:lnTo>
                    <a:pt x="38100" y="516509"/>
                  </a:lnTo>
                  <a:lnTo>
                    <a:pt x="38100" y="478409"/>
                  </a:lnTo>
                  <a:lnTo>
                    <a:pt x="516509" y="478409"/>
                  </a:lnTo>
                  <a:lnTo>
                    <a:pt x="516509" y="516509"/>
                  </a:lnTo>
                  <a:lnTo>
                    <a:pt x="478409" y="516509"/>
                  </a:lnTo>
                  <a:lnTo>
                    <a:pt x="478409" y="38100"/>
                  </a:lnTo>
                  <a:lnTo>
                    <a:pt x="516509" y="38100"/>
                  </a:lnTo>
                  <a:lnTo>
                    <a:pt x="516509" y="76200"/>
                  </a:lnTo>
                  <a:lnTo>
                    <a:pt x="38100" y="76200"/>
                  </a:lnTo>
                  <a:close/>
                </a:path>
              </a:pathLst>
            </a:custGeom>
            <a:solidFill>
              <a:srgbClr val="000000"/>
            </a:solidFill>
            <a:ln w="12700">
              <a:solidFill>
                <a:srgbClr val="000000"/>
              </a:solidFill>
            </a:ln>
          </p:spPr>
        </p:sp>
      </p:grpSp>
      <p:grpSp>
        <p:nvGrpSpPr>
          <p:cNvPr name="Group 30" id="30"/>
          <p:cNvGrpSpPr/>
          <p:nvPr/>
        </p:nvGrpSpPr>
        <p:grpSpPr>
          <a:xfrm rot="412367">
            <a:off x="3171882" y="1074876"/>
            <a:ext cx="496632" cy="19050"/>
            <a:chOff x="0" y="0"/>
            <a:chExt cx="662176" cy="25400"/>
          </a:xfrm>
        </p:grpSpPr>
        <p:sp>
          <p:nvSpPr>
            <p:cNvPr name="Freeform 31" id="31"/>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2" id="32"/>
          <p:cNvGrpSpPr/>
          <p:nvPr/>
        </p:nvGrpSpPr>
        <p:grpSpPr>
          <a:xfrm rot="0">
            <a:off x="1712100" y="1362056"/>
            <a:ext cx="3006800" cy="2750344"/>
            <a:chOff x="0" y="0"/>
            <a:chExt cx="4009067" cy="3667125"/>
          </a:xfrm>
        </p:grpSpPr>
        <p:sp>
          <p:nvSpPr>
            <p:cNvPr name="Freeform 33" id="33"/>
            <p:cNvSpPr/>
            <p:nvPr/>
          </p:nvSpPr>
          <p:spPr>
            <a:xfrm flipH="false" flipV="false" rot="0">
              <a:off x="0" y="0"/>
              <a:ext cx="4009067" cy="3667125"/>
            </a:xfrm>
            <a:custGeom>
              <a:avLst/>
              <a:gdLst/>
              <a:ahLst/>
              <a:cxnLst/>
              <a:rect r="r" b="b" t="t" l="l"/>
              <a:pathLst>
                <a:path h="3667125" w="4009067">
                  <a:moveTo>
                    <a:pt x="0" y="0"/>
                  </a:moveTo>
                  <a:lnTo>
                    <a:pt x="4009067" y="0"/>
                  </a:lnTo>
                  <a:lnTo>
                    <a:pt x="4009067" y="3667125"/>
                  </a:lnTo>
                  <a:lnTo>
                    <a:pt x="0" y="3667125"/>
                  </a:lnTo>
                  <a:close/>
                </a:path>
              </a:pathLst>
            </a:custGeom>
            <a:solidFill>
              <a:srgbClr val="000000">
                <a:alpha val="0"/>
              </a:srgbClr>
            </a:solidFill>
          </p:spPr>
        </p:sp>
        <p:sp>
          <p:nvSpPr>
            <p:cNvPr name="TextBox 34" id="34"/>
            <p:cNvSpPr txBox="true"/>
            <p:nvPr/>
          </p:nvSpPr>
          <p:spPr>
            <a:xfrm>
              <a:off x="0" y="-9525"/>
              <a:ext cx="4009067" cy="3676650"/>
            </a:xfrm>
            <a:prstGeom prst="rect">
              <a:avLst/>
            </a:prstGeom>
          </p:spPr>
          <p:txBody>
            <a:bodyPr anchor="ctr" rtlCol="false" tIns="0" lIns="0" bIns="0" rIns="0"/>
            <a:lstStyle/>
            <a:p>
              <a:pPr algn="ctr">
                <a:lnSpc>
                  <a:spcPts val="16800"/>
                </a:lnSpc>
              </a:pPr>
              <a:r>
                <a:rPr lang="en-US" sz="14000" b="true">
                  <a:solidFill>
                    <a:srgbClr val="000000"/>
                  </a:solidFill>
                  <a:latin typeface="Rubik Bold"/>
                  <a:ea typeface="Rubik Bold"/>
                  <a:cs typeface="Rubik Bold"/>
                  <a:sym typeface="Rubik Bold"/>
                </a:rPr>
                <a:t>03</a:t>
              </a:r>
            </a:p>
          </p:txBody>
        </p:sp>
      </p:grpSp>
      <p:sp>
        <p:nvSpPr>
          <p:cNvPr name="TextBox 35" id="35"/>
          <p:cNvSpPr txBox="true"/>
          <p:nvPr/>
        </p:nvSpPr>
        <p:spPr>
          <a:xfrm rot="0">
            <a:off x="3441889" y="5027223"/>
            <a:ext cx="11346418" cy="1552550"/>
          </a:xfrm>
          <a:prstGeom prst="rect">
            <a:avLst/>
          </a:prstGeom>
        </p:spPr>
        <p:txBody>
          <a:bodyPr anchor="t" rtlCol="false" tIns="0" lIns="0" bIns="0" rIns="0">
            <a:spAutoFit/>
          </a:bodyPr>
          <a:lstStyle/>
          <a:p>
            <a:pPr algn="ctr">
              <a:lnSpc>
                <a:spcPts val="11999"/>
              </a:lnSpc>
            </a:pPr>
            <a:r>
              <a:rPr lang="en-US" sz="9999" b="true">
                <a:solidFill>
                  <a:srgbClr val="000000"/>
                </a:solidFill>
                <a:latin typeface="Times New Roman Bold"/>
                <a:ea typeface="Times New Roman Bold"/>
                <a:cs typeface="Times New Roman Bold"/>
                <a:sym typeface="Times New Roman Bold"/>
              </a:rPr>
              <a:t>KẾ HOẠCH DỰ ÁN</a:t>
            </a:r>
          </a:p>
        </p:txBody>
      </p:sp>
      <p:sp>
        <p:nvSpPr>
          <p:cNvPr name="Freeform 36" id="36"/>
          <p:cNvSpPr/>
          <p:nvPr/>
        </p:nvSpPr>
        <p:spPr>
          <a:xfrm flipH="false" flipV="false" rot="0">
            <a:off x="903553" y="8187457"/>
            <a:ext cx="1053295" cy="1053295"/>
          </a:xfrm>
          <a:custGeom>
            <a:avLst/>
            <a:gdLst/>
            <a:ahLst/>
            <a:cxnLst/>
            <a:rect r="r" b="b" t="t" l="l"/>
            <a:pathLst>
              <a:path h="1053295" w="1053295">
                <a:moveTo>
                  <a:pt x="0" y="0"/>
                </a:moveTo>
                <a:lnTo>
                  <a:pt x="1053295" y="0"/>
                </a:lnTo>
                <a:lnTo>
                  <a:pt x="1053295" y="1053295"/>
                </a:lnTo>
                <a:lnTo>
                  <a:pt x="0" y="1053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false" flipV="false" rot="0">
            <a:off x="7656916" y="3442934"/>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4">
              <a:extLst>
                <a:ext uri="{96DAC541-7B7A-43D3-8B79-37D633B846F1}">
                  <asvg:svgBlip xmlns:asvg="http://schemas.microsoft.com/office/drawing/2016/SVG/main" r:embed="rId15"/>
                </a:ext>
              </a:extLst>
            </a:blip>
            <a:stretch>
              <a:fillRect l="0" t="-1547" r="0" b="-1547"/>
            </a:stretch>
          </a:blipFill>
        </p:spPr>
      </p:sp>
      <p:sp>
        <p:nvSpPr>
          <p:cNvPr name="Freeform 38" id="38"/>
          <p:cNvSpPr/>
          <p:nvPr/>
        </p:nvSpPr>
        <p:spPr>
          <a:xfrm flipH="false" flipV="false" rot="0">
            <a:off x="8585206" y="3141278"/>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9" id="39"/>
          <p:cNvSpPr/>
          <p:nvPr/>
        </p:nvSpPr>
        <p:spPr>
          <a:xfrm flipH="false" flipV="false" rot="0">
            <a:off x="6084978" y="283465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8">
              <a:extLst>
                <a:ext uri="{96DAC541-7B7A-43D3-8B79-37D633B846F1}">
                  <asvg:svgBlip xmlns:asvg="http://schemas.microsoft.com/office/drawing/2016/SVG/main" r:embed="rId19"/>
                </a:ext>
              </a:extLst>
            </a:blip>
            <a:stretch>
              <a:fillRect l="0" t="-5326" r="0" b="-5326"/>
            </a:stretch>
          </a:blipFill>
        </p:spPr>
      </p:sp>
      <p:sp>
        <p:nvSpPr>
          <p:cNvPr name="Freeform 40" id="40"/>
          <p:cNvSpPr/>
          <p:nvPr/>
        </p:nvSpPr>
        <p:spPr>
          <a:xfrm flipH="false" flipV="false" rot="0">
            <a:off x="898825" y="6811025"/>
            <a:ext cx="1062750" cy="1062750"/>
          </a:xfrm>
          <a:custGeom>
            <a:avLst/>
            <a:gdLst/>
            <a:ahLst/>
            <a:cxnLst/>
            <a:rect r="r" b="b" t="t" l="l"/>
            <a:pathLst>
              <a:path h="1062750" w="1062750">
                <a:moveTo>
                  <a:pt x="0" y="0"/>
                </a:moveTo>
                <a:lnTo>
                  <a:pt x="1062750" y="0"/>
                </a:lnTo>
                <a:lnTo>
                  <a:pt x="1062750" y="1062750"/>
                </a:lnTo>
                <a:lnTo>
                  <a:pt x="0" y="106275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5779015" y="1383181"/>
            <a:ext cx="5835253"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TIẾN ĐỘ DỰ ÁN</a:t>
            </a:r>
          </a:p>
        </p:txBody>
      </p:sp>
      <p:sp>
        <p:nvSpPr>
          <p:cNvPr name="Freeform 18" id="18"/>
          <p:cNvSpPr/>
          <p:nvPr/>
        </p:nvSpPr>
        <p:spPr>
          <a:xfrm flipH="false" flipV="false" rot="0">
            <a:off x="16064617"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0287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grpSp>
        <p:nvGrpSpPr>
          <p:cNvPr name="Group 21" id="21"/>
          <p:cNvGrpSpPr/>
          <p:nvPr/>
        </p:nvGrpSpPr>
        <p:grpSpPr>
          <a:xfrm rot="0">
            <a:off x="2591575" y="2462080"/>
            <a:ext cx="13104850" cy="6825443"/>
            <a:chOff x="0" y="0"/>
            <a:chExt cx="18277837" cy="9519707"/>
          </a:xfrm>
        </p:grpSpPr>
        <p:sp>
          <p:nvSpPr>
            <p:cNvPr name="Freeform 22" id="22"/>
            <p:cNvSpPr/>
            <p:nvPr/>
          </p:nvSpPr>
          <p:spPr>
            <a:xfrm flipH="false" flipV="false" rot="0">
              <a:off x="0" y="0"/>
              <a:ext cx="18277839" cy="9519666"/>
            </a:xfrm>
            <a:custGeom>
              <a:avLst/>
              <a:gdLst/>
              <a:ahLst/>
              <a:cxnLst/>
              <a:rect r="r" b="b" t="t" l="l"/>
              <a:pathLst>
                <a:path h="9519666" w="18277839">
                  <a:moveTo>
                    <a:pt x="0" y="0"/>
                  </a:moveTo>
                  <a:lnTo>
                    <a:pt x="18277839" y="0"/>
                  </a:lnTo>
                  <a:lnTo>
                    <a:pt x="18277839" y="9519666"/>
                  </a:lnTo>
                  <a:lnTo>
                    <a:pt x="0" y="9519666"/>
                  </a:lnTo>
                  <a:lnTo>
                    <a:pt x="0" y="0"/>
                  </a:lnTo>
                  <a:close/>
                </a:path>
              </a:pathLst>
            </a:custGeom>
            <a:blipFill>
              <a:blip r:embed="rId12"/>
              <a:stretch>
                <a:fillRect l="0" t="-35" r="0" b="-36"/>
              </a:stretch>
            </a:blipFill>
          </p:spPr>
        </p:sp>
      </p:gr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8188783" y="3087059"/>
            <a:ext cx="8333042" cy="3145723"/>
          </a:xfrm>
          <a:custGeom>
            <a:avLst/>
            <a:gdLst/>
            <a:ahLst/>
            <a:cxnLst/>
            <a:rect r="r" b="b" t="t" l="l"/>
            <a:pathLst>
              <a:path h="3145723" w="8333042">
                <a:moveTo>
                  <a:pt x="0" y="0"/>
                </a:moveTo>
                <a:lnTo>
                  <a:pt x="8333042" y="0"/>
                </a:lnTo>
                <a:lnTo>
                  <a:pt x="8333042" y="3145723"/>
                </a:lnTo>
                <a:lnTo>
                  <a:pt x="0" y="3145723"/>
                </a:lnTo>
                <a:lnTo>
                  <a:pt x="0" y="0"/>
                </a:lnTo>
                <a:close/>
              </a:path>
            </a:pathLst>
          </a:custGeom>
          <a:blipFill>
            <a:blip r:embed="rId8"/>
            <a:stretch>
              <a:fillRect l="0" t="0" r="0" b="0"/>
            </a:stretch>
          </a:blipFill>
        </p:spPr>
      </p:sp>
      <p:graphicFrame>
        <p:nvGraphicFramePr>
          <p:cNvPr name="Object 19" id="19"/>
          <p:cNvGraphicFramePr/>
          <p:nvPr/>
        </p:nvGraphicFramePr>
        <p:xfrm>
          <a:off x="1028700" y="2487832"/>
          <a:ext cx="7261412" cy="8229600"/>
        </p:xfrm>
        <a:graphic>
          <a:graphicData uri="http://schemas.openxmlformats.org/presentationml/2006/ole">
            <p:oleObj imgW="8902700" imgH="98679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sp>
        <p:nvSpPr>
          <p:cNvPr name="TextBox 20" id="20"/>
          <p:cNvSpPr txBox="true"/>
          <p:nvPr/>
        </p:nvSpPr>
        <p:spPr>
          <a:xfrm rot="0">
            <a:off x="5348105" y="1287932"/>
            <a:ext cx="7409140"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BẢNG - SƠ ĐỒ PERT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8" id="18"/>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sp>
        <p:nvSpPr>
          <p:cNvPr name="Freeform 20" id="20"/>
          <p:cNvSpPr/>
          <p:nvPr/>
        </p:nvSpPr>
        <p:spPr>
          <a:xfrm flipH="false" flipV="false" rot="0">
            <a:off x="2631821" y="2834672"/>
            <a:ext cx="12860979" cy="6466524"/>
          </a:xfrm>
          <a:custGeom>
            <a:avLst/>
            <a:gdLst/>
            <a:ahLst/>
            <a:cxnLst/>
            <a:rect r="r" b="b" t="t" l="l"/>
            <a:pathLst>
              <a:path h="6466524" w="12860979">
                <a:moveTo>
                  <a:pt x="0" y="0"/>
                </a:moveTo>
                <a:lnTo>
                  <a:pt x="12860979" y="0"/>
                </a:lnTo>
                <a:lnTo>
                  <a:pt x="12860979" y="6466524"/>
                </a:lnTo>
                <a:lnTo>
                  <a:pt x="0" y="6466524"/>
                </a:lnTo>
                <a:lnTo>
                  <a:pt x="0" y="0"/>
                </a:lnTo>
                <a:close/>
              </a:path>
            </a:pathLst>
          </a:custGeom>
          <a:blipFill>
            <a:blip r:embed="rId12"/>
            <a:stretch>
              <a:fillRect l="0" t="0" r="0" b="0"/>
            </a:stretch>
          </a:blipFill>
        </p:spPr>
      </p:sp>
      <p:sp>
        <p:nvSpPr>
          <p:cNvPr name="TextBox 21" id="21"/>
          <p:cNvSpPr txBox="true"/>
          <p:nvPr/>
        </p:nvSpPr>
        <p:spPr>
          <a:xfrm rot="0">
            <a:off x="6459498" y="1568390"/>
            <a:ext cx="5369004"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ĐƯỜNG GĂNG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8" id="18"/>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sp>
        <p:nvSpPr>
          <p:cNvPr name="Freeform 20" id="20"/>
          <p:cNvSpPr/>
          <p:nvPr/>
        </p:nvSpPr>
        <p:spPr>
          <a:xfrm flipH="false" flipV="false" rot="0">
            <a:off x="2031898" y="3015647"/>
            <a:ext cx="14590201" cy="2759980"/>
          </a:xfrm>
          <a:custGeom>
            <a:avLst/>
            <a:gdLst/>
            <a:ahLst/>
            <a:cxnLst/>
            <a:rect r="r" b="b" t="t" l="l"/>
            <a:pathLst>
              <a:path h="2759980" w="14590201">
                <a:moveTo>
                  <a:pt x="0" y="0"/>
                </a:moveTo>
                <a:lnTo>
                  <a:pt x="14590200" y="0"/>
                </a:lnTo>
                <a:lnTo>
                  <a:pt x="14590200" y="2759980"/>
                </a:lnTo>
                <a:lnTo>
                  <a:pt x="0" y="2759980"/>
                </a:lnTo>
                <a:lnTo>
                  <a:pt x="0" y="0"/>
                </a:lnTo>
                <a:close/>
              </a:path>
            </a:pathLst>
          </a:custGeom>
          <a:blipFill>
            <a:blip r:embed="rId12"/>
            <a:stretch>
              <a:fillRect l="0" t="0" r="0" b="0"/>
            </a:stretch>
          </a:blipFill>
        </p:spPr>
      </p:sp>
      <p:graphicFrame>
        <p:nvGraphicFramePr>
          <p:cNvPr name="Object 21" id="21"/>
          <p:cNvGraphicFramePr/>
          <p:nvPr/>
        </p:nvGraphicFramePr>
        <p:xfrm>
          <a:off x="731400" y="5966127"/>
          <a:ext cx="7543800" cy="3143250"/>
        </p:xfrm>
        <a:graphic>
          <a:graphicData uri="http://schemas.openxmlformats.org/presentationml/2006/ole">
            <p:oleObj imgW="9042400" imgH="4648200" r:id="rId14" progId="Excel.Sheet.12" name="Worksheet">
              <p:embed/>
              <p:pic>
                <p:nvPicPr>
                  <p:cNvPr name="" id="0"/>
                  <p:cNvPicPr/>
                  <p:nvPr/>
                </p:nvPicPr>
                <p:blipFill>
                  <a:blip r:embed="rId13"/>
                  <a:stretch>
                    <a:fillRect/>
                  </a:stretch>
                </p:blipFill>
                <p:spPr>
                  <a:xfrm>
                    <a:off x="1270000" y="1270000"/>
                    <a:ext cx="1270000" cy="1270000"/>
                  </a:xfrm>
                  <a:prstGeom prst="rect"/>
                </p:spPr>
              </p:pic>
            </p:oleObj>
          </a:graphicData>
        </a:graphic>
      </p:graphicFrame>
      <p:graphicFrame>
        <p:nvGraphicFramePr>
          <p:cNvPr name="Object 22" id="22"/>
          <p:cNvGraphicFramePr/>
          <p:nvPr/>
        </p:nvGraphicFramePr>
        <p:xfrm>
          <a:off x="6518878" y="5966127"/>
          <a:ext cx="7543800" cy="3771900"/>
        </p:xfrm>
        <a:graphic>
          <a:graphicData uri="http://schemas.openxmlformats.org/presentationml/2006/ole">
            <p:oleObj imgW="9042400" imgH="5270500" r:id="rId16" progId="Excel.Sheet.12" name="Worksheet">
              <p:embed/>
              <p:pic>
                <p:nvPicPr>
                  <p:cNvPr name="" id="0"/>
                  <p:cNvPicPr/>
                  <p:nvPr/>
                </p:nvPicPr>
                <p:blipFill>
                  <a:blip r:embed="rId15"/>
                  <a:stretch>
                    <a:fillRect/>
                  </a:stretch>
                </p:blipFill>
                <p:spPr>
                  <a:xfrm>
                    <a:off x="1270000" y="1270000"/>
                    <a:ext cx="1270000" cy="1270000"/>
                  </a:xfrm>
                  <a:prstGeom prst="rect"/>
                </p:spPr>
              </p:pic>
            </p:oleObj>
          </a:graphicData>
        </a:graphic>
      </p:graphicFrame>
      <p:graphicFrame>
        <p:nvGraphicFramePr>
          <p:cNvPr name="Object 23" id="23"/>
          <p:cNvGraphicFramePr/>
          <p:nvPr/>
        </p:nvGraphicFramePr>
        <p:xfrm>
          <a:off x="12170093" y="6007165"/>
          <a:ext cx="7543800" cy="3771900"/>
        </p:xfrm>
        <a:graphic>
          <a:graphicData uri="http://schemas.openxmlformats.org/presentationml/2006/ole">
            <p:oleObj imgW="9042400" imgH="5270500" r:id="rId18" progId="Excel.Sheet.12" name="Worksheet">
              <p:embed/>
              <p:pic>
                <p:nvPicPr>
                  <p:cNvPr name="" id="0"/>
                  <p:cNvPicPr/>
                  <p:nvPr/>
                </p:nvPicPr>
                <p:blipFill>
                  <a:blip r:embed="rId17"/>
                  <a:stretch>
                    <a:fillRect/>
                  </a:stretch>
                </p:blipFill>
                <p:spPr>
                  <a:xfrm>
                    <a:off x="1270000" y="1270000"/>
                    <a:ext cx="1270000" cy="1270000"/>
                  </a:xfrm>
                  <a:prstGeom prst="rect"/>
                </p:spPr>
              </p:pic>
            </p:oleObj>
          </a:graphicData>
        </a:graphic>
      </p:graphicFrame>
      <p:sp>
        <p:nvSpPr>
          <p:cNvPr name="TextBox 24" id="24"/>
          <p:cNvSpPr txBox="true"/>
          <p:nvPr/>
        </p:nvSpPr>
        <p:spPr>
          <a:xfrm rot="0">
            <a:off x="5041344" y="1568390"/>
            <a:ext cx="8205311"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BẢNG - ĐƯỜNG GĂNG</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8" id="18"/>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sp>
        <p:nvSpPr>
          <p:cNvPr name="Freeform 20" id="20"/>
          <p:cNvSpPr/>
          <p:nvPr/>
        </p:nvSpPr>
        <p:spPr>
          <a:xfrm flipH="false" flipV="false" rot="0">
            <a:off x="8732936" y="3366110"/>
            <a:ext cx="7194827" cy="3920776"/>
          </a:xfrm>
          <a:custGeom>
            <a:avLst/>
            <a:gdLst/>
            <a:ahLst/>
            <a:cxnLst/>
            <a:rect r="r" b="b" t="t" l="l"/>
            <a:pathLst>
              <a:path h="3920776" w="7194827">
                <a:moveTo>
                  <a:pt x="0" y="0"/>
                </a:moveTo>
                <a:lnTo>
                  <a:pt x="7194826" y="0"/>
                </a:lnTo>
                <a:lnTo>
                  <a:pt x="7194826" y="3920776"/>
                </a:lnTo>
                <a:lnTo>
                  <a:pt x="0" y="3920776"/>
                </a:lnTo>
                <a:lnTo>
                  <a:pt x="0" y="0"/>
                </a:lnTo>
                <a:close/>
              </a:path>
            </a:pathLst>
          </a:custGeom>
          <a:blipFill>
            <a:blip r:embed="rId12"/>
            <a:stretch>
              <a:fillRect l="0" t="0" r="0" b="0"/>
            </a:stretch>
          </a:blipFill>
        </p:spPr>
      </p:sp>
      <p:sp>
        <p:nvSpPr>
          <p:cNvPr name="TextBox 21" id="21"/>
          <p:cNvSpPr txBox="true"/>
          <p:nvPr/>
        </p:nvSpPr>
        <p:spPr>
          <a:xfrm rot="0">
            <a:off x="6239681" y="1637600"/>
            <a:ext cx="5808638"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CHI PHÍ DỰ ÁN</a:t>
            </a:r>
          </a:p>
        </p:txBody>
      </p:sp>
      <p:sp>
        <p:nvSpPr>
          <p:cNvPr name="TextBox 22" id="22"/>
          <p:cNvSpPr txBox="true"/>
          <p:nvPr/>
        </p:nvSpPr>
        <p:spPr>
          <a:xfrm rot="0">
            <a:off x="1622617" y="4187222"/>
            <a:ext cx="7302736" cy="2635098"/>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Tổng chi phí (Baseli</a:t>
            </a:r>
            <a:r>
              <a:rPr lang="en-US" b="true" sz="2400">
                <a:solidFill>
                  <a:srgbClr val="000000"/>
                </a:solidFill>
                <a:latin typeface="Times New Roman Bold"/>
                <a:ea typeface="Times New Roman Bold"/>
                <a:cs typeface="Times New Roman Bold"/>
                <a:sym typeface="Times New Roman Bold"/>
              </a:rPr>
              <a:t>ne Cost): 65.760.000 đ</a:t>
            </a:r>
          </a:p>
          <a:p>
            <a:pPr algn="l"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Chi phí đã dùng (Actual Cost): 2.880.000 đ</a:t>
            </a:r>
          </a:p>
          <a:p>
            <a:pPr algn="l" marL="518160" indent="-259080" lvl="1">
              <a:lnSpc>
                <a:spcPts val="3359"/>
              </a:lnSpc>
              <a:buFont typeface="Arial"/>
              <a:buChar char="•"/>
            </a:pPr>
            <a:r>
              <a:rPr lang="en-US" b="true" sz="2400">
                <a:solidFill>
                  <a:srgbClr val="000000"/>
                </a:solidFill>
                <a:latin typeface="Times New Roman Bold"/>
                <a:ea typeface="Times New Roman Bold"/>
                <a:cs typeface="Times New Roman Bold"/>
                <a:sym typeface="Times New Roman Bold"/>
              </a:rPr>
              <a:t>Chi phí còn lại (Remaining Cost): 62.880.000 đ</a:t>
            </a:r>
          </a:p>
          <a:p>
            <a:pPr algn="l" marL="518160" indent="-259080" lvl="1">
              <a:lnSpc>
                <a:spcPts val="3360"/>
              </a:lnSpc>
              <a:buFont typeface="Arial"/>
              <a:buChar char="•"/>
            </a:pPr>
            <a:r>
              <a:rPr lang="en-US" b="true" sz="2400">
                <a:solidFill>
                  <a:srgbClr val="000000"/>
                </a:solidFill>
                <a:latin typeface="Times New Roman Bold"/>
                <a:ea typeface="Times New Roman Bold"/>
                <a:cs typeface="Times New Roman Bold"/>
                <a:sym typeface="Times New Roman Bold"/>
              </a:rPr>
              <a:t>Đơn giá nhân lực: 60.000 đ/giờ</a:t>
            </a:r>
          </a:p>
          <a:p>
            <a:pPr algn="l" marL="518160" indent="-259080" lvl="1">
              <a:lnSpc>
                <a:spcPts val="3360"/>
              </a:lnSpc>
              <a:buFont typeface="Arial"/>
              <a:buChar char="•"/>
            </a:pPr>
            <a:r>
              <a:rPr lang="en-US" b="true" sz="2400">
                <a:solidFill>
                  <a:srgbClr val="000000"/>
                </a:solidFill>
                <a:latin typeface="Times New Roman Bold"/>
                <a:ea typeface="Times New Roman Bold"/>
                <a:cs typeface="Times New Roman Bold"/>
                <a:sym typeface="Times New Roman Bold"/>
              </a:rPr>
              <a:t>Tổng khối lượng công việc: 1.096 giờ</a:t>
            </a:r>
          </a:p>
          <a:p>
            <a:pPr algn="l">
              <a:lnSpc>
                <a:spcPts val="4352"/>
              </a:lnSpc>
            </a:pPr>
          </a:p>
        </p:txBody>
      </p:sp>
      <p:sp>
        <p:nvSpPr>
          <p:cNvPr name="TextBox 23" id="23"/>
          <p:cNvSpPr txBox="true"/>
          <p:nvPr/>
        </p:nvSpPr>
        <p:spPr>
          <a:xfrm rot="0">
            <a:off x="864149" y="7772661"/>
            <a:ext cx="17423851" cy="474345"/>
          </a:xfrm>
          <a:prstGeom prst="rect">
            <a:avLst/>
          </a:prstGeom>
        </p:spPr>
        <p:txBody>
          <a:bodyPr anchor="t" rtlCol="false" tIns="0" lIns="0" bIns="0" rIns="0">
            <a:spAutoFit/>
          </a:bodyPr>
          <a:lstStyle/>
          <a:p>
            <a:pPr algn="ctr">
              <a:lnSpc>
                <a:spcPts val="3779"/>
              </a:lnSpc>
            </a:pPr>
            <a:r>
              <a:rPr lang="en-US" sz="2700" b="true">
                <a:solidFill>
                  <a:srgbClr val="000000"/>
                </a:solidFill>
                <a:latin typeface="Times New Roman Bold"/>
                <a:ea typeface="Times New Roman Bold"/>
                <a:cs typeface="Times New Roman Bold"/>
                <a:sym typeface="Times New Roman Bold"/>
              </a:rPr>
              <a:t>Dự án</a:t>
            </a:r>
            <a:r>
              <a:rPr lang="en-US" b="true" sz="2700">
                <a:solidFill>
                  <a:srgbClr val="000000"/>
                </a:solidFill>
                <a:latin typeface="Times New Roman Bold"/>
                <a:ea typeface="Times New Roman Bold"/>
                <a:cs typeface="Times New Roman Bold"/>
                <a:sym typeface="Times New Roman Bold"/>
              </a:rPr>
              <a:t> đang theo đúng ngân sách, chưa phát sinh vượt chi phí.</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2925600" y="1668900"/>
            <a:ext cx="12801600" cy="7315200"/>
            <a:chOff x="0" y="0"/>
            <a:chExt cx="17068800" cy="9753600"/>
          </a:xfrm>
        </p:grpSpPr>
        <p:sp>
          <p:nvSpPr>
            <p:cNvPr name="Freeform 5" id="5"/>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6" id="6"/>
          <p:cNvSpPr/>
          <p:nvPr/>
        </p:nvSpPr>
        <p:spPr>
          <a:xfrm flipH="false" flipV="false" rot="0">
            <a:off x="2742600" y="1457325"/>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5277">
            <a:off x="2704437" y="2198250"/>
            <a:ext cx="12879127" cy="19050"/>
            <a:chOff x="0" y="0"/>
            <a:chExt cx="17172169" cy="25400"/>
          </a:xfrm>
        </p:grpSpPr>
        <p:sp>
          <p:nvSpPr>
            <p:cNvPr name="Freeform 8" id="8"/>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4870663" y="1832526"/>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4870663" y="1832526"/>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4327325" y="1640001"/>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12367">
            <a:off x="13615582" y="2015526"/>
            <a:ext cx="496632" cy="19050"/>
            <a:chOff x="0" y="0"/>
            <a:chExt cx="662176" cy="25400"/>
          </a:xfrm>
        </p:grpSpPr>
        <p:sp>
          <p:nvSpPr>
            <p:cNvPr name="Freeform 16" id="16"/>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0045450" y="2852300"/>
            <a:ext cx="7315180" cy="696694"/>
          </a:xfrm>
          <a:custGeom>
            <a:avLst/>
            <a:gdLst/>
            <a:ahLst/>
            <a:cxnLst/>
            <a:rect r="r" b="b" t="t" l="l"/>
            <a:pathLst>
              <a:path h="696694" w="7315180">
                <a:moveTo>
                  <a:pt x="0" y="0"/>
                </a:moveTo>
                <a:lnTo>
                  <a:pt x="7315180" y="0"/>
                </a:lnTo>
                <a:lnTo>
                  <a:pt x="7315180" y="696694"/>
                </a:lnTo>
                <a:lnTo>
                  <a:pt x="0" y="696694"/>
                </a:lnTo>
                <a:lnTo>
                  <a:pt x="0" y="0"/>
                </a:lnTo>
                <a:close/>
              </a:path>
            </a:pathLst>
          </a:custGeom>
          <a:blipFill>
            <a:blip r:embed="rId6">
              <a:extLst>
                <a:ext uri="{96DAC541-7B7A-43D3-8B79-37D633B846F1}">
                  <asvg:svgBlip xmlns:asvg="http://schemas.microsoft.com/office/drawing/2016/SVG/main" r:embed="rId7"/>
                </a:ext>
              </a:extLst>
            </a:blip>
            <a:stretch>
              <a:fillRect l="0" t="-585" r="0" b="-585"/>
            </a:stretch>
          </a:blipFill>
        </p:spPr>
      </p:sp>
      <p:sp>
        <p:nvSpPr>
          <p:cNvPr name="Freeform 18" id="18"/>
          <p:cNvSpPr/>
          <p:nvPr/>
        </p:nvSpPr>
        <p:spPr>
          <a:xfrm flipH="false" flipV="false" rot="0">
            <a:off x="14630399" y="3936501"/>
            <a:ext cx="2743192" cy="1206990"/>
          </a:xfrm>
          <a:custGeom>
            <a:avLst/>
            <a:gdLst/>
            <a:ahLst/>
            <a:cxnLst/>
            <a:rect r="r" b="b" t="t" l="l"/>
            <a:pathLst>
              <a:path h="1206990" w="2743192">
                <a:moveTo>
                  <a:pt x="0" y="0"/>
                </a:moveTo>
                <a:lnTo>
                  <a:pt x="2743192" y="0"/>
                </a:lnTo>
                <a:lnTo>
                  <a:pt x="2743192" y="1206990"/>
                </a:lnTo>
                <a:lnTo>
                  <a:pt x="0" y="1206990"/>
                </a:lnTo>
                <a:lnTo>
                  <a:pt x="0" y="0"/>
                </a:lnTo>
                <a:close/>
              </a:path>
            </a:pathLst>
          </a:custGeom>
          <a:blipFill>
            <a:blip r:embed="rId8">
              <a:extLst>
                <a:ext uri="{96DAC541-7B7A-43D3-8B79-37D633B846F1}">
                  <asvg:svgBlip xmlns:asvg="http://schemas.microsoft.com/office/drawing/2016/SVG/main" r:embed="rId9"/>
                </a:ext>
              </a:extLst>
            </a:blip>
            <a:stretch>
              <a:fillRect l="0" t="-111" r="0" b="-111"/>
            </a:stretch>
          </a:blipFill>
        </p:spPr>
      </p:sp>
      <p:grpSp>
        <p:nvGrpSpPr>
          <p:cNvPr name="Group 19" id="19"/>
          <p:cNvGrpSpPr/>
          <p:nvPr/>
        </p:nvGrpSpPr>
        <p:grpSpPr>
          <a:xfrm rot="0">
            <a:off x="1613200" y="728548"/>
            <a:ext cx="3657600" cy="3657600"/>
            <a:chOff x="0" y="0"/>
            <a:chExt cx="4876800" cy="4876800"/>
          </a:xfrm>
        </p:grpSpPr>
        <p:sp>
          <p:nvSpPr>
            <p:cNvPr name="Freeform 20" id="20"/>
            <p:cNvSpPr/>
            <p:nvPr/>
          </p:nvSpPr>
          <p:spPr>
            <a:xfrm flipH="false" flipV="false" rot="0">
              <a:off x="0" y="0"/>
              <a:ext cx="4876800" cy="4876800"/>
            </a:xfrm>
            <a:custGeom>
              <a:avLst/>
              <a:gdLst/>
              <a:ahLst/>
              <a:cxnLst/>
              <a:rect r="r" b="b" t="t" l="l"/>
              <a:pathLst>
                <a:path h="4876800" w="4876800">
                  <a:moveTo>
                    <a:pt x="0" y="0"/>
                  </a:moveTo>
                  <a:lnTo>
                    <a:pt x="4876800" y="0"/>
                  </a:lnTo>
                  <a:lnTo>
                    <a:pt x="4876800" y="4876800"/>
                  </a:lnTo>
                  <a:lnTo>
                    <a:pt x="0" y="4876800"/>
                  </a:lnTo>
                </a:path>
              </a:pathLst>
            </a:custGeom>
            <a:solidFill>
              <a:srgbClr val="000000"/>
            </a:solidFill>
            <a:ln w="12700">
              <a:solidFill>
                <a:srgbClr val="000000"/>
              </a:solidFill>
            </a:ln>
          </p:spPr>
        </p:sp>
      </p:grpSp>
      <p:sp>
        <p:nvSpPr>
          <p:cNvPr name="Freeform 21" id="21"/>
          <p:cNvSpPr/>
          <p:nvPr/>
        </p:nvSpPr>
        <p:spPr>
          <a:xfrm flipH="false" flipV="false" rot="0">
            <a:off x="1430200" y="519823"/>
            <a:ext cx="3686175" cy="3714750"/>
          </a:xfrm>
          <a:custGeom>
            <a:avLst/>
            <a:gdLst/>
            <a:ahLst/>
            <a:cxnLst/>
            <a:rect r="r" b="b" t="t" l="l"/>
            <a:pathLst>
              <a:path h="3714750" w="3686175">
                <a:moveTo>
                  <a:pt x="0" y="0"/>
                </a:moveTo>
                <a:lnTo>
                  <a:pt x="3686175" y="0"/>
                </a:lnTo>
                <a:lnTo>
                  <a:pt x="3686175" y="3714750"/>
                </a:lnTo>
                <a:lnTo>
                  <a:pt x="0" y="37147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2" id="22"/>
          <p:cNvGrpSpPr/>
          <p:nvPr/>
        </p:nvGrpSpPr>
        <p:grpSpPr>
          <a:xfrm rot="53047">
            <a:off x="1397584" y="1256550"/>
            <a:ext cx="3722841" cy="19050"/>
            <a:chOff x="0" y="0"/>
            <a:chExt cx="4963788" cy="25400"/>
          </a:xfrm>
        </p:grpSpPr>
        <p:sp>
          <p:nvSpPr>
            <p:cNvPr name="Freeform 23" id="23"/>
            <p:cNvSpPr/>
            <p:nvPr/>
          </p:nvSpPr>
          <p:spPr>
            <a:xfrm flipH="false" flipV="false" rot="0">
              <a:off x="0" y="0"/>
              <a:ext cx="4963795" cy="25400"/>
            </a:xfrm>
            <a:custGeom>
              <a:avLst/>
              <a:gdLst/>
              <a:ahLst/>
              <a:cxnLst/>
              <a:rect r="r" b="b" t="t" l="l"/>
              <a:pathLst>
                <a:path h="25400" w="4963795">
                  <a:moveTo>
                    <a:pt x="12700" y="0"/>
                  </a:moveTo>
                  <a:lnTo>
                    <a:pt x="4951095" y="0"/>
                  </a:lnTo>
                  <a:cubicBezTo>
                    <a:pt x="4958080" y="0"/>
                    <a:pt x="4963795" y="5715"/>
                    <a:pt x="4963795" y="12700"/>
                  </a:cubicBezTo>
                  <a:cubicBezTo>
                    <a:pt x="4963795" y="19685"/>
                    <a:pt x="4958080" y="25400"/>
                    <a:pt x="495109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4" id="24"/>
          <p:cNvGrpSpPr/>
          <p:nvPr/>
        </p:nvGrpSpPr>
        <p:grpSpPr>
          <a:xfrm rot="2699999">
            <a:off x="4410163" y="891876"/>
            <a:ext cx="617474" cy="19050"/>
            <a:chOff x="0" y="0"/>
            <a:chExt cx="823299" cy="25400"/>
          </a:xfrm>
        </p:grpSpPr>
        <p:sp>
          <p:nvSpPr>
            <p:cNvPr name="Freeform 25" id="25"/>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6" id="26"/>
          <p:cNvGrpSpPr/>
          <p:nvPr/>
        </p:nvGrpSpPr>
        <p:grpSpPr>
          <a:xfrm rot="2700000">
            <a:off x="4410163" y="891876"/>
            <a:ext cx="617474" cy="19050"/>
            <a:chOff x="0" y="0"/>
            <a:chExt cx="823299" cy="25400"/>
          </a:xfrm>
        </p:grpSpPr>
        <p:sp>
          <p:nvSpPr>
            <p:cNvPr name="Freeform 27" id="27"/>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8" id="28"/>
          <p:cNvGrpSpPr/>
          <p:nvPr/>
        </p:nvGrpSpPr>
        <p:grpSpPr>
          <a:xfrm rot="0">
            <a:off x="3874325" y="706551"/>
            <a:ext cx="415957" cy="415957"/>
            <a:chOff x="0" y="0"/>
            <a:chExt cx="554609" cy="554609"/>
          </a:xfrm>
        </p:grpSpPr>
        <p:sp>
          <p:nvSpPr>
            <p:cNvPr name="Freeform 29" id="29"/>
            <p:cNvSpPr/>
            <p:nvPr/>
          </p:nvSpPr>
          <p:spPr>
            <a:xfrm flipH="false" flipV="false" rot="0">
              <a:off x="0" y="0"/>
              <a:ext cx="554609" cy="554609"/>
            </a:xfrm>
            <a:custGeom>
              <a:avLst/>
              <a:gdLst/>
              <a:ahLst/>
              <a:cxnLst/>
              <a:rect r="r" b="b" t="t" l="l"/>
              <a:pathLst>
                <a:path h="554609" w="554609">
                  <a:moveTo>
                    <a:pt x="38100" y="0"/>
                  </a:moveTo>
                  <a:lnTo>
                    <a:pt x="516509" y="0"/>
                  </a:lnTo>
                  <a:cubicBezTo>
                    <a:pt x="537591" y="0"/>
                    <a:pt x="554609" y="17018"/>
                    <a:pt x="554609" y="38100"/>
                  </a:cubicBezTo>
                  <a:lnTo>
                    <a:pt x="554609" y="516509"/>
                  </a:lnTo>
                  <a:cubicBezTo>
                    <a:pt x="554609" y="537591"/>
                    <a:pt x="537591" y="554609"/>
                    <a:pt x="516509" y="554609"/>
                  </a:cubicBezTo>
                  <a:lnTo>
                    <a:pt x="38100" y="554609"/>
                  </a:lnTo>
                  <a:cubicBezTo>
                    <a:pt x="17018" y="554609"/>
                    <a:pt x="0" y="537591"/>
                    <a:pt x="0" y="516509"/>
                  </a:cubicBezTo>
                  <a:lnTo>
                    <a:pt x="0" y="38100"/>
                  </a:lnTo>
                  <a:cubicBezTo>
                    <a:pt x="0" y="17018"/>
                    <a:pt x="17018" y="0"/>
                    <a:pt x="38100" y="0"/>
                  </a:cubicBezTo>
                  <a:moveTo>
                    <a:pt x="38100" y="76200"/>
                  </a:moveTo>
                  <a:lnTo>
                    <a:pt x="38100" y="38100"/>
                  </a:lnTo>
                  <a:lnTo>
                    <a:pt x="76200" y="38100"/>
                  </a:lnTo>
                  <a:lnTo>
                    <a:pt x="76200" y="516509"/>
                  </a:lnTo>
                  <a:lnTo>
                    <a:pt x="38100" y="516509"/>
                  </a:lnTo>
                  <a:lnTo>
                    <a:pt x="38100" y="478409"/>
                  </a:lnTo>
                  <a:lnTo>
                    <a:pt x="516509" y="478409"/>
                  </a:lnTo>
                  <a:lnTo>
                    <a:pt x="516509" y="516509"/>
                  </a:lnTo>
                  <a:lnTo>
                    <a:pt x="478409" y="516509"/>
                  </a:lnTo>
                  <a:lnTo>
                    <a:pt x="478409" y="38100"/>
                  </a:lnTo>
                  <a:lnTo>
                    <a:pt x="516509" y="38100"/>
                  </a:lnTo>
                  <a:lnTo>
                    <a:pt x="516509" y="76200"/>
                  </a:lnTo>
                  <a:lnTo>
                    <a:pt x="38100" y="76200"/>
                  </a:lnTo>
                  <a:close/>
                </a:path>
              </a:pathLst>
            </a:custGeom>
            <a:solidFill>
              <a:srgbClr val="000000"/>
            </a:solidFill>
            <a:ln w="12700">
              <a:solidFill>
                <a:srgbClr val="000000"/>
              </a:solidFill>
            </a:ln>
          </p:spPr>
        </p:sp>
      </p:grpSp>
      <p:grpSp>
        <p:nvGrpSpPr>
          <p:cNvPr name="Group 30" id="30"/>
          <p:cNvGrpSpPr/>
          <p:nvPr/>
        </p:nvGrpSpPr>
        <p:grpSpPr>
          <a:xfrm rot="412367">
            <a:off x="3171882" y="1074876"/>
            <a:ext cx="496632" cy="19050"/>
            <a:chOff x="0" y="0"/>
            <a:chExt cx="662176" cy="25400"/>
          </a:xfrm>
        </p:grpSpPr>
        <p:sp>
          <p:nvSpPr>
            <p:cNvPr name="Freeform 31" id="31"/>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2" id="32"/>
          <p:cNvGrpSpPr/>
          <p:nvPr/>
        </p:nvGrpSpPr>
        <p:grpSpPr>
          <a:xfrm rot="0">
            <a:off x="1712100" y="1362056"/>
            <a:ext cx="3006800" cy="2750344"/>
            <a:chOff x="0" y="0"/>
            <a:chExt cx="4009067" cy="3667125"/>
          </a:xfrm>
        </p:grpSpPr>
        <p:sp>
          <p:nvSpPr>
            <p:cNvPr name="Freeform 33" id="33"/>
            <p:cNvSpPr/>
            <p:nvPr/>
          </p:nvSpPr>
          <p:spPr>
            <a:xfrm flipH="false" flipV="false" rot="0">
              <a:off x="0" y="0"/>
              <a:ext cx="4009067" cy="3667125"/>
            </a:xfrm>
            <a:custGeom>
              <a:avLst/>
              <a:gdLst/>
              <a:ahLst/>
              <a:cxnLst/>
              <a:rect r="r" b="b" t="t" l="l"/>
              <a:pathLst>
                <a:path h="3667125" w="4009067">
                  <a:moveTo>
                    <a:pt x="0" y="0"/>
                  </a:moveTo>
                  <a:lnTo>
                    <a:pt x="4009067" y="0"/>
                  </a:lnTo>
                  <a:lnTo>
                    <a:pt x="4009067" y="3667125"/>
                  </a:lnTo>
                  <a:lnTo>
                    <a:pt x="0" y="3667125"/>
                  </a:lnTo>
                  <a:close/>
                </a:path>
              </a:pathLst>
            </a:custGeom>
            <a:solidFill>
              <a:srgbClr val="000000">
                <a:alpha val="0"/>
              </a:srgbClr>
            </a:solidFill>
          </p:spPr>
        </p:sp>
        <p:sp>
          <p:nvSpPr>
            <p:cNvPr name="TextBox 34" id="34"/>
            <p:cNvSpPr txBox="true"/>
            <p:nvPr/>
          </p:nvSpPr>
          <p:spPr>
            <a:xfrm>
              <a:off x="0" y="-9525"/>
              <a:ext cx="4009067" cy="3676650"/>
            </a:xfrm>
            <a:prstGeom prst="rect">
              <a:avLst/>
            </a:prstGeom>
          </p:spPr>
          <p:txBody>
            <a:bodyPr anchor="ctr" rtlCol="false" tIns="0" lIns="0" bIns="0" rIns="0"/>
            <a:lstStyle/>
            <a:p>
              <a:pPr algn="ctr">
                <a:lnSpc>
                  <a:spcPts val="16800"/>
                </a:lnSpc>
              </a:pPr>
              <a:r>
                <a:rPr lang="en-US" sz="14000" b="true">
                  <a:solidFill>
                    <a:srgbClr val="000000"/>
                  </a:solidFill>
                  <a:latin typeface="Rubik Bold"/>
                  <a:ea typeface="Rubik Bold"/>
                  <a:cs typeface="Rubik Bold"/>
                  <a:sym typeface="Rubik Bold"/>
                </a:rPr>
                <a:t>04</a:t>
              </a:r>
            </a:p>
          </p:txBody>
        </p:sp>
      </p:grpSp>
      <p:sp>
        <p:nvSpPr>
          <p:cNvPr name="TextBox 35" id="35"/>
          <p:cNvSpPr txBox="true"/>
          <p:nvPr/>
        </p:nvSpPr>
        <p:spPr>
          <a:xfrm rot="0">
            <a:off x="4933593" y="4843348"/>
            <a:ext cx="8420814" cy="2143125"/>
          </a:xfrm>
          <a:prstGeom prst="rect">
            <a:avLst/>
          </a:prstGeom>
        </p:spPr>
        <p:txBody>
          <a:bodyPr anchor="t" rtlCol="false" tIns="0" lIns="0" bIns="0" rIns="0">
            <a:spAutoFit/>
          </a:bodyPr>
          <a:lstStyle/>
          <a:p>
            <a:pPr algn="ctr">
              <a:lnSpc>
                <a:spcPts val="8399"/>
              </a:lnSpc>
            </a:pPr>
            <a:r>
              <a:rPr lang="en-US" sz="6999" b="true">
                <a:solidFill>
                  <a:srgbClr val="000000"/>
                </a:solidFill>
                <a:latin typeface="Times New Roman Bold"/>
                <a:ea typeface="Times New Roman Bold"/>
                <a:cs typeface="Times New Roman Bold"/>
                <a:sym typeface="Times New Roman Bold"/>
              </a:rPr>
              <a:t>KẾT QUẢ MÔ HÌNH</a:t>
            </a:r>
          </a:p>
          <a:p>
            <a:pPr algn="ctr">
              <a:lnSpc>
                <a:spcPts val="8399"/>
              </a:lnSpc>
            </a:pPr>
            <a:r>
              <a:rPr lang="en-US" sz="6999" b="true">
                <a:solidFill>
                  <a:srgbClr val="000000"/>
                </a:solidFill>
                <a:latin typeface="Times New Roman Bold"/>
                <a:ea typeface="Times New Roman Bold"/>
                <a:cs typeface="Times New Roman Bold"/>
                <a:sym typeface="Times New Roman Bold"/>
              </a:rPr>
              <a:t>&amp; DEMO</a:t>
            </a:r>
          </a:p>
        </p:txBody>
      </p:sp>
      <p:sp>
        <p:nvSpPr>
          <p:cNvPr name="Freeform 36" id="36"/>
          <p:cNvSpPr/>
          <p:nvPr/>
        </p:nvSpPr>
        <p:spPr>
          <a:xfrm flipH="false" flipV="false" rot="0">
            <a:off x="903553" y="8187457"/>
            <a:ext cx="1053295" cy="1053295"/>
          </a:xfrm>
          <a:custGeom>
            <a:avLst/>
            <a:gdLst/>
            <a:ahLst/>
            <a:cxnLst/>
            <a:rect r="r" b="b" t="t" l="l"/>
            <a:pathLst>
              <a:path h="1053295" w="1053295">
                <a:moveTo>
                  <a:pt x="0" y="0"/>
                </a:moveTo>
                <a:lnTo>
                  <a:pt x="1053295" y="0"/>
                </a:lnTo>
                <a:lnTo>
                  <a:pt x="1053295" y="1053295"/>
                </a:lnTo>
                <a:lnTo>
                  <a:pt x="0" y="1053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false" flipV="false" rot="0">
            <a:off x="7656916" y="3442934"/>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4">
              <a:extLst>
                <a:ext uri="{96DAC541-7B7A-43D3-8B79-37D633B846F1}">
                  <asvg:svgBlip xmlns:asvg="http://schemas.microsoft.com/office/drawing/2016/SVG/main" r:embed="rId15"/>
                </a:ext>
              </a:extLst>
            </a:blip>
            <a:stretch>
              <a:fillRect l="0" t="-1547" r="0" b="-1547"/>
            </a:stretch>
          </a:blipFill>
        </p:spPr>
      </p:sp>
      <p:sp>
        <p:nvSpPr>
          <p:cNvPr name="Freeform 38" id="38"/>
          <p:cNvSpPr/>
          <p:nvPr/>
        </p:nvSpPr>
        <p:spPr>
          <a:xfrm flipH="false" flipV="false" rot="0">
            <a:off x="8585206" y="3141278"/>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9" id="39"/>
          <p:cNvSpPr/>
          <p:nvPr/>
        </p:nvSpPr>
        <p:spPr>
          <a:xfrm flipH="false" flipV="false" rot="0">
            <a:off x="6084978" y="283465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8">
              <a:extLst>
                <a:ext uri="{96DAC541-7B7A-43D3-8B79-37D633B846F1}">
                  <asvg:svgBlip xmlns:asvg="http://schemas.microsoft.com/office/drawing/2016/SVG/main" r:embed="rId19"/>
                </a:ext>
              </a:extLst>
            </a:blip>
            <a:stretch>
              <a:fillRect l="0" t="-5326" r="0" b="-5326"/>
            </a:stretch>
          </a:blipFill>
        </p:spPr>
      </p:sp>
      <p:sp>
        <p:nvSpPr>
          <p:cNvPr name="Freeform 40" id="40"/>
          <p:cNvSpPr/>
          <p:nvPr/>
        </p:nvSpPr>
        <p:spPr>
          <a:xfrm flipH="false" flipV="false" rot="0">
            <a:off x="898825" y="6811025"/>
            <a:ext cx="1062750" cy="1062750"/>
          </a:xfrm>
          <a:custGeom>
            <a:avLst/>
            <a:gdLst/>
            <a:ahLst/>
            <a:cxnLst/>
            <a:rect r="r" b="b" t="t" l="l"/>
            <a:pathLst>
              <a:path h="1062750" w="1062750">
                <a:moveTo>
                  <a:pt x="0" y="0"/>
                </a:moveTo>
                <a:lnTo>
                  <a:pt x="1062750" y="0"/>
                </a:lnTo>
                <a:lnTo>
                  <a:pt x="1062750" y="1062750"/>
                </a:lnTo>
                <a:lnTo>
                  <a:pt x="0" y="106275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7614883" y="1328605"/>
            <a:ext cx="3789997"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DATA SET</a:t>
            </a:r>
          </a:p>
        </p:txBody>
      </p:sp>
      <p:sp>
        <p:nvSpPr>
          <p:cNvPr name="Freeform 18" id="18"/>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grpSp>
        <p:nvGrpSpPr>
          <p:cNvPr name="Group 21" id="21"/>
          <p:cNvGrpSpPr>
            <a:grpSpLocks noChangeAspect="true"/>
          </p:cNvGrpSpPr>
          <p:nvPr/>
        </p:nvGrpSpPr>
        <p:grpSpPr>
          <a:xfrm rot="0">
            <a:off x="2344614" y="2939447"/>
            <a:ext cx="13929307" cy="6322265"/>
            <a:chOff x="0" y="0"/>
            <a:chExt cx="19181619" cy="8706196"/>
          </a:xfrm>
        </p:grpSpPr>
        <p:sp>
          <p:nvSpPr>
            <p:cNvPr name="Freeform 22" id="22"/>
            <p:cNvSpPr/>
            <p:nvPr/>
          </p:nvSpPr>
          <p:spPr>
            <a:xfrm flipH="false" flipV="false" rot="0">
              <a:off x="0" y="0"/>
              <a:ext cx="19181572" cy="8706231"/>
            </a:xfrm>
            <a:custGeom>
              <a:avLst/>
              <a:gdLst/>
              <a:ahLst/>
              <a:cxnLst/>
              <a:rect r="r" b="b" t="t" l="l"/>
              <a:pathLst>
                <a:path h="8706231" w="19181572">
                  <a:moveTo>
                    <a:pt x="0" y="0"/>
                  </a:moveTo>
                  <a:lnTo>
                    <a:pt x="19181572" y="0"/>
                  </a:lnTo>
                  <a:lnTo>
                    <a:pt x="19181572" y="8706231"/>
                  </a:lnTo>
                  <a:lnTo>
                    <a:pt x="0" y="8706231"/>
                  </a:lnTo>
                  <a:lnTo>
                    <a:pt x="0" y="0"/>
                  </a:lnTo>
                  <a:close/>
                </a:path>
              </a:pathLst>
            </a:custGeom>
            <a:blipFill>
              <a:blip r:embed="rId12"/>
              <a:stretch>
                <a:fillRect l="0" t="0" r="0" b="0"/>
              </a:stretch>
            </a:blipFill>
          </p:spPr>
        </p:sp>
      </p:gr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7614883" y="1328605"/>
            <a:ext cx="3789997"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DATA SET</a:t>
            </a:r>
          </a:p>
        </p:txBody>
      </p:sp>
      <p:sp>
        <p:nvSpPr>
          <p:cNvPr name="Freeform 18" id="18"/>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grpSp>
        <p:nvGrpSpPr>
          <p:cNvPr name="Group 21" id="21"/>
          <p:cNvGrpSpPr>
            <a:grpSpLocks noChangeAspect="true"/>
          </p:cNvGrpSpPr>
          <p:nvPr/>
        </p:nvGrpSpPr>
        <p:grpSpPr>
          <a:xfrm rot="0">
            <a:off x="2536126" y="2834672"/>
            <a:ext cx="13779225" cy="6427822"/>
            <a:chOff x="0" y="0"/>
            <a:chExt cx="18372300" cy="8570429"/>
          </a:xfrm>
        </p:grpSpPr>
        <p:sp>
          <p:nvSpPr>
            <p:cNvPr name="Freeform 22" id="22"/>
            <p:cNvSpPr/>
            <p:nvPr/>
          </p:nvSpPr>
          <p:spPr>
            <a:xfrm flipH="false" flipV="false" rot="0">
              <a:off x="0" y="0"/>
              <a:ext cx="18372328" cy="8570468"/>
            </a:xfrm>
            <a:custGeom>
              <a:avLst/>
              <a:gdLst/>
              <a:ahLst/>
              <a:cxnLst/>
              <a:rect r="r" b="b" t="t" l="l"/>
              <a:pathLst>
                <a:path h="8570468" w="18372328">
                  <a:moveTo>
                    <a:pt x="0" y="0"/>
                  </a:moveTo>
                  <a:lnTo>
                    <a:pt x="18372328" y="0"/>
                  </a:lnTo>
                  <a:lnTo>
                    <a:pt x="18372328" y="8570468"/>
                  </a:lnTo>
                  <a:lnTo>
                    <a:pt x="0" y="8570468"/>
                  </a:lnTo>
                  <a:lnTo>
                    <a:pt x="0" y="0"/>
                  </a:lnTo>
                  <a:close/>
                </a:path>
              </a:pathLst>
            </a:custGeom>
            <a:blipFill>
              <a:blip r:embed="rId12"/>
              <a:stretch>
                <a:fillRect l="0" t="0" r="0" b="0"/>
              </a:stretch>
            </a:blipFill>
          </p:spPr>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7614883" y="1328605"/>
            <a:ext cx="3789997"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DATA SET</a:t>
            </a:r>
          </a:p>
        </p:txBody>
      </p:sp>
      <p:sp>
        <p:nvSpPr>
          <p:cNvPr name="Freeform 18" id="18"/>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grpSp>
        <p:nvGrpSpPr>
          <p:cNvPr name="Group 21" id="21"/>
          <p:cNvGrpSpPr>
            <a:grpSpLocks noChangeAspect="true"/>
          </p:cNvGrpSpPr>
          <p:nvPr/>
        </p:nvGrpSpPr>
        <p:grpSpPr>
          <a:xfrm rot="0">
            <a:off x="2591042" y="2775036"/>
            <a:ext cx="13134487" cy="6306343"/>
            <a:chOff x="0" y="0"/>
            <a:chExt cx="17512649" cy="8408457"/>
          </a:xfrm>
        </p:grpSpPr>
        <p:sp>
          <p:nvSpPr>
            <p:cNvPr name="Freeform 22" id="22"/>
            <p:cNvSpPr/>
            <p:nvPr/>
          </p:nvSpPr>
          <p:spPr>
            <a:xfrm flipH="false" flipV="false" rot="0">
              <a:off x="0" y="0"/>
              <a:ext cx="17512664" cy="8408416"/>
            </a:xfrm>
            <a:custGeom>
              <a:avLst/>
              <a:gdLst/>
              <a:ahLst/>
              <a:cxnLst/>
              <a:rect r="r" b="b" t="t" l="l"/>
              <a:pathLst>
                <a:path h="8408416" w="17512664">
                  <a:moveTo>
                    <a:pt x="0" y="0"/>
                  </a:moveTo>
                  <a:lnTo>
                    <a:pt x="17512664" y="0"/>
                  </a:lnTo>
                  <a:lnTo>
                    <a:pt x="17512664" y="8408416"/>
                  </a:lnTo>
                  <a:lnTo>
                    <a:pt x="0" y="8408416"/>
                  </a:lnTo>
                  <a:lnTo>
                    <a:pt x="0" y="0"/>
                  </a:lnTo>
                  <a:close/>
                </a:path>
              </a:pathLst>
            </a:custGeom>
            <a:blipFill>
              <a:blip r:embed="rId12"/>
              <a:stretch>
                <a:fillRect l="0" t="0" r="0" b="0"/>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7107201" y="1328605"/>
            <a:ext cx="4805362"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TRAIN DATA</a:t>
            </a:r>
          </a:p>
        </p:txBody>
      </p:sp>
      <p:sp>
        <p:nvSpPr>
          <p:cNvPr name="Freeform 18" id="18"/>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grpSp>
        <p:nvGrpSpPr>
          <p:cNvPr name="Group 21" id="21"/>
          <p:cNvGrpSpPr>
            <a:grpSpLocks noChangeAspect="true"/>
          </p:cNvGrpSpPr>
          <p:nvPr/>
        </p:nvGrpSpPr>
        <p:grpSpPr>
          <a:xfrm rot="0">
            <a:off x="2129493" y="2939447"/>
            <a:ext cx="14395010" cy="6518637"/>
            <a:chOff x="0" y="0"/>
            <a:chExt cx="19193347" cy="8691516"/>
          </a:xfrm>
        </p:grpSpPr>
        <p:sp>
          <p:nvSpPr>
            <p:cNvPr name="Freeform 22" id="22"/>
            <p:cNvSpPr/>
            <p:nvPr/>
          </p:nvSpPr>
          <p:spPr>
            <a:xfrm flipH="false" flipV="false" rot="0">
              <a:off x="0" y="0"/>
              <a:ext cx="19193383" cy="8691499"/>
            </a:xfrm>
            <a:custGeom>
              <a:avLst/>
              <a:gdLst/>
              <a:ahLst/>
              <a:cxnLst/>
              <a:rect r="r" b="b" t="t" l="l"/>
              <a:pathLst>
                <a:path h="8691499" w="19193383">
                  <a:moveTo>
                    <a:pt x="0" y="0"/>
                  </a:moveTo>
                  <a:lnTo>
                    <a:pt x="19193383" y="0"/>
                  </a:lnTo>
                  <a:lnTo>
                    <a:pt x="19193383" y="8691499"/>
                  </a:lnTo>
                  <a:lnTo>
                    <a:pt x="0" y="8691499"/>
                  </a:lnTo>
                  <a:lnTo>
                    <a:pt x="0" y="0"/>
                  </a:lnTo>
                  <a:close/>
                </a:path>
              </a:pathLst>
            </a:custGeom>
            <a:blipFill>
              <a:blip r:embed="rId12"/>
              <a:stretch>
                <a:fillRect l="0" t="0" r="0" b="0"/>
              </a:stretch>
            </a:blip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7107201" y="1328605"/>
            <a:ext cx="4805362"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TRAIN DATA</a:t>
            </a:r>
          </a:p>
        </p:txBody>
      </p:sp>
      <p:sp>
        <p:nvSpPr>
          <p:cNvPr name="Freeform 18" id="18"/>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grpSp>
        <p:nvGrpSpPr>
          <p:cNvPr name="Group 21" id="21"/>
          <p:cNvGrpSpPr>
            <a:grpSpLocks noChangeAspect="true"/>
          </p:cNvGrpSpPr>
          <p:nvPr/>
        </p:nvGrpSpPr>
        <p:grpSpPr>
          <a:xfrm rot="0">
            <a:off x="2129493" y="2891822"/>
            <a:ext cx="14395010" cy="6489801"/>
            <a:chOff x="0" y="0"/>
            <a:chExt cx="19193347" cy="8653068"/>
          </a:xfrm>
        </p:grpSpPr>
        <p:sp>
          <p:nvSpPr>
            <p:cNvPr name="Freeform 22" id="22"/>
            <p:cNvSpPr/>
            <p:nvPr/>
          </p:nvSpPr>
          <p:spPr>
            <a:xfrm flipH="false" flipV="false" rot="0">
              <a:off x="0" y="0"/>
              <a:ext cx="19193383" cy="8653018"/>
            </a:xfrm>
            <a:custGeom>
              <a:avLst/>
              <a:gdLst/>
              <a:ahLst/>
              <a:cxnLst/>
              <a:rect r="r" b="b" t="t" l="l"/>
              <a:pathLst>
                <a:path h="8653018" w="19193383">
                  <a:moveTo>
                    <a:pt x="0" y="0"/>
                  </a:moveTo>
                  <a:lnTo>
                    <a:pt x="19193383" y="0"/>
                  </a:lnTo>
                  <a:lnTo>
                    <a:pt x="19193383" y="8653018"/>
                  </a:lnTo>
                  <a:lnTo>
                    <a:pt x="0" y="8653018"/>
                  </a:lnTo>
                  <a:lnTo>
                    <a:pt x="0" y="0"/>
                  </a:lnTo>
                  <a:close/>
                </a:path>
              </a:pathLst>
            </a:custGeom>
            <a:blipFill>
              <a:blip r:embed="rId12"/>
              <a:stretch>
                <a:fillRect l="0" t="0" r="0" b="0"/>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7107201" y="1328605"/>
            <a:ext cx="4805362"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TRAIN DATA</a:t>
            </a:r>
          </a:p>
        </p:txBody>
      </p:sp>
      <p:sp>
        <p:nvSpPr>
          <p:cNvPr name="Freeform 18" id="18"/>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grpSp>
        <p:nvGrpSpPr>
          <p:cNvPr name="Group 21" id="21"/>
          <p:cNvGrpSpPr>
            <a:grpSpLocks noChangeAspect="true"/>
          </p:cNvGrpSpPr>
          <p:nvPr/>
        </p:nvGrpSpPr>
        <p:grpSpPr>
          <a:xfrm rot="0">
            <a:off x="1990367" y="2891822"/>
            <a:ext cx="14673263" cy="6650141"/>
            <a:chOff x="0" y="0"/>
            <a:chExt cx="19564351" cy="8866855"/>
          </a:xfrm>
        </p:grpSpPr>
        <p:sp>
          <p:nvSpPr>
            <p:cNvPr name="Freeform 22" id="22"/>
            <p:cNvSpPr/>
            <p:nvPr/>
          </p:nvSpPr>
          <p:spPr>
            <a:xfrm flipH="false" flipV="false" rot="0">
              <a:off x="0" y="0"/>
              <a:ext cx="19564350" cy="8866886"/>
            </a:xfrm>
            <a:custGeom>
              <a:avLst/>
              <a:gdLst/>
              <a:ahLst/>
              <a:cxnLst/>
              <a:rect r="r" b="b" t="t" l="l"/>
              <a:pathLst>
                <a:path h="8866886" w="19564350">
                  <a:moveTo>
                    <a:pt x="0" y="0"/>
                  </a:moveTo>
                  <a:lnTo>
                    <a:pt x="19564350" y="0"/>
                  </a:lnTo>
                  <a:lnTo>
                    <a:pt x="19564350" y="8866886"/>
                  </a:lnTo>
                  <a:lnTo>
                    <a:pt x="0" y="8866886"/>
                  </a:lnTo>
                  <a:lnTo>
                    <a:pt x="0" y="0"/>
                  </a:lnTo>
                  <a:close/>
                </a:path>
              </a:pathLst>
            </a:custGeom>
            <a:blipFill>
              <a:blip r:embed="rId12"/>
              <a:stretch>
                <a:fillRect l="0" t="0" r="0" b="0"/>
              </a:stretch>
            </a:blipFill>
          </p:spPr>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7107201" y="1328605"/>
            <a:ext cx="4805362"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TRAIN DATA</a:t>
            </a:r>
          </a:p>
        </p:txBody>
      </p:sp>
      <p:sp>
        <p:nvSpPr>
          <p:cNvPr name="Freeform 18" id="18"/>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0">
            <a:off x="1430200" y="271540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0">
              <a:extLst>
                <a:ext uri="{96DAC541-7B7A-43D3-8B79-37D633B846F1}">
                  <asvg:svgBlip xmlns:asvg="http://schemas.microsoft.com/office/drawing/2016/SVG/main" r:embed="rId11"/>
                </a:ext>
              </a:extLst>
            </a:blip>
            <a:stretch>
              <a:fillRect l="0" t="-5326" r="0" b="-5326"/>
            </a:stretch>
          </a:blipFill>
        </p:spPr>
      </p:sp>
      <p:grpSp>
        <p:nvGrpSpPr>
          <p:cNvPr name="Group 21" id="21"/>
          <p:cNvGrpSpPr>
            <a:grpSpLocks noChangeAspect="true"/>
          </p:cNvGrpSpPr>
          <p:nvPr/>
        </p:nvGrpSpPr>
        <p:grpSpPr>
          <a:xfrm rot="0">
            <a:off x="1642087" y="2941047"/>
            <a:ext cx="14673264" cy="6583471"/>
            <a:chOff x="0" y="0"/>
            <a:chExt cx="19564352" cy="8777961"/>
          </a:xfrm>
        </p:grpSpPr>
        <p:sp>
          <p:nvSpPr>
            <p:cNvPr name="Freeform 22" id="22"/>
            <p:cNvSpPr/>
            <p:nvPr/>
          </p:nvSpPr>
          <p:spPr>
            <a:xfrm flipH="false" flipV="false" rot="0">
              <a:off x="0" y="0"/>
              <a:ext cx="19564350" cy="8777986"/>
            </a:xfrm>
            <a:custGeom>
              <a:avLst/>
              <a:gdLst/>
              <a:ahLst/>
              <a:cxnLst/>
              <a:rect r="r" b="b" t="t" l="l"/>
              <a:pathLst>
                <a:path h="8777986" w="19564350">
                  <a:moveTo>
                    <a:pt x="0" y="0"/>
                  </a:moveTo>
                  <a:lnTo>
                    <a:pt x="19564350" y="0"/>
                  </a:lnTo>
                  <a:lnTo>
                    <a:pt x="19564350" y="8777986"/>
                  </a:lnTo>
                  <a:lnTo>
                    <a:pt x="0" y="8777986"/>
                  </a:lnTo>
                  <a:lnTo>
                    <a:pt x="0" y="0"/>
                  </a:lnTo>
                  <a:close/>
                </a:path>
              </a:pathLst>
            </a:custGeom>
            <a:blipFill>
              <a:blip r:embed="rId12"/>
              <a:stretch>
                <a:fillRect l="0" t="0" r="0" b="0"/>
              </a:stretch>
            </a:blipFill>
          </p:spPr>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7619405" y="1509580"/>
            <a:ext cx="3049191"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RESULT</a:t>
            </a:r>
          </a:p>
        </p:txBody>
      </p:sp>
      <p:sp>
        <p:nvSpPr>
          <p:cNvPr name="Freeform 18" id="18"/>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9" id="19"/>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0" id="20"/>
          <p:cNvGrpSpPr>
            <a:grpSpLocks noChangeAspect="true"/>
          </p:cNvGrpSpPr>
          <p:nvPr/>
        </p:nvGrpSpPr>
        <p:grpSpPr>
          <a:xfrm rot="0">
            <a:off x="3855879" y="2570880"/>
            <a:ext cx="10942239" cy="5625639"/>
            <a:chOff x="0" y="0"/>
            <a:chExt cx="8698125" cy="4471892"/>
          </a:xfrm>
        </p:grpSpPr>
        <p:sp>
          <p:nvSpPr>
            <p:cNvPr name="Freeform 21" id="21"/>
            <p:cNvSpPr/>
            <p:nvPr/>
          </p:nvSpPr>
          <p:spPr>
            <a:xfrm flipH="false" flipV="false" rot="0">
              <a:off x="0" y="0"/>
              <a:ext cx="8698103" cy="4471924"/>
            </a:xfrm>
            <a:custGeom>
              <a:avLst/>
              <a:gdLst/>
              <a:ahLst/>
              <a:cxnLst/>
              <a:rect r="r" b="b" t="t" l="l"/>
              <a:pathLst>
                <a:path h="4471924" w="8698103">
                  <a:moveTo>
                    <a:pt x="0" y="0"/>
                  </a:moveTo>
                  <a:lnTo>
                    <a:pt x="8698103" y="0"/>
                  </a:lnTo>
                  <a:lnTo>
                    <a:pt x="8698103" y="4471924"/>
                  </a:lnTo>
                  <a:lnTo>
                    <a:pt x="0" y="4471924"/>
                  </a:lnTo>
                  <a:lnTo>
                    <a:pt x="0" y="0"/>
                  </a:lnTo>
                  <a:close/>
                </a:path>
              </a:pathLst>
            </a:custGeom>
            <a:blipFill>
              <a:blip r:embed="rId10"/>
              <a:stretch>
                <a:fillRect l="0" t="0" r="0" b="0"/>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8" id="18"/>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9" id="19"/>
          <p:cNvGrpSpPr>
            <a:grpSpLocks noChangeAspect="true"/>
          </p:cNvGrpSpPr>
          <p:nvPr/>
        </p:nvGrpSpPr>
        <p:grpSpPr>
          <a:xfrm rot="0">
            <a:off x="4499922" y="2462080"/>
            <a:ext cx="9654152" cy="6961838"/>
            <a:chOff x="0" y="0"/>
            <a:chExt cx="7888941" cy="5688903"/>
          </a:xfrm>
        </p:grpSpPr>
        <p:sp>
          <p:nvSpPr>
            <p:cNvPr name="Freeform 20" id="20"/>
            <p:cNvSpPr/>
            <p:nvPr/>
          </p:nvSpPr>
          <p:spPr>
            <a:xfrm flipH="false" flipV="false" rot="0">
              <a:off x="0" y="0"/>
              <a:ext cx="7888986" cy="5688965"/>
            </a:xfrm>
            <a:custGeom>
              <a:avLst/>
              <a:gdLst/>
              <a:ahLst/>
              <a:cxnLst/>
              <a:rect r="r" b="b" t="t" l="l"/>
              <a:pathLst>
                <a:path h="5688965" w="7888986">
                  <a:moveTo>
                    <a:pt x="0" y="0"/>
                  </a:moveTo>
                  <a:lnTo>
                    <a:pt x="7888986" y="0"/>
                  </a:lnTo>
                  <a:lnTo>
                    <a:pt x="7888986" y="5688965"/>
                  </a:lnTo>
                  <a:lnTo>
                    <a:pt x="0" y="5688965"/>
                  </a:lnTo>
                  <a:lnTo>
                    <a:pt x="0" y="0"/>
                  </a:lnTo>
                  <a:close/>
                </a:path>
              </a:pathLst>
            </a:custGeom>
            <a:blipFill>
              <a:blip r:embed="rId10"/>
              <a:stretch>
                <a:fillRect l="0" t="0" r="0" b="1"/>
              </a:stretch>
            </a:blipFill>
          </p:spPr>
        </p:sp>
      </p:grpSp>
      <p:sp>
        <p:nvSpPr>
          <p:cNvPr name="TextBox 21" id="21"/>
          <p:cNvSpPr txBox="true"/>
          <p:nvPr/>
        </p:nvSpPr>
        <p:spPr>
          <a:xfrm rot="0">
            <a:off x="7619405" y="1509580"/>
            <a:ext cx="3049191"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RESULT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5492800" y="2132900"/>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6">
              <a:extLst>
                <a:ext uri="{96DAC541-7B7A-43D3-8B79-37D633B846F1}">
                  <asvg:svgBlip xmlns:asvg="http://schemas.microsoft.com/office/drawing/2016/SVG/main" r:embed="rId7"/>
                </a:ext>
              </a:extLst>
            </a:blip>
            <a:stretch>
              <a:fillRect l="0" t="-1547" r="0" b="-1547"/>
            </a:stretch>
          </a:blipFill>
        </p:spPr>
      </p:sp>
      <p:sp>
        <p:nvSpPr>
          <p:cNvPr name="Freeform 18" id="18"/>
          <p:cNvSpPr/>
          <p:nvPr/>
        </p:nvSpPr>
        <p:spPr>
          <a:xfrm flipH="false" flipV="false" rot="0">
            <a:off x="15943664" y="183562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9" id="19"/>
          <p:cNvGrpSpPr>
            <a:grpSpLocks noChangeAspect="true"/>
          </p:cNvGrpSpPr>
          <p:nvPr/>
        </p:nvGrpSpPr>
        <p:grpSpPr>
          <a:xfrm rot="0">
            <a:off x="3841418" y="2592855"/>
            <a:ext cx="10971161" cy="6210852"/>
            <a:chOff x="0" y="0"/>
            <a:chExt cx="11515737" cy="6519140"/>
          </a:xfrm>
        </p:grpSpPr>
        <p:sp>
          <p:nvSpPr>
            <p:cNvPr name="Freeform 20" id="20"/>
            <p:cNvSpPr/>
            <p:nvPr/>
          </p:nvSpPr>
          <p:spPr>
            <a:xfrm flipH="false" flipV="false" rot="0">
              <a:off x="0" y="0"/>
              <a:ext cx="11515725" cy="6519164"/>
            </a:xfrm>
            <a:custGeom>
              <a:avLst/>
              <a:gdLst/>
              <a:ahLst/>
              <a:cxnLst/>
              <a:rect r="r" b="b" t="t" l="l"/>
              <a:pathLst>
                <a:path h="6519164" w="11515725">
                  <a:moveTo>
                    <a:pt x="0" y="0"/>
                  </a:moveTo>
                  <a:lnTo>
                    <a:pt x="11515725" y="0"/>
                  </a:lnTo>
                  <a:lnTo>
                    <a:pt x="11515725" y="6519164"/>
                  </a:lnTo>
                  <a:lnTo>
                    <a:pt x="0" y="6519164"/>
                  </a:lnTo>
                  <a:lnTo>
                    <a:pt x="0" y="0"/>
                  </a:lnTo>
                  <a:close/>
                </a:path>
              </a:pathLst>
            </a:custGeom>
            <a:blipFill>
              <a:blip r:embed="rId10"/>
              <a:stretch>
                <a:fillRect l="0" t="0" r="0" b="0"/>
              </a:stretch>
            </a:blipFill>
          </p:spPr>
        </p:sp>
      </p:grpSp>
      <p:sp>
        <p:nvSpPr>
          <p:cNvPr name="TextBox 21" id="21"/>
          <p:cNvSpPr txBox="true"/>
          <p:nvPr/>
        </p:nvSpPr>
        <p:spPr>
          <a:xfrm rot="0">
            <a:off x="7619405" y="1509580"/>
            <a:ext cx="3049191" cy="952500"/>
          </a:xfrm>
          <a:prstGeom prst="rect">
            <a:avLst/>
          </a:prstGeom>
        </p:spPr>
        <p:txBody>
          <a:bodyPr anchor="t" rtlCol="false" tIns="0" lIns="0" bIns="0" rIns="0">
            <a:spAutoFit/>
          </a:bodyPr>
          <a:lstStyle/>
          <a:p>
            <a:pPr algn="ctr">
              <a:lnSpc>
                <a:spcPts val="7200"/>
              </a:lnSpc>
            </a:pPr>
            <a:r>
              <a:rPr lang="en-US" sz="6000" b="true">
                <a:solidFill>
                  <a:srgbClr val="000000"/>
                </a:solidFill>
                <a:latin typeface="Times New Roman Bold"/>
                <a:ea typeface="Times New Roman Bold"/>
                <a:cs typeface="Times New Roman Bold"/>
                <a:sym typeface="Times New Roman Bold"/>
              </a:rPr>
              <a:t>RESULT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7" id="17"/>
          <p:cNvGrpSpPr/>
          <p:nvPr/>
        </p:nvGrpSpPr>
        <p:grpSpPr>
          <a:xfrm rot="0">
            <a:off x="1121368" y="2219570"/>
            <a:ext cx="3326416" cy="6551200"/>
            <a:chOff x="0" y="0"/>
            <a:chExt cx="4435221" cy="8734933"/>
          </a:xfrm>
        </p:grpSpPr>
        <p:sp>
          <p:nvSpPr>
            <p:cNvPr name="Freeform 18" id="18" descr="A screenshot of a phone  AI-generated content may be incorrect."/>
            <p:cNvSpPr/>
            <p:nvPr/>
          </p:nvSpPr>
          <p:spPr>
            <a:xfrm flipH="false" flipV="false" rot="0">
              <a:off x="0" y="0"/>
              <a:ext cx="4435221" cy="8734933"/>
            </a:xfrm>
            <a:custGeom>
              <a:avLst/>
              <a:gdLst/>
              <a:ahLst/>
              <a:cxnLst/>
              <a:rect r="r" b="b" t="t" l="l"/>
              <a:pathLst>
                <a:path h="8734933" w="4435221">
                  <a:moveTo>
                    <a:pt x="0" y="0"/>
                  </a:moveTo>
                  <a:lnTo>
                    <a:pt x="4435221" y="0"/>
                  </a:lnTo>
                  <a:lnTo>
                    <a:pt x="4435221" y="8734933"/>
                  </a:lnTo>
                  <a:lnTo>
                    <a:pt x="0" y="8734933"/>
                  </a:lnTo>
                  <a:lnTo>
                    <a:pt x="0" y="0"/>
                  </a:lnTo>
                  <a:close/>
                </a:path>
              </a:pathLst>
            </a:custGeom>
            <a:blipFill>
              <a:blip r:embed="rId6"/>
              <a:stretch>
                <a:fillRect l="0" t="-23" r="0" b="-23"/>
              </a:stretch>
            </a:blipFill>
          </p:spPr>
        </p:sp>
      </p:grpSp>
      <p:grpSp>
        <p:nvGrpSpPr>
          <p:cNvPr name="Group 19" id="19"/>
          <p:cNvGrpSpPr/>
          <p:nvPr/>
        </p:nvGrpSpPr>
        <p:grpSpPr>
          <a:xfrm rot="0">
            <a:off x="6605626" y="2219570"/>
            <a:ext cx="3343751" cy="6551200"/>
            <a:chOff x="0" y="0"/>
            <a:chExt cx="4458335" cy="8734933"/>
          </a:xfrm>
        </p:grpSpPr>
        <p:sp>
          <p:nvSpPr>
            <p:cNvPr name="Freeform 20" id="20" descr="A screenshot of a chat  AI-generated content may be incorrect."/>
            <p:cNvSpPr/>
            <p:nvPr/>
          </p:nvSpPr>
          <p:spPr>
            <a:xfrm flipH="false" flipV="false" rot="0">
              <a:off x="0" y="0"/>
              <a:ext cx="4458335" cy="8734933"/>
            </a:xfrm>
            <a:custGeom>
              <a:avLst/>
              <a:gdLst/>
              <a:ahLst/>
              <a:cxnLst/>
              <a:rect r="r" b="b" t="t" l="l"/>
              <a:pathLst>
                <a:path h="8734933" w="4458335">
                  <a:moveTo>
                    <a:pt x="0" y="0"/>
                  </a:moveTo>
                  <a:lnTo>
                    <a:pt x="4458335" y="0"/>
                  </a:lnTo>
                  <a:lnTo>
                    <a:pt x="4458335" y="8734933"/>
                  </a:lnTo>
                  <a:lnTo>
                    <a:pt x="0" y="8734933"/>
                  </a:lnTo>
                  <a:lnTo>
                    <a:pt x="0" y="0"/>
                  </a:lnTo>
                  <a:close/>
                </a:path>
              </a:pathLst>
            </a:custGeom>
            <a:blipFill>
              <a:blip r:embed="rId7"/>
              <a:stretch>
                <a:fillRect l="0" t="0" r="0" b="0"/>
              </a:stretch>
            </a:blipFill>
          </p:spPr>
        </p:sp>
      </p:grpSp>
      <p:grpSp>
        <p:nvGrpSpPr>
          <p:cNvPr name="Group 21" id="21"/>
          <p:cNvGrpSpPr/>
          <p:nvPr/>
        </p:nvGrpSpPr>
        <p:grpSpPr>
          <a:xfrm rot="0">
            <a:off x="12852314" y="2219570"/>
            <a:ext cx="3386995" cy="6551200"/>
            <a:chOff x="0" y="0"/>
            <a:chExt cx="4515993" cy="8734933"/>
          </a:xfrm>
        </p:grpSpPr>
        <p:sp>
          <p:nvSpPr>
            <p:cNvPr name="Freeform 22" id="22" descr="A screenshot of a phone  AI-generated content may be incorrect."/>
            <p:cNvSpPr/>
            <p:nvPr/>
          </p:nvSpPr>
          <p:spPr>
            <a:xfrm flipH="false" flipV="false" rot="0">
              <a:off x="0" y="0"/>
              <a:ext cx="4515993" cy="8734933"/>
            </a:xfrm>
            <a:custGeom>
              <a:avLst/>
              <a:gdLst/>
              <a:ahLst/>
              <a:cxnLst/>
              <a:rect r="r" b="b" t="t" l="l"/>
              <a:pathLst>
                <a:path h="8734933" w="4515993">
                  <a:moveTo>
                    <a:pt x="0" y="0"/>
                  </a:moveTo>
                  <a:lnTo>
                    <a:pt x="4515993" y="0"/>
                  </a:lnTo>
                  <a:lnTo>
                    <a:pt x="4515993" y="8734933"/>
                  </a:lnTo>
                  <a:lnTo>
                    <a:pt x="0" y="8734933"/>
                  </a:lnTo>
                  <a:lnTo>
                    <a:pt x="0" y="0"/>
                  </a:lnTo>
                  <a:close/>
                </a:path>
              </a:pathLst>
            </a:custGeom>
            <a:blipFill>
              <a:blip r:embed="rId8"/>
              <a:stretch>
                <a:fillRect l="0" t="-24" r="0" b="-24"/>
              </a:stretch>
            </a:blipFill>
          </p:spPr>
        </p:sp>
      </p:grpSp>
      <p:sp>
        <p:nvSpPr>
          <p:cNvPr name="TextBox 23" id="23"/>
          <p:cNvSpPr txBox="true"/>
          <p:nvPr/>
        </p:nvSpPr>
        <p:spPr>
          <a:xfrm rot="0">
            <a:off x="7132320" y="632460"/>
            <a:ext cx="3937478" cy="457200"/>
          </a:xfrm>
          <a:prstGeom prst="rect">
            <a:avLst/>
          </a:prstGeom>
        </p:spPr>
        <p:txBody>
          <a:bodyPr anchor="t" rtlCol="false" tIns="0" lIns="0" bIns="0" rIns="0">
            <a:spAutoFit/>
          </a:bodyPr>
          <a:lstStyle/>
          <a:p>
            <a:pPr algn="l">
              <a:lnSpc>
                <a:spcPts val="3358"/>
              </a:lnSpc>
            </a:pPr>
            <a:r>
              <a:rPr lang="en-US" sz="2799" b="true">
                <a:solidFill>
                  <a:srgbClr val="000000"/>
                </a:solidFill>
                <a:latin typeface="Times New Roman Bold"/>
                <a:ea typeface="Times New Roman Bold"/>
                <a:cs typeface="Times New Roman Bold"/>
                <a:sym typeface="Times New Roman Bold"/>
              </a:rPr>
              <a:t>Giao diện người dùng</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7" id="17"/>
          <p:cNvGrpSpPr/>
          <p:nvPr/>
        </p:nvGrpSpPr>
        <p:grpSpPr>
          <a:xfrm rot="0">
            <a:off x="989552" y="1643124"/>
            <a:ext cx="3978688" cy="7714202"/>
            <a:chOff x="0" y="0"/>
            <a:chExt cx="5304917" cy="10285603"/>
          </a:xfrm>
        </p:grpSpPr>
        <p:sp>
          <p:nvSpPr>
            <p:cNvPr name="Freeform 18" id="18" descr="A screenshot of a phone  AI-generated content may be incorrect."/>
            <p:cNvSpPr/>
            <p:nvPr/>
          </p:nvSpPr>
          <p:spPr>
            <a:xfrm flipH="false" flipV="false" rot="0">
              <a:off x="0" y="0"/>
              <a:ext cx="5304917" cy="10285603"/>
            </a:xfrm>
            <a:custGeom>
              <a:avLst/>
              <a:gdLst/>
              <a:ahLst/>
              <a:cxnLst/>
              <a:rect r="r" b="b" t="t" l="l"/>
              <a:pathLst>
                <a:path h="10285603" w="5304917">
                  <a:moveTo>
                    <a:pt x="0" y="0"/>
                  </a:moveTo>
                  <a:lnTo>
                    <a:pt x="5304917" y="0"/>
                  </a:lnTo>
                  <a:lnTo>
                    <a:pt x="5304917" y="10285603"/>
                  </a:lnTo>
                  <a:lnTo>
                    <a:pt x="0" y="10285603"/>
                  </a:lnTo>
                  <a:lnTo>
                    <a:pt x="0" y="0"/>
                  </a:lnTo>
                  <a:close/>
                </a:path>
              </a:pathLst>
            </a:custGeom>
            <a:blipFill>
              <a:blip r:embed="rId6"/>
              <a:stretch>
                <a:fillRect l="0" t="0" r="0" b="0"/>
              </a:stretch>
            </a:blipFill>
          </p:spPr>
        </p:sp>
      </p:grpSp>
      <p:grpSp>
        <p:nvGrpSpPr>
          <p:cNvPr name="Group 19" id="19"/>
          <p:cNvGrpSpPr/>
          <p:nvPr/>
        </p:nvGrpSpPr>
        <p:grpSpPr>
          <a:xfrm rot="0">
            <a:off x="6350094" y="1643124"/>
            <a:ext cx="3978688" cy="7883747"/>
            <a:chOff x="0" y="0"/>
            <a:chExt cx="5304917" cy="10511663"/>
          </a:xfrm>
        </p:grpSpPr>
        <p:sp>
          <p:nvSpPr>
            <p:cNvPr name="Freeform 20" id="20" descr="A screenshot of a cell phone  AI-generated content may be incorrect."/>
            <p:cNvSpPr/>
            <p:nvPr/>
          </p:nvSpPr>
          <p:spPr>
            <a:xfrm flipH="false" flipV="false" rot="0">
              <a:off x="0" y="0"/>
              <a:ext cx="5304917" cy="10511663"/>
            </a:xfrm>
            <a:custGeom>
              <a:avLst/>
              <a:gdLst/>
              <a:ahLst/>
              <a:cxnLst/>
              <a:rect r="r" b="b" t="t" l="l"/>
              <a:pathLst>
                <a:path h="10511663" w="5304917">
                  <a:moveTo>
                    <a:pt x="0" y="0"/>
                  </a:moveTo>
                  <a:lnTo>
                    <a:pt x="5304917" y="0"/>
                  </a:lnTo>
                  <a:lnTo>
                    <a:pt x="5304917" y="10511663"/>
                  </a:lnTo>
                  <a:lnTo>
                    <a:pt x="0" y="10511663"/>
                  </a:lnTo>
                  <a:lnTo>
                    <a:pt x="0" y="0"/>
                  </a:lnTo>
                  <a:close/>
                </a:path>
              </a:pathLst>
            </a:custGeom>
            <a:blipFill>
              <a:blip r:embed="rId7"/>
              <a:stretch>
                <a:fillRect l="0" t="0" r="0" b="0"/>
              </a:stretch>
            </a:blipFill>
          </p:spPr>
        </p:sp>
      </p:grpSp>
      <p:grpSp>
        <p:nvGrpSpPr>
          <p:cNvPr name="Group 21" id="21"/>
          <p:cNvGrpSpPr/>
          <p:nvPr/>
        </p:nvGrpSpPr>
        <p:grpSpPr>
          <a:xfrm rot="0">
            <a:off x="12190952" y="1643124"/>
            <a:ext cx="4077748" cy="7883747"/>
            <a:chOff x="0" y="0"/>
            <a:chExt cx="5436997" cy="10511663"/>
          </a:xfrm>
        </p:grpSpPr>
        <p:sp>
          <p:nvSpPr>
            <p:cNvPr name="Freeform 22" id="22" descr="A bug on a leaf  AI-generated content may be incorrect."/>
            <p:cNvSpPr/>
            <p:nvPr/>
          </p:nvSpPr>
          <p:spPr>
            <a:xfrm flipH="false" flipV="false" rot="0">
              <a:off x="0" y="0"/>
              <a:ext cx="5436997" cy="10511663"/>
            </a:xfrm>
            <a:custGeom>
              <a:avLst/>
              <a:gdLst/>
              <a:ahLst/>
              <a:cxnLst/>
              <a:rect r="r" b="b" t="t" l="l"/>
              <a:pathLst>
                <a:path h="10511663" w="5436997">
                  <a:moveTo>
                    <a:pt x="0" y="0"/>
                  </a:moveTo>
                  <a:lnTo>
                    <a:pt x="5436997" y="0"/>
                  </a:lnTo>
                  <a:lnTo>
                    <a:pt x="5436997" y="10511663"/>
                  </a:lnTo>
                  <a:lnTo>
                    <a:pt x="0" y="10511663"/>
                  </a:lnTo>
                  <a:lnTo>
                    <a:pt x="0" y="0"/>
                  </a:lnTo>
                  <a:close/>
                </a:path>
              </a:pathLst>
            </a:custGeom>
            <a:blipFill>
              <a:blip r:embed="rId8"/>
              <a:stretch>
                <a:fillRect l="0" t="0" r="0" b="0"/>
              </a:stretch>
            </a:blipFill>
          </p:spPr>
        </p:sp>
      </p:grpSp>
      <p:sp>
        <p:nvSpPr>
          <p:cNvPr name="TextBox 23" id="23"/>
          <p:cNvSpPr txBox="true"/>
          <p:nvPr/>
        </p:nvSpPr>
        <p:spPr>
          <a:xfrm rot="0">
            <a:off x="5059680" y="629484"/>
            <a:ext cx="9144000" cy="457200"/>
          </a:xfrm>
          <a:prstGeom prst="rect">
            <a:avLst/>
          </a:prstGeom>
        </p:spPr>
        <p:txBody>
          <a:bodyPr anchor="t" rtlCol="false" tIns="0" lIns="0" bIns="0" rIns="0">
            <a:spAutoFit/>
          </a:bodyPr>
          <a:lstStyle/>
          <a:p>
            <a:pPr algn="l">
              <a:lnSpc>
                <a:spcPts val="3358"/>
              </a:lnSpc>
            </a:pPr>
            <a:r>
              <a:rPr lang="en-US" sz="2799" b="true">
                <a:solidFill>
                  <a:srgbClr val="000000"/>
                </a:solidFill>
                <a:latin typeface="Times New Roman Bold"/>
                <a:ea typeface="Times New Roman Bold"/>
                <a:cs typeface="Times New Roman Bold"/>
                <a:sym typeface="Times New Roman Bold"/>
              </a:rPr>
              <a:t>Giao diện trang chủ (danh mục-thông tin loại sâu) </a:t>
            </a:r>
          </a:p>
        </p:txBody>
      </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4572000" y="713304"/>
            <a:ext cx="9144000" cy="457200"/>
          </a:xfrm>
          <a:prstGeom prst="rect">
            <a:avLst/>
          </a:prstGeom>
        </p:spPr>
        <p:txBody>
          <a:bodyPr anchor="t" rtlCol="false" tIns="0" lIns="0" bIns="0" rIns="0">
            <a:spAutoFit/>
          </a:bodyPr>
          <a:lstStyle/>
          <a:p>
            <a:pPr algn="l">
              <a:lnSpc>
                <a:spcPts val="3358"/>
              </a:lnSpc>
            </a:pPr>
            <a:r>
              <a:rPr lang="en-US" sz="2799" b="true">
                <a:solidFill>
                  <a:srgbClr val="000000"/>
                </a:solidFill>
                <a:latin typeface="Times New Roman Bold"/>
                <a:ea typeface="Times New Roman Bold"/>
                <a:cs typeface="Times New Roman Bold"/>
                <a:sym typeface="Times New Roman Bold"/>
              </a:rPr>
              <a:t>Giao diện Quét AI (Phân tích sâu theo ảnh) </a:t>
            </a:r>
          </a:p>
        </p:txBody>
      </p:sp>
      <p:grpSp>
        <p:nvGrpSpPr>
          <p:cNvPr name="Group 18" id="18"/>
          <p:cNvGrpSpPr/>
          <p:nvPr/>
        </p:nvGrpSpPr>
        <p:grpSpPr>
          <a:xfrm rot="0">
            <a:off x="1229842" y="1676400"/>
            <a:ext cx="3929062" cy="7696200"/>
            <a:chOff x="0" y="0"/>
            <a:chExt cx="5238750" cy="10261600"/>
          </a:xfrm>
        </p:grpSpPr>
        <p:sp>
          <p:nvSpPr>
            <p:cNvPr name="Freeform 19" id="19" descr="A screenshot of a chat  AI-generated content may be incorrect."/>
            <p:cNvSpPr/>
            <p:nvPr/>
          </p:nvSpPr>
          <p:spPr>
            <a:xfrm flipH="false" flipV="false" rot="0">
              <a:off x="0" y="0"/>
              <a:ext cx="5238750" cy="10261600"/>
            </a:xfrm>
            <a:custGeom>
              <a:avLst/>
              <a:gdLst/>
              <a:ahLst/>
              <a:cxnLst/>
              <a:rect r="r" b="b" t="t" l="l"/>
              <a:pathLst>
                <a:path h="10261600" w="5238750">
                  <a:moveTo>
                    <a:pt x="0" y="0"/>
                  </a:moveTo>
                  <a:lnTo>
                    <a:pt x="5238750" y="0"/>
                  </a:lnTo>
                  <a:lnTo>
                    <a:pt x="5238750" y="10261600"/>
                  </a:lnTo>
                  <a:lnTo>
                    <a:pt x="0" y="10261600"/>
                  </a:lnTo>
                  <a:lnTo>
                    <a:pt x="0" y="0"/>
                  </a:lnTo>
                  <a:close/>
                </a:path>
              </a:pathLst>
            </a:custGeom>
            <a:blipFill>
              <a:blip r:embed="rId6"/>
              <a:stretch>
                <a:fillRect l="-26" t="0" r="-26" b="0"/>
              </a:stretch>
            </a:blipFill>
          </p:spPr>
        </p:sp>
      </p:grpSp>
      <p:grpSp>
        <p:nvGrpSpPr>
          <p:cNvPr name="Group 20" id="20"/>
          <p:cNvGrpSpPr/>
          <p:nvPr/>
        </p:nvGrpSpPr>
        <p:grpSpPr>
          <a:xfrm rot="0">
            <a:off x="7069242" y="1798322"/>
            <a:ext cx="3875247" cy="7574280"/>
            <a:chOff x="0" y="0"/>
            <a:chExt cx="5166995" cy="10099040"/>
          </a:xfrm>
        </p:grpSpPr>
        <p:sp>
          <p:nvSpPr>
            <p:cNvPr name="Freeform 21" id="21" descr="A screenshot of a phone  AI-generated content may be incorrect."/>
            <p:cNvSpPr/>
            <p:nvPr/>
          </p:nvSpPr>
          <p:spPr>
            <a:xfrm flipH="false" flipV="false" rot="0">
              <a:off x="0" y="0"/>
              <a:ext cx="5166995" cy="10099040"/>
            </a:xfrm>
            <a:custGeom>
              <a:avLst/>
              <a:gdLst/>
              <a:ahLst/>
              <a:cxnLst/>
              <a:rect r="r" b="b" t="t" l="l"/>
              <a:pathLst>
                <a:path h="10099040" w="5166995">
                  <a:moveTo>
                    <a:pt x="0" y="0"/>
                  </a:moveTo>
                  <a:lnTo>
                    <a:pt x="5166995" y="0"/>
                  </a:lnTo>
                  <a:lnTo>
                    <a:pt x="5166995" y="10099040"/>
                  </a:lnTo>
                  <a:lnTo>
                    <a:pt x="0" y="10099040"/>
                  </a:lnTo>
                  <a:lnTo>
                    <a:pt x="0" y="0"/>
                  </a:lnTo>
                  <a:close/>
                </a:path>
              </a:pathLst>
            </a:custGeom>
            <a:blipFill>
              <a:blip r:embed="rId7"/>
              <a:stretch>
                <a:fillRect l="-7" t="0" r="-7" b="0"/>
              </a:stretch>
            </a:blipFill>
          </p:spPr>
        </p:sp>
      </p:grpSp>
      <p:grpSp>
        <p:nvGrpSpPr>
          <p:cNvPr name="Group 22" id="22"/>
          <p:cNvGrpSpPr/>
          <p:nvPr/>
        </p:nvGrpSpPr>
        <p:grpSpPr>
          <a:xfrm rot="0">
            <a:off x="12637064" y="1798322"/>
            <a:ext cx="3835813" cy="7574280"/>
            <a:chOff x="0" y="0"/>
            <a:chExt cx="5114417" cy="10099040"/>
          </a:xfrm>
        </p:grpSpPr>
        <p:sp>
          <p:nvSpPr>
            <p:cNvPr name="Freeform 23" id="23" descr="A screenshot of a cellphone  AI-generated content may be incorrect."/>
            <p:cNvSpPr/>
            <p:nvPr/>
          </p:nvSpPr>
          <p:spPr>
            <a:xfrm flipH="false" flipV="false" rot="0">
              <a:off x="0" y="0"/>
              <a:ext cx="5114417" cy="10099040"/>
            </a:xfrm>
            <a:custGeom>
              <a:avLst/>
              <a:gdLst/>
              <a:ahLst/>
              <a:cxnLst/>
              <a:rect r="r" b="b" t="t" l="l"/>
              <a:pathLst>
                <a:path h="10099040" w="5114417">
                  <a:moveTo>
                    <a:pt x="0" y="0"/>
                  </a:moveTo>
                  <a:lnTo>
                    <a:pt x="5114417" y="0"/>
                  </a:lnTo>
                  <a:lnTo>
                    <a:pt x="5114417" y="10099040"/>
                  </a:lnTo>
                  <a:lnTo>
                    <a:pt x="0" y="10099040"/>
                  </a:lnTo>
                  <a:lnTo>
                    <a:pt x="0" y="0"/>
                  </a:lnTo>
                  <a:close/>
                </a:path>
              </a:pathLst>
            </a:custGeom>
            <a:blipFill>
              <a:blip r:embed="rId8"/>
              <a:stretch>
                <a:fillRect l="-26" t="0" r="-26" b="0"/>
              </a:stretch>
            </a:blipFill>
          </p:spPr>
        </p:sp>
      </p:grpSp>
    </p:spTree>
  </p:cSld>
  <p:clrMapOvr>
    <a:masterClrMapping/>
  </p:clrMapOvr>
  <p:transition spd="fast">
    <p:fade/>
  </p:transition>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548400" y="519825"/>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5029200" y="637104"/>
            <a:ext cx="9144000" cy="457200"/>
          </a:xfrm>
          <a:prstGeom prst="rect">
            <a:avLst/>
          </a:prstGeom>
        </p:spPr>
        <p:txBody>
          <a:bodyPr anchor="t" rtlCol="false" tIns="0" lIns="0" bIns="0" rIns="0">
            <a:spAutoFit/>
          </a:bodyPr>
          <a:lstStyle/>
          <a:p>
            <a:pPr algn="l">
              <a:lnSpc>
                <a:spcPts val="3358"/>
              </a:lnSpc>
            </a:pPr>
            <a:r>
              <a:rPr lang="en-US" sz="2799" b="true">
                <a:solidFill>
                  <a:srgbClr val="000000"/>
                </a:solidFill>
                <a:latin typeface="Times New Roman Bold"/>
                <a:ea typeface="Times New Roman Bold"/>
                <a:cs typeface="Times New Roman Bold"/>
                <a:sym typeface="Times New Roman Bold"/>
              </a:rPr>
              <a:t>Giao diện tư vấn (thông tin sâu và tư vấn thuốc) </a:t>
            </a:r>
          </a:p>
        </p:txBody>
      </p:sp>
      <p:grpSp>
        <p:nvGrpSpPr>
          <p:cNvPr name="Group 18" id="18"/>
          <p:cNvGrpSpPr/>
          <p:nvPr/>
        </p:nvGrpSpPr>
        <p:grpSpPr>
          <a:xfrm rot="0">
            <a:off x="1268438" y="1881360"/>
            <a:ext cx="3669316" cy="7155180"/>
            <a:chOff x="0" y="0"/>
            <a:chExt cx="4892421" cy="9540240"/>
          </a:xfrm>
        </p:grpSpPr>
        <p:sp>
          <p:nvSpPr>
            <p:cNvPr name="Freeform 19" id="19" descr="A white surface with a black and white background  AI-generated content may be incorrect."/>
            <p:cNvSpPr/>
            <p:nvPr/>
          </p:nvSpPr>
          <p:spPr>
            <a:xfrm flipH="false" flipV="false" rot="0">
              <a:off x="0" y="0"/>
              <a:ext cx="4892421" cy="9540240"/>
            </a:xfrm>
            <a:custGeom>
              <a:avLst/>
              <a:gdLst/>
              <a:ahLst/>
              <a:cxnLst/>
              <a:rect r="r" b="b" t="t" l="l"/>
              <a:pathLst>
                <a:path h="9540240" w="4892421">
                  <a:moveTo>
                    <a:pt x="0" y="0"/>
                  </a:moveTo>
                  <a:lnTo>
                    <a:pt x="4892421" y="0"/>
                  </a:lnTo>
                  <a:lnTo>
                    <a:pt x="4892421" y="9540240"/>
                  </a:lnTo>
                  <a:lnTo>
                    <a:pt x="0" y="9540240"/>
                  </a:lnTo>
                  <a:lnTo>
                    <a:pt x="0" y="0"/>
                  </a:lnTo>
                  <a:close/>
                </a:path>
              </a:pathLst>
            </a:custGeom>
            <a:blipFill>
              <a:blip r:embed="rId6"/>
              <a:stretch>
                <a:fillRect l="0" t="0" r="0" b="0"/>
              </a:stretch>
            </a:blipFill>
          </p:spPr>
        </p:sp>
      </p:grpSp>
      <p:grpSp>
        <p:nvGrpSpPr>
          <p:cNvPr name="Group 20" id="20"/>
          <p:cNvGrpSpPr/>
          <p:nvPr/>
        </p:nvGrpSpPr>
        <p:grpSpPr>
          <a:xfrm rot="0">
            <a:off x="6481294" y="2024184"/>
            <a:ext cx="3669316" cy="7172135"/>
            <a:chOff x="0" y="0"/>
            <a:chExt cx="4892421" cy="9562846"/>
          </a:xfrm>
        </p:grpSpPr>
        <p:sp>
          <p:nvSpPr>
            <p:cNvPr name="Freeform 21" id="21" descr="A screenshot of a chat  AI-generated content may be incorrect."/>
            <p:cNvSpPr/>
            <p:nvPr/>
          </p:nvSpPr>
          <p:spPr>
            <a:xfrm flipH="false" flipV="false" rot="0">
              <a:off x="0" y="0"/>
              <a:ext cx="4892421" cy="9562846"/>
            </a:xfrm>
            <a:custGeom>
              <a:avLst/>
              <a:gdLst/>
              <a:ahLst/>
              <a:cxnLst/>
              <a:rect r="r" b="b" t="t" l="l"/>
              <a:pathLst>
                <a:path h="9562846" w="4892421">
                  <a:moveTo>
                    <a:pt x="0" y="0"/>
                  </a:moveTo>
                  <a:lnTo>
                    <a:pt x="4892421" y="0"/>
                  </a:lnTo>
                  <a:lnTo>
                    <a:pt x="4892421" y="9562846"/>
                  </a:lnTo>
                  <a:lnTo>
                    <a:pt x="0" y="9562846"/>
                  </a:lnTo>
                  <a:lnTo>
                    <a:pt x="0" y="0"/>
                  </a:lnTo>
                  <a:close/>
                </a:path>
              </a:pathLst>
            </a:custGeom>
            <a:blipFill>
              <a:blip r:embed="rId7"/>
              <a:stretch>
                <a:fillRect l="0" t="-23" r="0" b="-23"/>
              </a:stretch>
            </a:blipFill>
          </p:spPr>
        </p:sp>
      </p:grpSp>
      <p:grpSp>
        <p:nvGrpSpPr>
          <p:cNvPr name="Group 22" id="22"/>
          <p:cNvGrpSpPr/>
          <p:nvPr/>
        </p:nvGrpSpPr>
        <p:grpSpPr>
          <a:xfrm rot="0">
            <a:off x="12773080" y="2024184"/>
            <a:ext cx="3669316" cy="7223093"/>
            <a:chOff x="0" y="0"/>
            <a:chExt cx="4892421" cy="9630791"/>
          </a:xfrm>
        </p:grpSpPr>
        <p:sp>
          <p:nvSpPr>
            <p:cNvPr name="Freeform 23" id="23" descr="A screenshot of a phone  AI-generated content may be incorrect."/>
            <p:cNvSpPr/>
            <p:nvPr/>
          </p:nvSpPr>
          <p:spPr>
            <a:xfrm flipH="false" flipV="false" rot="0">
              <a:off x="0" y="0"/>
              <a:ext cx="4892421" cy="9630791"/>
            </a:xfrm>
            <a:custGeom>
              <a:avLst/>
              <a:gdLst/>
              <a:ahLst/>
              <a:cxnLst/>
              <a:rect r="r" b="b" t="t" l="l"/>
              <a:pathLst>
                <a:path h="9630791" w="4892421">
                  <a:moveTo>
                    <a:pt x="0" y="0"/>
                  </a:moveTo>
                  <a:lnTo>
                    <a:pt x="4892421" y="0"/>
                  </a:lnTo>
                  <a:lnTo>
                    <a:pt x="4892421" y="9630791"/>
                  </a:lnTo>
                  <a:lnTo>
                    <a:pt x="0" y="9630791"/>
                  </a:lnTo>
                  <a:lnTo>
                    <a:pt x="0" y="0"/>
                  </a:lnTo>
                  <a:close/>
                </a:path>
              </a:pathLst>
            </a:custGeom>
            <a:blipFill>
              <a:blip r:embed="rId8"/>
              <a:stretch>
                <a:fillRect l="0" t="0" r="0" b="0"/>
              </a:stretch>
            </a:blipFill>
          </p:spPr>
        </p:sp>
      </p:grpSp>
    </p:spTree>
  </p:cSld>
  <p:clrMapOvr>
    <a:masterClrMapping/>
  </p:clrMapOvr>
  <p:transition spd="fast">
    <p:fade/>
  </p:transition>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731400" y="731400"/>
            <a:ext cx="17191196" cy="9190196"/>
            <a:chOff x="0" y="0"/>
            <a:chExt cx="22921595" cy="12253595"/>
          </a:xfrm>
        </p:grpSpPr>
        <p:sp>
          <p:nvSpPr>
            <p:cNvPr name="Freeform 5" id="5"/>
            <p:cNvSpPr/>
            <p:nvPr/>
          </p:nvSpPr>
          <p:spPr>
            <a:xfrm flipH="false" flipV="false" rot="0">
              <a:off x="0" y="0"/>
              <a:ext cx="22921595" cy="12253595"/>
            </a:xfrm>
            <a:custGeom>
              <a:avLst/>
              <a:gdLst/>
              <a:ahLst/>
              <a:cxnLst/>
              <a:rect r="r" b="b" t="t" l="l"/>
              <a:pathLst>
                <a:path h="12253595" w="22921595">
                  <a:moveTo>
                    <a:pt x="0" y="0"/>
                  </a:moveTo>
                  <a:lnTo>
                    <a:pt x="22921595" y="0"/>
                  </a:lnTo>
                  <a:lnTo>
                    <a:pt x="22921595" y="12253595"/>
                  </a:lnTo>
                  <a:lnTo>
                    <a:pt x="0" y="12253595"/>
                  </a:lnTo>
                </a:path>
              </a:pathLst>
            </a:custGeom>
            <a:solidFill>
              <a:srgbClr val="000000"/>
            </a:solidFill>
            <a:ln w="12700">
              <a:solidFill>
                <a:srgbClr val="000000"/>
              </a:solidFill>
            </a:ln>
          </p:spPr>
        </p:sp>
      </p:grpSp>
      <p:sp>
        <p:nvSpPr>
          <p:cNvPr name="Freeform 6" id="6"/>
          <p:cNvSpPr/>
          <p:nvPr/>
        </p:nvSpPr>
        <p:spPr>
          <a:xfrm flipH="false" flipV="false" rot="0">
            <a:off x="702825" y="519827"/>
            <a:ext cx="17219771" cy="9247346"/>
          </a:xfrm>
          <a:custGeom>
            <a:avLst/>
            <a:gdLst/>
            <a:ahLst/>
            <a:cxnLst/>
            <a:rect r="r" b="b" t="t" l="l"/>
            <a:pathLst>
              <a:path h="9247346" w="17219771">
                <a:moveTo>
                  <a:pt x="0" y="0"/>
                </a:moveTo>
                <a:lnTo>
                  <a:pt x="17219771" y="0"/>
                </a:lnTo>
                <a:lnTo>
                  <a:pt x="17219771" y="9247346"/>
                </a:lnTo>
                <a:lnTo>
                  <a:pt x="0" y="92473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1390">
            <a:off x="510253" y="1260768"/>
            <a:ext cx="17268095" cy="19050"/>
            <a:chOff x="0" y="0"/>
            <a:chExt cx="23024127" cy="25400"/>
          </a:xfrm>
        </p:grpSpPr>
        <p:sp>
          <p:nvSpPr>
            <p:cNvPr name="Freeform 8" id="8"/>
            <p:cNvSpPr/>
            <p:nvPr/>
          </p:nvSpPr>
          <p:spPr>
            <a:xfrm flipH="false" flipV="false" rot="0">
              <a:off x="0" y="0"/>
              <a:ext cx="23024085" cy="25400"/>
            </a:xfrm>
            <a:custGeom>
              <a:avLst/>
              <a:gdLst/>
              <a:ahLst/>
              <a:cxnLst/>
              <a:rect r="r" b="b" t="t" l="l"/>
              <a:pathLst>
                <a:path h="25400" w="23024085">
                  <a:moveTo>
                    <a:pt x="12700" y="0"/>
                  </a:moveTo>
                  <a:lnTo>
                    <a:pt x="23011385" y="0"/>
                  </a:lnTo>
                  <a:cubicBezTo>
                    <a:pt x="23018370" y="0"/>
                    <a:pt x="23024085" y="5715"/>
                    <a:pt x="23024085" y="12700"/>
                  </a:cubicBezTo>
                  <a:cubicBezTo>
                    <a:pt x="23024085" y="19685"/>
                    <a:pt x="23018370" y="25400"/>
                    <a:pt x="2301138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7064863" y="895050"/>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7064863" y="895050"/>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6521825" y="702525"/>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5810414" y="1078050"/>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TextBox 17" id="17"/>
          <p:cNvSpPr txBox="true"/>
          <p:nvPr/>
        </p:nvSpPr>
        <p:spPr>
          <a:xfrm rot="0">
            <a:off x="4991688" y="645504"/>
            <a:ext cx="9148688" cy="457200"/>
          </a:xfrm>
          <a:prstGeom prst="rect">
            <a:avLst/>
          </a:prstGeom>
        </p:spPr>
        <p:txBody>
          <a:bodyPr anchor="t" rtlCol="false" tIns="0" lIns="0" bIns="0" rIns="0">
            <a:spAutoFit/>
          </a:bodyPr>
          <a:lstStyle/>
          <a:p>
            <a:pPr algn="l">
              <a:lnSpc>
                <a:spcPts val="3358"/>
              </a:lnSpc>
            </a:pPr>
            <a:r>
              <a:rPr lang="en-US" sz="2799" b="true">
                <a:solidFill>
                  <a:srgbClr val="000000"/>
                </a:solidFill>
                <a:latin typeface="Times New Roman Bold"/>
                <a:ea typeface="Times New Roman Bold"/>
                <a:cs typeface="Times New Roman Bold"/>
                <a:sym typeface="Times New Roman Bold"/>
              </a:rPr>
              <a:t>Giao diện Quản trị (Thêm &amp; gán loại sâu – thuốc) </a:t>
            </a:r>
          </a:p>
        </p:txBody>
      </p:sp>
      <p:grpSp>
        <p:nvGrpSpPr>
          <p:cNvPr name="Group 18" id="18"/>
          <p:cNvGrpSpPr/>
          <p:nvPr/>
        </p:nvGrpSpPr>
        <p:grpSpPr>
          <a:xfrm rot="0">
            <a:off x="925326" y="1966530"/>
            <a:ext cx="3525125" cy="6922951"/>
            <a:chOff x="0" y="0"/>
            <a:chExt cx="5222494" cy="10256393"/>
          </a:xfrm>
        </p:grpSpPr>
        <p:sp>
          <p:nvSpPr>
            <p:cNvPr name="Freeform 19" id="19" descr="A white background with black dots  AI-generated content may be incorrect."/>
            <p:cNvSpPr/>
            <p:nvPr/>
          </p:nvSpPr>
          <p:spPr>
            <a:xfrm flipH="false" flipV="false" rot="0">
              <a:off x="0" y="0"/>
              <a:ext cx="5222494" cy="10256393"/>
            </a:xfrm>
            <a:custGeom>
              <a:avLst/>
              <a:gdLst/>
              <a:ahLst/>
              <a:cxnLst/>
              <a:rect r="r" b="b" t="t" l="l"/>
              <a:pathLst>
                <a:path h="10256393" w="5222494">
                  <a:moveTo>
                    <a:pt x="0" y="0"/>
                  </a:moveTo>
                  <a:lnTo>
                    <a:pt x="5222494" y="0"/>
                  </a:lnTo>
                  <a:lnTo>
                    <a:pt x="5222494" y="10256393"/>
                  </a:lnTo>
                  <a:lnTo>
                    <a:pt x="0" y="10256393"/>
                  </a:lnTo>
                  <a:lnTo>
                    <a:pt x="0" y="0"/>
                  </a:lnTo>
                  <a:close/>
                </a:path>
              </a:pathLst>
            </a:custGeom>
            <a:blipFill>
              <a:blip r:embed="rId6"/>
              <a:stretch>
                <a:fillRect l="0" t="-23" r="0" b="-23"/>
              </a:stretch>
            </a:blipFill>
          </p:spPr>
        </p:sp>
      </p:grpSp>
      <p:grpSp>
        <p:nvGrpSpPr>
          <p:cNvPr name="Group 20" id="20"/>
          <p:cNvGrpSpPr/>
          <p:nvPr/>
        </p:nvGrpSpPr>
        <p:grpSpPr>
          <a:xfrm rot="0">
            <a:off x="9395250" y="1966530"/>
            <a:ext cx="3510249" cy="6922951"/>
            <a:chOff x="0" y="0"/>
            <a:chExt cx="5287645" cy="10428351"/>
          </a:xfrm>
        </p:grpSpPr>
        <p:sp>
          <p:nvSpPr>
            <p:cNvPr name="Freeform 21" id="21" descr="A screenshot of a phone  AI-generated content may be incorrect."/>
            <p:cNvSpPr/>
            <p:nvPr/>
          </p:nvSpPr>
          <p:spPr>
            <a:xfrm flipH="false" flipV="false" rot="0">
              <a:off x="0" y="0"/>
              <a:ext cx="5287645" cy="10428351"/>
            </a:xfrm>
            <a:custGeom>
              <a:avLst/>
              <a:gdLst/>
              <a:ahLst/>
              <a:cxnLst/>
              <a:rect r="r" b="b" t="t" l="l"/>
              <a:pathLst>
                <a:path h="10428351" w="5287645">
                  <a:moveTo>
                    <a:pt x="0" y="0"/>
                  </a:moveTo>
                  <a:lnTo>
                    <a:pt x="5287645" y="0"/>
                  </a:lnTo>
                  <a:lnTo>
                    <a:pt x="5287645" y="10428351"/>
                  </a:lnTo>
                  <a:lnTo>
                    <a:pt x="0" y="10428351"/>
                  </a:lnTo>
                  <a:lnTo>
                    <a:pt x="0" y="0"/>
                  </a:lnTo>
                  <a:close/>
                </a:path>
              </a:pathLst>
            </a:custGeom>
            <a:blipFill>
              <a:blip r:embed="rId7"/>
              <a:stretch>
                <a:fillRect l="0" t="0" r="0" b="0"/>
              </a:stretch>
            </a:blipFill>
          </p:spPr>
        </p:sp>
      </p:grpSp>
      <p:grpSp>
        <p:nvGrpSpPr>
          <p:cNvPr name="Group 22" id="22"/>
          <p:cNvGrpSpPr/>
          <p:nvPr/>
        </p:nvGrpSpPr>
        <p:grpSpPr>
          <a:xfrm rot="0">
            <a:off x="5142891" y="1966530"/>
            <a:ext cx="3528459" cy="6922951"/>
            <a:chOff x="0" y="0"/>
            <a:chExt cx="5315076" cy="10428351"/>
          </a:xfrm>
        </p:grpSpPr>
        <p:sp>
          <p:nvSpPr>
            <p:cNvPr name="Freeform 23" id="23" descr="A screenshot of a phone  AI-generated content may be incorrect."/>
            <p:cNvSpPr/>
            <p:nvPr/>
          </p:nvSpPr>
          <p:spPr>
            <a:xfrm flipH="false" flipV="false" rot="0">
              <a:off x="0" y="0"/>
              <a:ext cx="5315077" cy="10428351"/>
            </a:xfrm>
            <a:custGeom>
              <a:avLst/>
              <a:gdLst/>
              <a:ahLst/>
              <a:cxnLst/>
              <a:rect r="r" b="b" t="t" l="l"/>
              <a:pathLst>
                <a:path h="10428351" w="5315077">
                  <a:moveTo>
                    <a:pt x="0" y="0"/>
                  </a:moveTo>
                  <a:lnTo>
                    <a:pt x="5315077" y="0"/>
                  </a:lnTo>
                  <a:lnTo>
                    <a:pt x="5315077" y="10428351"/>
                  </a:lnTo>
                  <a:lnTo>
                    <a:pt x="0" y="10428351"/>
                  </a:lnTo>
                  <a:lnTo>
                    <a:pt x="0" y="0"/>
                  </a:lnTo>
                  <a:close/>
                </a:path>
              </a:pathLst>
            </a:custGeom>
            <a:blipFill>
              <a:blip r:embed="rId8"/>
              <a:stretch>
                <a:fillRect l="0" t="-23" r="0" b="-23"/>
              </a:stretch>
            </a:blipFill>
          </p:spPr>
        </p:sp>
      </p:grpSp>
      <p:grpSp>
        <p:nvGrpSpPr>
          <p:cNvPr name="Group 24" id="24"/>
          <p:cNvGrpSpPr/>
          <p:nvPr/>
        </p:nvGrpSpPr>
        <p:grpSpPr>
          <a:xfrm rot="0">
            <a:off x="13625069" y="1966530"/>
            <a:ext cx="3523485" cy="6922951"/>
            <a:chOff x="0" y="0"/>
            <a:chExt cx="5307584" cy="10428351"/>
          </a:xfrm>
        </p:grpSpPr>
        <p:sp>
          <p:nvSpPr>
            <p:cNvPr name="Freeform 25" id="25" descr="A screenshot of a phone  AI-generated content may be incorrect."/>
            <p:cNvSpPr/>
            <p:nvPr/>
          </p:nvSpPr>
          <p:spPr>
            <a:xfrm flipH="false" flipV="false" rot="0">
              <a:off x="0" y="0"/>
              <a:ext cx="5307584" cy="10428351"/>
            </a:xfrm>
            <a:custGeom>
              <a:avLst/>
              <a:gdLst/>
              <a:ahLst/>
              <a:cxnLst/>
              <a:rect r="r" b="b" t="t" l="l"/>
              <a:pathLst>
                <a:path h="10428351" w="5307584">
                  <a:moveTo>
                    <a:pt x="0" y="0"/>
                  </a:moveTo>
                  <a:lnTo>
                    <a:pt x="5307584" y="0"/>
                  </a:lnTo>
                  <a:lnTo>
                    <a:pt x="5307584" y="10428351"/>
                  </a:lnTo>
                  <a:lnTo>
                    <a:pt x="0" y="10428351"/>
                  </a:lnTo>
                  <a:lnTo>
                    <a:pt x="0" y="0"/>
                  </a:lnTo>
                  <a:close/>
                </a:path>
              </a:pathLst>
            </a:custGeom>
            <a:blipFill>
              <a:blip r:embed="rId9"/>
              <a:stretch>
                <a:fillRect l="0" t="0" r="0" b="0"/>
              </a:stretch>
            </a:blipFill>
          </p:spPr>
        </p:sp>
      </p:grpSp>
    </p:spTree>
  </p:cSld>
  <p:clrMapOvr>
    <a:masterClrMapping/>
  </p:clrMapOvr>
  <p:transition spd="fast">
    <p:fade/>
  </p:transition>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2925600" y="1668900"/>
            <a:ext cx="12801600" cy="7315200"/>
            <a:chOff x="0" y="0"/>
            <a:chExt cx="17068800" cy="9753600"/>
          </a:xfrm>
        </p:grpSpPr>
        <p:sp>
          <p:nvSpPr>
            <p:cNvPr name="Freeform 5" id="5"/>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6" id="6"/>
          <p:cNvSpPr/>
          <p:nvPr/>
        </p:nvSpPr>
        <p:spPr>
          <a:xfrm flipH="false" flipV="false" rot="0">
            <a:off x="2955376" y="1552594"/>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5277">
            <a:off x="2704437" y="2198250"/>
            <a:ext cx="12879127" cy="19050"/>
            <a:chOff x="0" y="0"/>
            <a:chExt cx="17172169" cy="25400"/>
          </a:xfrm>
        </p:grpSpPr>
        <p:sp>
          <p:nvSpPr>
            <p:cNvPr name="Freeform 8" id="8"/>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4870663" y="1832526"/>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699999">
            <a:off x="14870663" y="1832526"/>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4327325" y="1640001"/>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12367">
            <a:off x="13615582" y="2015526"/>
            <a:ext cx="496632" cy="19050"/>
            <a:chOff x="0" y="0"/>
            <a:chExt cx="662176" cy="25400"/>
          </a:xfrm>
        </p:grpSpPr>
        <p:sp>
          <p:nvSpPr>
            <p:cNvPr name="Freeform 16" id="16"/>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17" id="17"/>
          <p:cNvSpPr/>
          <p:nvPr/>
        </p:nvSpPr>
        <p:spPr>
          <a:xfrm flipH="false" flipV="false" rot="0">
            <a:off x="10045450" y="2852300"/>
            <a:ext cx="7315180" cy="696694"/>
          </a:xfrm>
          <a:custGeom>
            <a:avLst/>
            <a:gdLst/>
            <a:ahLst/>
            <a:cxnLst/>
            <a:rect r="r" b="b" t="t" l="l"/>
            <a:pathLst>
              <a:path h="696694" w="7315180">
                <a:moveTo>
                  <a:pt x="0" y="0"/>
                </a:moveTo>
                <a:lnTo>
                  <a:pt x="7315180" y="0"/>
                </a:lnTo>
                <a:lnTo>
                  <a:pt x="7315180" y="696694"/>
                </a:lnTo>
                <a:lnTo>
                  <a:pt x="0" y="696694"/>
                </a:lnTo>
                <a:lnTo>
                  <a:pt x="0" y="0"/>
                </a:lnTo>
                <a:close/>
              </a:path>
            </a:pathLst>
          </a:custGeom>
          <a:blipFill>
            <a:blip r:embed="rId6">
              <a:extLst>
                <a:ext uri="{96DAC541-7B7A-43D3-8B79-37D633B846F1}">
                  <asvg:svgBlip xmlns:asvg="http://schemas.microsoft.com/office/drawing/2016/SVG/main" r:embed="rId7"/>
                </a:ext>
              </a:extLst>
            </a:blip>
            <a:stretch>
              <a:fillRect l="0" t="-585" r="0" b="-585"/>
            </a:stretch>
          </a:blipFill>
        </p:spPr>
      </p:sp>
      <p:sp>
        <p:nvSpPr>
          <p:cNvPr name="Freeform 18" id="18"/>
          <p:cNvSpPr/>
          <p:nvPr/>
        </p:nvSpPr>
        <p:spPr>
          <a:xfrm flipH="false" flipV="false" rot="0">
            <a:off x="14630399" y="3936501"/>
            <a:ext cx="2743192" cy="1206990"/>
          </a:xfrm>
          <a:custGeom>
            <a:avLst/>
            <a:gdLst/>
            <a:ahLst/>
            <a:cxnLst/>
            <a:rect r="r" b="b" t="t" l="l"/>
            <a:pathLst>
              <a:path h="1206990" w="2743192">
                <a:moveTo>
                  <a:pt x="0" y="0"/>
                </a:moveTo>
                <a:lnTo>
                  <a:pt x="2743192" y="0"/>
                </a:lnTo>
                <a:lnTo>
                  <a:pt x="2743192" y="1206990"/>
                </a:lnTo>
                <a:lnTo>
                  <a:pt x="0" y="1206990"/>
                </a:lnTo>
                <a:lnTo>
                  <a:pt x="0" y="0"/>
                </a:lnTo>
                <a:close/>
              </a:path>
            </a:pathLst>
          </a:custGeom>
          <a:blipFill>
            <a:blip r:embed="rId8">
              <a:extLst>
                <a:ext uri="{96DAC541-7B7A-43D3-8B79-37D633B846F1}">
                  <asvg:svgBlip xmlns:asvg="http://schemas.microsoft.com/office/drawing/2016/SVG/main" r:embed="rId9"/>
                </a:ext>
              </a:extLst>
            </a:blip>
            <a:stretch>
              <a:fillRect l="0" t="-111" r="0" b="-111"/>
            </a:stretch>
          </a:blipFill>
        </p:spPr>
      </p:sp>
      <p:grpSp>
        <p:nvGrpSpPr>
          <p:cNvPr name="Group 19" id="19"/>
          <p:cNvGrpSpPr/>
          <p:nvPr/>
        </p:nvGrpSpPr>
        <p:grpSpPr>
          <a:xfrm rot="0">
            <a:off x="1613200" y="728548"/>
            <a:ext cx="3657600" cy="3657600"/>
            <a:chOff x="0" y="0"/>
            <a:chExt cx="4876800" cy="4876800"/>
          </a:xfrm>
        </p:grpSpPr>
        <p:sp>
          <p:nvSpPr>
            <p:cNvPr name="Freeform 20" id="20"/>
            <p:cNvSpPr/>
            <p:nvPr/>
          </p:nvSpPr>
          <p:spPr>
            <a:xfrm flipH="false" flipV="false" rot="0">
              <a:off x="0" y="0"/>
              <a:ext cx="4876800" cy="4876800"/>
            </a:xfrm>
            <a:custGeom>
              <a:avLst/>
              <a:gdLst/>
              <a:ahLst/>
              <a:cxnLst/>
              <a:rect r="r" b="b" t="t" l="l"/>
              <a:pathLst>
                <a:path h="4876800" w="4876800">
                  <a:moveTo>
                    <a:pt x="0" y="0"/>
                  </a:moveTo>
                  <a:lnTo>
                    <a:pt x="4876800" y="0"/>
                  </a:lnTo>
                  <a:lnTo>
                    <a:pt x="4876800" y="4876800"/>
                  </a:lnTo>
                  <a:lnTo>
                    <a:pt x="0" y="4876800"/>
                  </a:lnTo>
                </a:path>
              </a:pathLst>
            </a:custGeom>
            <a:solidFill>
              <a:srgbClr val="000000"/>
            </a:solidFill>
            <a:ln w="12700">
              <a:solidFill>
                <a:srgbClr val="000000"/>
              </a:solidFill>
            </a:ln>
          </p:spPr>
        </p:sp>
      </p:grpSp>
      <p:sp>
        <p:nvSpPr>
          <p:cNvPr name="Freeform 21" id="21"/>
          <p:cNvSpPr/>
          <p:nvPr/>
        </p:nvSpPr>
        <p:spPr>
          <a:xfrm flipH="false" flipV="false" rot="0">
            <a:off x="1430200" y="519823"/>
            <a:ext cx="3686175" cy="3714750"/>
          </a:xfrm>
          <a:custGeom>
            <a:avLst/>
            <a:gdLst/>
            <a:ahLst/>
            <a:cxnLst/>
            <a:rect r="r" b="b" t="t" l="l"/>
            <a:pathLst>
              <a:path h="3714750" w="3686175">
                <a:moveTo>
                  <a:pt x="0" y="0"/>
                </a:moveTo>
                <a:lnTo>
                  <a:pt x="3686175" y="0"/>
                </a:lnTo>
                <a:lnTo>
                  <a:pt x="3686175" y="3714750"/>
                </a:lnTo>
                <a:lnTo>
                  <a:pt x="0" y="371475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22" id="22"/>
          <p:cNvGrpSpPr/>
          <p:nvPr/>
        </p:nvGrpSpPr>
        <p:grpSpPr>
          <a:xfrm rot="53047">
            <a:off x="1397584" y="1256550"/>
            <a:ext cx="3722841" cy="19050"/>
            <a:chOff x="0" y="0"/>
            <a:chExt cx="4963788" cy="25400"/>
          </a:xfrm>
        </p:grpSpPr>
        <p:sp>
          <p:nvSpPr>
            <p:cNvPr name="Freeform 23" id="23"/>
            <p:cNvSpPr/>
            <p:nvPr/>
          </p:nvSpPr>
          <p:spPr>
            <a:xfrm flipH="false" flipV="false" rot="0">
              <a:off x="0" y="0"/>
              <a:ext cx="4963795" cy="25400"/>
            </a:xfrm>
            <a:custGeom>
              <a:avLst/>
              <a:gdLst/>
              <a:ahLst/>
              <a:cxnLst/>
              <a:rect r="r" b="b" t="t" l="l"/>
              <a:pathLst>
                <a:path h="25400" w="4963795">
                  <a:moveTo>
                    <a:pt x="12700" y="0"/>
                  </a:moveTo>
                  <a:lnTo>
                    <a:pt x="4951095" y="0"/>
                  </a:lnTo>
                  <a:cubicBezTo>
                    <a:pt x="4958080" y="0"/>
                    <a:pt x="4963795" y="5715"/>
                    <a:pt x="4963795" y="12700"/>
                  </a:cubicBezTo>
                  <a:cubicBezTo>
                    <a:pt x="4963795" y="19685"/>
                    <a:pt x="4958080" y="25400"/>
                    <a:pt x="4951095"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4" id="24"/>
          <p:cNvGrpSpPr/>
          <p:nvPr/>
        </p:nvGrpSpPr>
        <p:grpSpPr>
          <a:xfrm rot="2699999">
            <a:off x="4410163" y="891876"/>
            <a:ext cx="617474" cy="19050"/>
            <a:chOff x="0" y="0"/>
            <a:chExt cx="823299" cy="25400"/>
          </a:xfrm>
        </p:grpSpPr>
        <p:sp>
          <p:nvSpPr>
            <p:cNvPr name="Freeform 25" id="25"/>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6" id="26"/>
          <p:cNvGrpSpPr/>
          <p:nvPr/>
        </p:nvGrpSpPr>
        <p:grpSpPr>
          <a:xfrm rot="2700000">
            <a:off x="4410163" y="891876"/>
            <a:ext cx="617474" cy="19050"/>
            <a:chOff x="0" y="0"/>
            <a:chExt cx="823299" cy="25400"/>
          </a:xfrm>
        </p:grpSpPr>
        <p:sp>
          <p:nvSpPr>
            <p:cNvPr name="Freeform 27" id="27"/>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8" id="28"/>
          <p:cNvGrpSpPr/>
          <p:nvPr/>
        </p:nvGrpSpPr>
        <p:grpSpPr>
          <a:xfrm rot="0">
            <a:off x="3874325" y="706551"/>
            <a:ext cx="415957" cy="415957"/>
            <a:chOff x="0" y="0"/>
            <a:chExt cx="554609" cy="554609"/>
          </a:xfrm>
        </p:grpSpPr>
        <p:sp>
          <p:nvSpPr>
            <p:cNvPr name="Freeform 29" id="29"/>
            <p:cNvSpPr/>
            <p:nvPr/>
          </p:nvSpPr>
          <p:spPr>
            <a:xfrm flipH="false" flipV="false" rot="0">
              <a:off x="0" y="0"/>
              <a:ext cx="554609" cy="554609"/>
            </a:xfrm>
            <a:custGeom>
              <a:avLst/>
              <a:gdLst/>
              <a:ahLst/>
              <a:cxnLst/>
              <a:rect r="r" b="b" t="t" l="l"/>
              <a:pathLst>
                <a:path h="554609" w="554609">
                  <a:moveTo>
                    <a:pt x="38100" y="0"/>
                  </a:moveTo>
                  <a:lnTo>
                    <a:pt x="516509" y="0"/>
                  </a:lnTo>
                  <a:cubicBezTo>
                    <a:pt x="537591" y="0"/>
                    <a:pt x="554609" y="17018"/>
                    <a:pt x="554609" y="38100"/>
                  </a:cubicBezTo>
                  <a:lnTo>
                    <a:pt x="554609" y="516509"/>
                  </a:lnTo>
                  <a:cubicBezTo>
                    <a:pt x="554609" y="537591"/>
                    <a:pt x="537591" y="554609"/>
                    <a:pt x="516509" y="554609"/>
                  </a:cubicBezTo>
                  <a:lnTo>
                    <a:pt x="38100" y="554609"/>
                  </a:lnTo>
                  <a:cubicBezTo>
                    <a:pt x="17018" y="554609"/>
                    <a:pt x="0" y="537591"/>
                    <a:pt x="0" y="516509"/>
                  </a:cubicBezTo>
                  <a:lnTo>
                    <a:pt x="0" y="38100"/>
                  </a:lnTo>
                  <a:cubicBezTo>
                    <a:pt x="0" y="17018"/>
                    <a:pt x="17018" y="0"/>
                    <a:pt x="38100" y="0"/>
                  </a:cubicBezTo>
                  <a:moveTo>
                    <a:pt x="38100" y="76200"/>
                  </a:moveTo>
                  <a:lnTo>
                    <a:pt x="38100" y="38100"/>
                  </a:lnTo>
                  <a:lnTo>
                    <a:pt x="76200" y="38100"/>
                  </a:lnTo>
                  <a:lnTo>
                    <a:pt x="76200" y="516509"/>
                  </a:lnTo>
                  <a:lnTo>
                    <a:pt x="38100" y="516509"/>
                  </a:lnTo>
                  <a:lnTo>
                    <a:pt x="38100" y="478409"/>
                  </a:lnTo>
                  <a:lnTo>
                    <a:pt x="516509" y="478409"/>
                  </a:lnTo>
                  <a:lnTo>
                    <a:pt x="516509" y="516509"/>
                  </a:lnTo>
                  <a:lnTo>
                    <a:pt x="478409" y="516509"/>
                  </a:lnTo>
                  <a:lnTo>
                    <a:pt x="478409" y="38100"/>
                  </a:lnTo>
                  <a:lnTo>
                    <a:pt x="516509" y="38100"/>
                  </a:lnTo>
                  <a:lnTo>
                    <a:pt x="516509" y="76200"/>
                  </a:lnTo>
                  <a:lnTo>
                    <a:pt x="38100" y="76200"/>
                  </a:lnTo>
                  <a:close/>
                </a:path>
              </a:pathLst>
            </a:custGeom>
            <a:solidFill>
              <a:srgbClr val="000000"/>
            </a:solidFill>
            <a:ln w="12700">
              <a:solidFill>
                <a:srgbClr val="000000"/>
              </a:solidFill>
            </a:ln>
          </p:spPr>
        </p:sp>
      </p:grpSp>
      <p:grpSp>
        <p:nvGrpSpPr>
          <p:cNvPr name="Group 30" id="30"/>
          <p:cNvGrpSpPr/>
          <p:nvPr/>
        </p:nvGrpSpPr>
        <p:grpSpPr>
          <a:xfrm rot="412367">
            <a:off x="3171882" y="1074876"/>
            <a:ext cx="496632" cy="19050"/>
            <a:chOff x="0" y="0"/>
            <a:chExt cx="662176" cy="25400"/>
          </a:xfrm>
        </p:grpSpPr>
        <p:sp>
          <p:nvSpPr>
            <p:cNvPr name="Freeform 31" id="31"/>
            <p:cNvSpPr/>
            <p:nvPr/>
          </p:nvSpPr>
          <p:spPr>
            <a:xfrm flipH="false" flipV="false" rot="0">
              <a:off x="0" y="0"/>
              <a:ext cx="662178" cy="25400"/>
            </a:xfrm>
            <a:custGeom>
              <a:avLst/>
              <a:gdLst/>
              <a:ahLst/>
              <a:cxnLst/>
              <a:rect r="r" b="b" t="t" l="l"/>
              <a:pathLst>
                <a:path h="25400" w="662178">
                  <a:moveTo>
                    <a:pt x="12700" y="0"/>
                  </a:moveTo>
                  <a:lnTo>
                    <a:pt x="649478" y="0"/>
                  </a:lnTo>
                  <a:cubicBezTo>
                    <a:pt x="656463" y="0"/>
                    <a:pt x="662178" y="5715"/>
                    <a:pt x="662178" y="12700"/>
                  </a:cubicBezTo>
                  <a:cubicBezTo>
                    <a:pt x="662178" y="19685"/>
                    <a:pt x="656463" y="25400"/>
                    <a:pt x="64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2" id="32"/>
          <p:cNvGrpSpPr/>
          <p:nvPr/>
        </p:nvGrpSpPr>
        <p:grpSpPr>
          <a:xfrm rot="0">
            <a:off x="1712100" y="1362056"/>
            <a:ext cx="3006800" cy="2750344"/>
            <a:chOff x="0" y="0"/>
            <a:chExt cx="4009067" cy="3667125"/>
          </a:xfrm>
        </p:grpSpPr>
        <p:sp>
          <p:nvSpPr>
            <p:cNvPr name="Freeform 33" id="33"/>
            <p:cNvSpPr/>
            <p:nvPr/>
          </p:nvSpPr>
          <p:spPr>
            <a:xfrm flipH="false" flipV="false" rot="0">
              <a:off x="0" y="0"/>
              <a:ext cx="4009067" cy="3667125"/>
            </a:xfrm>
            <a:custGeom>
              <a:avLst/>
              <a:gdLst/>
              <a:ahLst/>
              <a:cxnLst/>
              <a:rect r="r" b="b" t="t" l="l"/>
              <a:pathLst>
                <a:path h="3667125" w="4009067">
                  <a:moveTo>
                    <a:pt x="0" y="0"/>
                  </a:moveTo>
                  <a:lnTo>
                    <a:pt x="4009067" y="0"/>
                  </a:lnTo>
                  <a:lnTo>
                    <a:pt x="4009067" y="3667125"/>
                  </a:lnTo>
                  <a:lnTo>
                    <a:pt x="0" y="3667125"/>
                  </a:lnTo>
                  <a:close/>
                </a:path>
              </a:pathLst>
            </a:custGeom>
            <a:solidFill>
              <a:srgbClr val="000000">
                <a:alpha val="0"/>
              </a:srgbClr>
            </a:solidFill>
          </p:spPr>
        </p:sp>
        <p:sp>
          <p:nvSpPr>
            <p:cNvPr name="TextBox 34" id="34"/>
            <p:cNvSpPr txBox="true"/>
            <p:nvPr/>
          </p:nvSpPr>
          <p:spPr>
            <a:xfrm>
              <a:off x="0" y="-9525"/>
              <a:ext cx="4009067" cy="3676650"/>
            </a:xfrm>
            <a:prstGeom prst="rect">
              <a:avLst/>
            </a:prstGeom>
          </p:spPr>
          <p:txBody>
            <a:bodyPr anchor="ctr" rtlCol="false" tIns="0" lIns="0" bIns="0" rIns="0"/>
            <a:lstStyle/>
            <a:p>
              <a:pPr algn="ctr">
                <a:lnSpc>
                  <a:spcPts val="16800"/>
                </a:lnSpc>
              </a:pPr>
              <a:r>
                <a:rPr lang="en-US" sz="14000" b="true">
                  <a:solidFill>
                    <a:srgbClr val="000000"/>
                  </a:solidFill>
                  <a:latin typeface="Rubik Bold"/>
                  <a:ea typeface="Rubik Bold"/>
                  <a:cs typeface="Rubik Bold"/>
                  <a:sym typeface="Rubik Bold"/>
                </a:rPr>
                <a:t>05</a:t>
              </a:r>
            </a:p>
          </p:txBody>
        </p:sp>
      </p:grpSp>
      <p:sp>
        <p:nvSpPr>
          <p:cNvPr name="TextBox 35" id="35"/>
          <p:cNvSpPr txBox="true"/>
          <p:nvPr/>
        </p:nvSpPr>
        <p:spPr>
          <a:xfrm rot="0">
            <a:off x="4496485" y="5027223"/>
            <a:ext cx="9237226" cy="2190750"/>
          </a:xfrm>
          <a:prstGeom prst="rect">
            <a:avLst/>
          </a:prstGeom>
        </p:spPr>
        <p:txBody>
          <a:bodyPr anchor="t" rtlCol="false" tIns="0" lIns="0" bIns="0" rIns="0">
            <a:spAutoFit/>
          </a:bodyPr>
          <a:lstStyle/>
          <a:p>
            <a:pPr algn="ctr">
              <a:lnSpc>
                <a:spcPts val="16800"/>
              </a:lnSpc>
            </a:pPr>
            <a:r>
              <a:rPr lang="en-US" sz="14000" b="true">
                <a:solidFill>
                  <a:srgbClr val="000000"/>
                </a:solidFill>
                <a:latin typeface="Times New Roman Bold"/>
                <a:ea typeface="Times New Roman Bold"/>
                <a:cs typeface="Times New Roman Bold"/>
                <a:sym typeface="Times New Roman Bold"/>
              </a:rPr>
              <a:t>KẾT LUẬN</a:t>
            </a:r>
          </a:p>
        </p:txBody>
      </p:sp>
      <p:sp>
        <p:nvSpPr>
          <p:cNvPr name="Freeform 36" id="36"/>
          <p:cNvSpPr/>
          <p:nvPr/>
        </p:nvSpPr>
        <p:spPr>
          <a:xfrm flipH="false" flipV="false" rot="0">
            <a:off x="903553" y="8187457"/>
            <a:ext cx="1053295" cy="1053295"/>
          </a:xfrm>
          <a:custGeom>
            <a:avLst/>
            <a:gdLst/>
            <a:ahLst/>
            <a:cxnLst/>
            <a:rect r="r" b="b" t="t" l="l"/>
            <a:pathLst>
              <a:path h="1053295" w="1053295">
                <a:moveTo>
                  <a:pt x="0" y="0"/>
                </a:moveTo>
                <a:lnTo>
                  <a:pt x="1053295" y="0"/>
                </a:lnTo>
                <a:lnTo>
                  <a:pt x="1053295" y="1053295"/>
                </a:lnTo>
                <a:lnTo>
                  <a:pt x="0" y="1053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7" id="37"/>
          <p:cNvSpPr/>
          <p:nvPr/>
        </p:nvSpPr>
        <p:spPr>
          <a:xfrm flipH="false" flipV="false" rot="0">
            <a:off x="7656916" y="3442934"/>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4">
              <a:extLst>
                <a:ext uri="{96DAC541-7B7A-43D3-8B79-37D633B846F1}">
                  <asvg:svgBlip xmlns:asvg="http://schemas.microsoft.com/office/drawing/2016/SVG/main" r:embed="rId15"/>
                </a:ext>
              </a:extLst>
            </a:blip>
            <a:stretch>
              <a:fillRect l="0" t="-1547" r="0" b="-1547"/>
            </a:stretch>
          </a:blipFill>
        </p:spPr>
      </p:sp>
      <p:sp>
        <p:nvSpPr>
          <p:cNvPr name="Freeform 38" id="38"/>
          <p:cNvSpPr/>
          <p:nvPr/>
        </p:nvSpPr>
        <p:spPr>
          <a:xfrm flipH="false" flipV="false" rot="0">
            <a:off x="8585206" y="3141278"/>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9" id="39"/>
          <p:cNvSpPr/>
          <p:nvPr/>
        </p:nvSpPr>
        <p:spPr>
          <a:xfrm flipH="false" flipV="false" rot="0">
            <a:off x="6084978" y="2834650"/>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8">
              <a:extLst>
                <a:ext uri="{96DAC541-7B7A-43D3-8B79-37D633B846F1}">
                  <asvg:svgBlip xmlns:asvg="http://schemas.microsoft.com/office/drawing/2016/SVG/main" r:embed="rId19"/>
                </a:ext>
              </a:extLst>
            </a:blip>
            <a:stretch>
              <a:fillRect l="0" t="-5326" r="0" b="-5326"/>
            </a:stretch>
          </a:blipFill>
        </p:spPr>
      </p:sp>
      <p:sp>
        <p:nvSpPr>
          <p:cNvPr name="Freeform 40" id="40"/>
          <p:cNvSpPr/>
          <p:nvPr/>
        </p:nvSpPr>
        <p:spPr>
          <a:xfrm flipH="false" flipV="false" rot="0">
            <a:off x="898825" y="6811025"/>
            <a:ext cx="1062750" cy="1062750"/>
          </a:xfrm>
          <a:custGeom>
            <a:avLst/>
            <a:gdLst/>
            <a:ahLst/>
            <a:cxnLst/>
            <a:rect r="r" b="b" t="t" l="l"/>
            <a:pathLst>
              <a:path h="1062750" w="1062750">
                <a:moveTo>
                  <a:pt x="0" y="0"/>
                </a:moveTo>
                <a:lnTo>
                  <a:pt x="1062750" y="0"/>
                </a:lnTo>
                <a:lnTo>
                  <a:pt x="1062750" y="1062750"/>
                </a:lnTo>
                <a:lnTo>
                  <a:pt x="0" y="106275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DBCFC3"/>
        </a:solidFill>
      </p:bgPr>
    </p:bg>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4239230" y="1253000"/>
            <a:ext cx="12801600" cy="7315200"/>
            <a:chOff x="0" y="0"/>
            <a:chExt cx="17068800" cy="9753600"/>
          </a:xfrm>
        </p:grpSpPr>
        <p:sp>
          <p:nvSpPr>
            <p:cNvPr name="Freeform 5" id="5"/>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6" id="6"/>
          <p:cNvSpPr/>
          <p:nvPr/>
        </p:nvSpPr>
        <p:spPr>
          <a:xfrm flipH="false" flipV="false" rot="0">
            <a:off x="4056230" y="1041425"/>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5277">
            <a:off x="4018067" y="1782350"/>
            <a:ext cx="12879127" cy="19050"/>
            <a:chOff x="0" y="0"/>
            <a:chExt cx="17172169" cy="25400"/>
          </a:xfrm>
        </p:grpSpPr>
        <p:sp>
          <p:nvSpPr>
            <p:cNvPr name="Freeform 8" id="8"/>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6184293" y="1416626"/>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700000">
            <a:off x="16184293" y="1416626"/>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5640955" y="1224101"/>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4929244" y="1599626"/>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7" id="17"/>
          <p:cNvGrpSpPr/>
          <p:nvPr/>
        </p:nvGrpSpPr>
        <p:grpSpPr>
          <a:xfrm rot="0">
            <a:off x="2925600" y="1668900"/>
            <a:ext cx="12801600" cy="7315200"/>
            <a:chOff x="0" y="0"/>
            <a:chExt cx="17068800" cy="9753600"/>
          </a:xfrm>
        </p:grpSpPr>
        <p:sp>
          <p:nvSpPr>
            <p:cNvPr name="Freeform 18" id="18"/>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19" id="19"/>
          <p:cNvSpPr/>
          <p:nvPr/>
        </p:nvSpPr>
        <p:spPr>
          <a:xfrm flipH="false" flipV="false" rot="0">
            <a:off x="2742600" y="1457325"/>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15277">
            <a:off x="2704437" y="2198250"/>
            <a:ext cx="12879127" cy="19050"/>
            <a:chOff x="0" y="0"/>
            <a:chExt cx="17172169" cy="25400"/>
          </a:xfrm>
        </p:grpSpPr>
        <p:sp>
          <p:nvSpPr>
            <p:cNvPr name="Freeform 21" id="21"/>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2" id="22"/>
          <p:cNvGrpSpPr/>
          <p:nvPr/>
        </p:nvGrpSpPr>
        <p:grpSpPr>
          <a:xfrm rot="2700000">
            <a:off x="14870663" y="1832526"/>
            <a:ext cx="617474" cy="19050"/>
            <a:chOff x="0" y="0"/>
            <a:chExt cx="823299" cy="25400"/>
          </a:xfrm>
        </p:grpSpPr>
        <p:sp>
          <p:nvSpPr>
            <p:cNvPr name="Freeform 23" id="23"/>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4" id="24"/>
          <p:cNvGrpSpPr/>
          <p:nvPr/>
        </p:nvGrpSpPr>
        <p:grpSpPr>
          <a:xfrm rot="2699999">
            <a:off x="14870663" y="1832526"/>
            <a:ext cx="617474" cy="19050"/>
            <a:chOff x="0" y="0"/>
            <a:chExt cx="823299" cy="25400"/>
          </a:xfrm>
        </p:grpSpPr>
        <p:sp>
          <p:nvSpPr>
            <p:cNvPr name="Freeform 25" id="25"/>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6" id="26"/>
          <p:cNvGrpSpPr/>
          <p:nvPr/>
        </p:nvGrpSpPr>
        <p:grpSpPr>
          <a:xfrm rot="0">
            <a:off x="14327325" y="1640001"/>
            <a:ext cx="423196" cy="423196"/>
            <a:chOff x="0" y="0"/>
            <a:chExt cx="564261" cy="564261"/>
          </a:xfrm>
        </p:grpSpPr>
        <p:sp>
          <p:nvSpPr>
            <p:cNvPr name="Freeform 27" id="27"/>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28" id="28"/>
          <p:cNvGrpSpPr/>
          <p:nvPr/>
        </p:nvGrpSpPr>
        <p:grpSpPr>
          <a:xfrm rot="404757">
            <a:off x="13615614" y="2015526"/>
            <a:ext cx="505568" cy="19050"/>
            <a:chOff x="0" y="0"/>
            <a:chExt cx="674091" cy="25400"/>
          </a:xfrm>
        </p:grpSpPr>
        <p:sp>
          <p:nvSpPr>
            <p:cNvPr name="Freeform 29" id="29"/>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0" id="30"/>
          <p:cNvGrpSpPr/>
          <p:nvPr/>
        </p:nvGrpSpPr>
        <p:grpSpPr>
          <a:xfrm rot="0">
            <a:off x="4193076" y="2479440"/>
            <a:ext cx="10972800" cy="1154168"/>
            <a:chOff x="0" y="0"/>
            <a:chExt cx="14630400" cy="1538890"/>
          </a:xfrm>
        </p:grpSpPr>
        <p:sp>
          <p:nvSpPr>
            <p:cNvPr name="Freeform 31" id="31"/>
            <p:cNvSpPr/>
            <p:nvPr/>
          </p:nvSpPr>
          <p:spPr>
            <a:xfrm flipH="false" flipV="false" rot="0">
              <a:off x="0" y="0"/>
              <a:ext cx="14630400" cy="1538890"/>
            </a:xfrm>
            <a:custGeom>
              <a:avLst/>
              <a:gdLst/>
              <a:ahLst/>
              <a:cxnLst/>
              <a:rect r="r" b="b" t="t" l="l"/>
              <a:pathLst>
                <a:path h="1538890" w="14630400">
                  <a:moveTo>
                    <a:pt x="0" y="0"/>
                  </a:moveTo>
                  <a:lnTo>
                    <a:pt x="14630400" y="0"/>
                  </a:lnTo>
                  <a:lnTo>
                    <a:pt x="14630400" y="1538890"/>
                  </a:lnTo>
                  <a:lnTo>
                    <a:pt x="0" y="1538890"/>
                  </a:lnTo>
                  <a:close/>
                </a:path>
              </a:pathLst>
            </a:custGeom>
            <a:solidFill>
              <a:srgbClr val="000000">
                <a:alpha val="0"/>
              </a:srgbClr>
            </a:solidFill>
          </p:spPr>
        </p:sp>
        <p:sp>
          <p:nvSpPr>
            <p:cNvPr name="TextBox 32" id="32"/>
            <p:cNvSpPr txBox="true"/>
            <p:nvPr/>
          </p:nvSpPr>
          <p:spPr>
            <a:xfrm>
              <a:off x="0" y="-9525"/>
              <a:ext cx="14630400" cy="1548415"/>
            </a:xfrm>
            <a:prstGeom prst="rect">
              <a:avLst/>
            </a:prstGeom>
          </p:spPr>
          <p:txBody>
            <a:bodyPr anchor="ctr" rtlCol="false" tIns="0" lIns="0" bIns="0" rIns="0"/>
            <a:lstStyle/>
            <a:p>
              <a:pPr algn="ctr">
                <a:lnSpc>
                  <a:spcPts val="8400"/>
                </a:lnSpc>
              </a:pPr>
              <a:r>
                <a:rPr lang="en-US" sz="7000">
                  <a:solidFill>
                    <a:srgbClr val="000000"/>
                  </a:solidFill>
                  <a:latin typeface="Rubik"/>
                  <a:ea typeface="Rubik"/>
                  <a:cs typeface="Rubik"/>
                  <a:sym typeface="Rubik"/>
                </a:rPr>
                <a:t>Future Improvement</a:t>
              </a:r>
            </a:p>
          </p:txBody>
        </p:sp>
      </p:grpSp>
      <p:sp>
        <p:nvSpPr>
          <p:cNvPr name="Freeform 33" id="33"/>
          <p:cNvSpPr/>
          <p:nvPr/>
        </p:nvSpPr>
        <p:spPr>
          <a:xfrm flipH="false" flipV="false" rot="0">
            <a:off x="898825" y="6809649"/>
            <a:ext cx="1062750" cy="1062750"/>
          </a:xfrm>
          <a:custGeom>
            <a:avLst/>
            <a:gdLst/>
            <a:ahLst/>
            <a:cxnLst/>
            <a:rect r="r" b="b" t="t" l="l"/>
            <a:pathLst>
              <a:path h="1062750" w="1062750">
                <a:moveTo>
                  <a:pt x="0" y="0"/>
                </a:moveTo>
                <a:lnTo>
                  <a:pt x="1062750" y="0"/>
                </a:lnTo>
                <a:lnTo>
                  <a:pt x="1062750" y="1062750"/>
                </a:lnTo>
                <a:lnTo>
                  <a:pt x="0" y="10627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4" id="34"/>
          <p:cNvGrpSpPr/>
          <p:nvPr/>
        </p:nvGrpSpPr>
        <p:grpSpPr>
          <a:xfrm rot="0">
            <a:off x="728726" y="1966016"/>
            <a:ext cx="3474625" cy="1919954"/>
            <a:chOff x="0" y="0"/>
            <a:chExt cx="4632833" cy="2559939"/>
          </a:xfrm>
        </p:grpSpPr>
        <p:sp>
          <p:nvSpPr>
            <p:cNvPr name="Freeform 35" id="35"/>
            <p:cNvSpPr/>
            <p:nvPr/>
          </p:nvSpPr>
          <p:spPr>
            <a:xfrm flipH="false" flipV="false" rot="0">
              <a:off x="0" y="0"/>
              <a:ext cx="4632833" cy="2559939"/>
            </a:xfrm>
            <a:custGeom>
              <a:avLst/>
              <a:gdLst/>
              <a:ahLst/>
              <a:cxnLst/>
              <a:rect r="r" b="b" t="t" l="l"/>
              <a:pathLst>
                <a:path h="2559939" w="4632833">
                  <a:moveTo>
                    <a:pt x="0" y="0"/>
                  </a:moveTo>
                  <a:lnTo>
                    <a:pt x="4632833" y="0"/>
                  </a:lnTo>
                  <a:lnTo>
                    <a:pt x="4632833" y="2559939"/>
                  </a:lnTo>
                  <a:lnTo>
                    <a:pt x="0" y="2559939"/>
                  </a:lnTo>
                </a:path>
              </a:pathLst>
            </a:custGeom>
            <a:solidFill>
              <a:srgbClr val="000000"/>
            </a:solidFill>
            <a:ln w="12700">
              <a:solidFill>
                <a:srgbClr val="000000"/>
              </a:solidFill>
            </a:ln>
          </p:spPr>
        </p:sp>
      </p:grpSp>
      <p:sp>
        <p:nvSpPr>
          <p:cNvPr name="Freeform 36" id="36"/>
          <p:cNvSpPr/>
          <p:nvPr/>
        </p:nvSpPr>
        <p:spPr>
          <a:xfrm flipH="false" flipV="false" rot="0">
            <a:off x="548376" y="1754741"/>
            <a:ext cx="3503200" cy="1977104"/>
          </a:xfrm>
          <a:custGeom>
            <a:avLst/>
            <a:gdLst/>
            <a:ahLst/>
            <a:cxnLst/>
            <a:rect r="r" b="b" t="t" l="l"/>
            <a:pathLst>
              <a:path h="1977104" w="3503200">
                <a:moveTo>
                  <a:pt x="0" y="0"/>
                </a:moveTo>
                <a:lnTo>
                  <a:pt x="3503200" y="0"/>
                </a:lnTo>
                <a:lnTo>
                  <a:pt x="3503200" y="1977104"/>
                </a:lnTo>
                <a:lnTo>
                  <a:pt x="0" y="19771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7" id="37"/>
          <p:cNvGrpSpPr/>
          <p:nvPr/>
        </p:nvGrpSpPr>
        <p:grpSpPr>
          <a:xfrm rot="56023">
            <a:off x="520293" y="2129666"/>
            <a:ext cx="3526066" cy="19050"/>
            <a:chOff x="0" y="0"/>
            <a:chExt cx="4701421" cy="25400"/>
          </a:xfrm>
        </p:grpSpPr>
        <p:sp>
          <p:nvSpPr>
            <p:cNvPr name="Freeform 38" id="38"/>
            <p:cNvSpPr/>
            <p:nvPr/>
          </p:nvSpPr>
          <p:spPr>
            <a:xfrm flipH="false" flipV="false" rot="0">
              <a:off x="0" y="0"/>
              <a:ext cx="4701413" cy="25400"/>
            </a:xfrm>
            <a:custGeom>
              <a:avLst/>
              <a:gdLst/>
              <a:ahLst/>
              <a:cxnLst/>
              <a:rect r="r" b="b" t="t" l="l"/>
              <a:pathLst>
                <a:path h="25400" w="4701413">
                  <a:moveTo>
                    <a:pt x="12700" y="0"/>
                  </a:moveTo>
                  <a:lnTo>
                    <a:pt x="4688713" y="0"/>
                  </a:lnTo>
                  <a:cubicBezTo>
                    <a:pt x="4695698" y="0"/>
                    <a:pt x="4701413" y="5715"/>
                    <a:pt x="4701413" y="12700"/>
                  </a:cubicBezTo>
                  <a:cubicBezTo>
                    <a:pt x="4701413" y="19685"/>
                    <a:pt x="4695698" y="25400"/>
                    <a:pt x="4688713"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39" id="39"/>
          <p:cNvSpPr/>
          <p:nvPr/>
        </p:nvSpPr>
        <p:spPr>
          <a:xfrm flipH="false" flipV="false" rot="0">
            <a:off x="1308140" y="2426304"/>
            <a:ext cx="1968518" cy="1024007"/>
          </a:xfrm>
          <a:custGeom>
            <a:avLst/>
            <a:gdLst/>
            <a:ahLst/>
            <a:cxnLst/>
            <a:rect r="r" b="b" t="t" l="l"/>
            <a:pathLst>
              <a:path h="1024007" w="1968518">
                <a:moveTo>
                  <a:pt x="0" y="0"/>
                </a:moveTo>
                <a:lnTo>
                  <a:pt x="1968518" y="0"/>
                </a:lnTo>
                <a:lnTo>
                  <a:pt x="1968518" y="1024007"/>
                </a:lnTo>
                <a:lnTo>
                  <a:pt x="0" y="1024007"/>
                </a:lnTo>
                <a:lnTo>
                  <a:pt x="0" y="0"/>
                </a:lnTo>
                <a:close/>
              </a:path>
            </a:pathLst>
          </a:custGeom>
          <a:blipFill>
            <a:blip r:embed="rId10">
              <a:extLst>
                <a:ext uri="{96DAC541-7B7A-43D3-8B79-37D633B846F1}">
                  <asvg:svgBlip xmlns:asvg="http://schemas.microsoft.com/office/drawing/2016/SVG/main" r:embed="rId11"/>
                </a:ext>
              </a:extLst>
            </a:blip>
            <a:stretch>
              <a:fillRect l="0" t="-148" r="0" b="-148"/>
            </a:stretch>
          </a:blipFill>
        </p:spPr>
      </p:sp>
      <p:sp>
        <p:nvSpPr>
          <p:cNvPr name="Freeform 40" id="40"/>
          <p:cNvSpPr/>
          <p:nvPr/>
        </p:nvSpPr>
        <p:spPr>
          <a:xfrm flipH="false" flipV="false" rot="0">
            <a:off x="2816458" y="7787234"/>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2">
              <a:extLst>
                <a:ext uri="{96DAC541-7B7A-43D3-8B79-37D633B846F1}">
                  <asvg:svgBlip xmlns:asvg="http://schemas.microsoft.com/office/drawing/2016/SVG/main" r:embed="rId13"/>
                </a:ext>
              </a:extLst>
            </a:blip>
            <a:stretch>
              <a:fillRect l="0" t="-1547" r="0" b="-1547"/>
            </a:stretch>
          </a:blipFill>
        </p:spPr>
      </p:sp>
      <p:sp>
        <p:nvSpPr>
          <p:cNvPr name="Freeform 41" id="41"/>
          <p:cNvSpPr/>
          <p:nvPr/>
        </p:nvSpPr>
        <p:spPr>
          <a:xfrm flipH="false" flipV="false" rot="0">
            <a:off x="14063226" y="8116414"/>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4">
              <a:extLst>
                <a:ext uri="{96DAC541-7B7A-43D3-8B79-37D633B846F1}">
                  <asvg:svgBlip xmlns:asvg="http://schemas.microsoft.com/office/drawing/2016/SVG/main" r:embed="rId15"/>
                </a:ext>
              </a:extLst>
            </a:blip>
            <a:stretch>
              <a:fillRect l="0" t="-5326" r="0" b="-5326"/>
            </a:stretch>
          </a:blipFill>
        </p:spPr>
      </p:sp>
      <p:sp>
        <p:nvSpPr>
          <p:cNvPr name="Freeform 42" id="42"/>
          <p:cNvSpPr/>
          <p:nvPr/>
        </p:nvSpPr>
        <p:spPr>
          <a:xfrm flipH="false" flipV="false" rot="0">
            <a:off x="13598546" y="781911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3" id="43"/>
          <p:cNvSpPr/>
          <p:nvPr/>
        </p:nvSpPr>
        <p:spPr>
          <a:xfrm flipH="false" flipV="false" rot="0">
            <a:off x="903553" y="8186089"/>
            <a:ext cx="1053295" cy="1053295"/>
          </a:xfrm>
          <a:custGeom>
            <a:avLst/>
            <a:gdLst/>
            <a:ahLst/>
            <a:cxnLst/>
            <a:rect r="r" b="b" t="t" l="l"/>
            <a:pathLst>
              <a:path h="1053295" w="1053295">
                <a:moveTo>
                  <a:pt x="0" y="0"/>
                </a:moveTo>
                <a:lnTo>
                  <a:pt x="1053295" y="0"/>
                </a:lnTo>
                <a:lnTo>
                  <a:pt x="1053295" y="1053295"/>
                </a:lnTo>
                <a:lnTo>
                  <a:pt x="0" y="105329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44" id="44"/>
          <p:cNvSpPr/>
          <p:nvPr/>
        </p:nvSpPr>
        <p:spPr>
          <a:xfrm flipH="false" flipV="false" rot="0">
            <a:off x="768788" y="5306814"/>
            <a:ext cx="1322821" cy="1322821"/>
          </a:xfrm>
          <a:custGeom>
            <a:avLst/>
            <a:gdLst/>
            <a:ahLst/>
            <a:cxnLst/>
            <a:rect r="r" b="b" t="t" l="l"/>
            <a:pathLst>
              <a:path h="1322821" w="1322821">
                <a:moveTo>
                  <a:pt x="0" y="0"/>
                </a:moveTo>
                <a:lnTo>
                  <a:pt x="1322821" y="0"/>
                </a:lnTo>
                <a:lnTo>
                  <a:pt x="1322821" y="1322821"/>
                </a:lnTo>
                <a:lnTo>
                  <a:pt x="0" y="132282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45" id="45"/>
          <p:cNvSpPr txBox="true"/>
          <p:nvPr/>
        </p:nvSpPr>
        <p:spPr>
          <a:xfrm rot="0">
            <a:off x="4114401" y="3931509"/>
            <a:ext cx="10365634" cy="1135650"/>
          </a:xfrm>
          <a:prstGeom prst="rect">
            <a:avLst/>
          </a:prstGeom>
        </p:spPr>
        <p:txBody>
          <a:bodyPr anchor="t" rtlCol="false" tIns="0" lIns="0" bIns="0" rIns="0">
            <a:spAutoFit/>
          </a:bodyPr>
          <a:lstStyle/>
          <a:p>
            <a:pPr algn="l">
              <a:lnSpc>
                <a:spcPts val="3358"/>
              </a:lnSpc>
            </a:pPr>
            <a:r>
              <a:rPr lang="en-US" sz="2799">
                <a:solidFill>
                  <a:srgbClr val="000000"/>
                </a:solidFill>
                <a:latin typeface="Times New Roman"/>
                <a:ea typeface="Times New Roman"/>
                <a:cs typeface="Times New Roman"/>
                <a:sym typeface="Times New Roman"/>
              </a:rPr>
              <a:t>Mở rộng dữ liệu (nhiều loài/giai đoạn, điều kiện ánh sáng thực tế) và </a:t>
            </a:r>
            <a:r>
              <a:rPr lang="en-US" sz="2799" b="true">
                <a:solidFill>
                  <a:srgbClr val="000000"/>
                </a:solidFill>
                <a:latin typeface="Times New Roman Bold"/>
                <a:ea typeface="Times New Roman Bold"/>
                <a:cs typeface="Times New Roman Bold"/>
                <a:sym typeface="Times New Roman Bold"/>
              </a:rPr>
              <a:t>active learning</a:t>
            </a:r>
            <a:r>
              <a:rPr lang="en-US" sz="2799">
                <a:solidFill>
                  <a:srgbClr val="000000"/>
                </a:solidFill>
                <a:latin typeface="Times New Roman"/>
                <a:ea typeface="Times New Roman"/>
                <a:cs typeface="Times New Roman"/>
                <a:sym typeface="Times New Roman"/>
              </a:rPr>
              <a:t> để tăng độ chính xác &amp; ổn định.</a:t>
            </a:r>
          </a:p>
        </p:txBody>
      </p:sp>
      <p:sp>
        <p:nvSpPr>
          <p:cNvPr name="TextBox 46" id="46"/>
          <p:cNvSpPr txBox="true"/>
          <p:nvPr/>
        </p:nvSpPr>
        <p:spPr>
          <a:xfrm rot="0">
            <a:off x="4099449" y="5028609"/>
            <a:ext cx="10380584" cy="876300"/>
          </a:xfrm>
          <a:prstGeom prst="rect">
            <a:avLst/>
          </a:prstGeom>
        </p:spPr>
        <p:txBody>
          <a:bodyPr anchor="t" rtlCol="false" tIns="0" lIns="0" bIns="0" rIns="0">
            <a:spAutoFit/>
          </a:bodyPr>
          <a:lstStyle/>
          <a:p>
            <a:pPr algn="l">
              <a:lnSpc>
                <a:spcPts val="3358"/>
              </a:lnSpc>
            </a:pPr>
            <a:r>
              <a:rPr lang="en-US" sz="2799">
                <a:solidFill>
                  <a:srgbClr val="000000"/>
                </a:solidFill>
                <a:latin typeface="Times New Roman"/>
                <a:ea typeface="Times New Roman"/>
                <a:cs typeface="Times New Roman"/>
                <a:sym typeface="Times New Roman"/>
              </a:rPr>
              <a:t>Cải thiện trải nghiệm: hướng dẫn chụp, xử lý ảnh trên thiết bị, giải thích kết quả, hỗ trợ </a:t>
            </a:r>
            <a:r>
              <a:rPr lang="en-US" sz="2799" b="true">
                <a:solidFill>
                  <a:srgbClr val="000000"/>
                </a:solidFill>
                <a:latin typeface="Times New Roman Bold"/>
                <a:ea typeface="Times New Roman Bold"/>
                <a:cs typeface="Times New Roman Bold"/>
                <a:sym typeface="Times New Roman Bold"/>
              </a:rPr>
              <a:t>đa ngôn ngữ</a:t>
            </a:r>
            <a:r>
              <a:rPr lang="en-US" sz="2799">
                <a:solidFill>
                  <a:srgbClr val="000000"/>
                </a:solidFill>
                <a:latin typeface="Times New Roman"/>
                <a:ea typeface="Times New Roman"/>
                <a:cs typeface="Times New Roman"/>
                <a:sym typeface="Times New Roman"/>
              </a:rPr>
              <a:t>.</a:t>
            </a:r>
          </a:p>
        </p:txBody>
      </p:sp>
      <p:sp>
        <p:nvSpPr>
          <p:cNvPr name="TextBox 47" id="47"/>
          <p:cNvSpPr txBox="true"/>
          <p:nvPr/>
        </p:nvSpPr>
        <p:spPr>
          <a:xfrm rot="0">
            <a:off x="4099445" y="6205775"/>
            <a:ext cx="10089104" cy="1135650"/>
          </a:xfrm>
          <a:prstGeom prst="rect">
            <a:avLst/>
          </a:prstGeom>
        </p:spPr>
        <p:txBody>
          <a:bodyPr anchor="t" rtlCol="false" tIns="0" lIns="0" bIns="0" rIns="0">
            <a:spAutoFit/>
          </a:bodyPr>
          <a:lstStyle/>
          <a:p>
            <a:pPr algn="l">
              <a:lnSpc>
                <a:spcPts val="3358"/>
              </a:lnSpc>
            </a:pPr>
            <a:r>
              <a:rPr lang="en-US" sz="2799">
                <a:solidFill>
                  <a:srgbClr val="000000"/>
                </a:solidFill>
                <a:latin typeface="Times New Roman"/>
                <a:ea typeface="Times New Roman"/>
                <a:cs typeface="Times New Roman"/>
                <a:sym typeface="Times New Roman"/>
              </a:rPr>
              <a:t>IPM theo ngữ cảnh: dùng </a:t>
            </a:r>
            <a:r>
              <a:rPr lang="en-US" sz="2799" b="true">
                <a:solidFill>
                  <a:srgbClr val="000000"/>
                </a:solidFill>
                <a:latin typeface="Times New Roman Bold"/>
                <a:ea typeface="Times New Roman Bold"/>
                <a:cs typeface="Times New Roman Bold"/>
                <a:sym typeface="Times New Roman Bold"/>
              </a:rPr>
              <a:t>vị trí/mùa vụ &amp; thời tiết</a:t>
            </a:r>
            <a:r>
              <a:rPr lang="en-US" sz="2799">
                <a:solidFill>
                  <a:srgbClr val="000000"/>
                </a:solidFill>
                <a:latin typeface="Times New Roman"/>
                <a:ea typeface="Times New Roman"/>
                <a:cs typeface="Times New Roman"/>
                <a:sym typeface="Times New Roman"/>
              </a:rPr>
              <a:t> để cá nhân hóa khuyến nghị; nhắc việc và lịch xử lý.</a:t>
            </a:r>
          </a:p>
        </p:txBody>
      </p:sp>
      <p:sp>
        <p:nvSpPr>
          <p:cNvPr name="TextBox 48" id="48"/>
          <p:cNvSpPr txBox="true"/>
          <p:nvPr/>
        </p:nvSpPr>
        <p:spPr>
          <a:xfrm rot="0">
            <a:off x="4099443" y="7289383"/>
            <a:ext cx="9872256" cy="876300"/>
          </a:xfrm>
          <a:prstGeom prst="rect">
            <a:avLst/>
          </a:prstGeom>
        </p:spPr>
        <p:txBody>
          <a:bodyPr anchor="t" rtlCol="false" tIns="0" lIns="0" bIns="0" rIns="0">
            <a:spAutoFit/>
          </a:bodyPr>
          <a:lstStyle/>
          <a:p>
            <a:pPr algn="l">
              <a:lnSpc>
                <a:spcPts val="3358"/>
              </a:lnSpc>
            </a:pPr>
            <a:r>
              <a:rPr lang="en-US" sz="2799">
                <a:solidFill>
                  <a:srgbClr val="000000"/>
                </a:solidFill>
                <a:latin typeface="Times New Roman"/>
                <a:ea typeface="Times New Roman"/>
                <a:cs typeface="Times New Roman"/>
                <a:sym typeface="Times New Roman"/>
              </a:rPr>
              <a:t>Đồng bộ &amp; quản trị: dashboard cập nhật dữ liệu, </a:t>
            </a:r>
            <a:r>
              <a:rPr lang="en-US" sz="2799" b="true">
                <a:solidFill>
                  <a:srgbClr val="000000"/>
                </a:solidFill>
                <a:latin typeface="Times New Roman Bold"/>
                <a:ea typeface="Times New Roman Bold"/>
                <a:cs typeface="Times New Roman Bold"/>
                <a:sym typeface="Times New Roman Bold"/>
              </a:rPr>
              <a:t>cập nhật mô hình OTA</a:t>
            </a:r>
            <a:r>
              <a:rPr lang="en-US" sz="2799">
                <a:solidFill>
                  <a:srgbClr val="000000"/>
                </a:solidFill>
                <a:latin typeface="Times New Roman"/>
                <a:ea typeface="Times New Roman"/>
                <a:cs typeface="Times New Roman"/>
                <a:sym typeface="Times New Roman"/>
              </a:rPr>
              <a:t>, vòng phản hồi người dùng để cải tiến liên tục.</a:t>
            </a:r>
          </a:p>
        </p:txBody>
      </p:sp>
      <p:grpSp>
        <p:nvGrpSpPr>
          <p:cNvPr name="Group 49" id="49"/>
          <p:cNvGrpSpPr/>
          <p:nvPr/>
        </p:nvGrpSpPr>
        <p:grpSpPr>
          <a:xfrm rot="0">
            <a:off x="0" y="7764"/>
            <a:ext cx="18288000" cy="10271474"/>
            <a:chOff x="0" y="0"/>
            <a:chExt cx="24384000" cy="13695299"/>
          </a:xfrm>
        </p:grpSpPr>
        <p:sp>
          <p:nvSpPr>
            <p:cNvPr name="Freeform 50" id="50"/>
            <p:cNvSpPr/>
            <p:nvPr/>
          </p:nvSpPr>
          <p:spPr>
            <a:xfrm flipH="false" flipV="false" rot="0">
              <a:off x="0" y="0"/>
              <a:ext cx="24384000" cy="13695299"/>
            </a:xfrm>
            <a:custGeom>
              <a:avLst/>
              <a:gdLst/>
              <a:ahLst/>
              <a:cxnLst/>
              <a:rect r="r" b="b" t="t" l="l"/>
              <a:pathLst>
                <a:path h="13695299" w="24384000">
                  <a:moveTo>
                    <a:pt x="0" y="0"/>
                  </a:moveTo>
                  <a:lnTo>
                    <a:pt x="24384000" y="0"/>
                  </a:lnTo>
                  <a:lnTo>
                    <a:pt x="24384000" y="13695299"/>
                  </a:lnTo>
                  <a:lnTo>
                    <a:pt x="0" y="13695299"/>
                  </a:lnTo>
                  <a:lnTo>
                    <a:pt x="0" y="0"/>
                  </a:lnTo>
                  <a:close/>
                </a:path>
              </a:pathLst>
            </a:custGeom>
            <a:blipFill>
              <a:blip r:embed="rId22"/>
              <a:stretch>
                <a:fillRect l="0" t="0" r="0" b="0"/>
              </a:stretch>
            </a:blipFill>
          </p:spPr>
        </p:sp>
      </p:grpSp>
      <p:sp>
        <p:nvSpPr>
          <p:cNvPr name="Freeform 51" id="51"/>
          <p:cNvSpPr/>
          <p:nvPr/>
        </p:nvSpPr>
        <p:spPr>
          <a:xfrm flipH="false" flipV="false" rot="0">
            <a:off x="3707787" y="1741051"/>
            <a:ext cx="10815438" cy="1370506"/>
          </a:xfrm>
          <a:custGeom>
            <a:avLst/>
            <a:gdLst/>
            <a:ahLst/>
            <a:cxnLst/>
            <a:rect r="r" b="b" t="t" l="l"/>
            <a:pathLst>
              <a:path h="1370506" w="10815438">
                <a:moveTo>
                  <a:pt x="0" y="0"/>
                </a:moveTo>
                <a:lnTo>
                  <a:pt x="10815438" y="0"/>
                </a:lnTo>
                <a:lnTo>
                  <a:pt x="10815438" y="1370506"/>
                </a:lnTo>
                <a:lnTo>
                  <a:pt x="0" y="1370506"/>
                </a:lnTo>
                <a:lnTo>
                  <a:pt x="0" y="0"/>
                </a:lnTo>
                <a:close/>
              </a:path>
            </a:pathLst>
          </a:custGeom>
          <a:blipFill>
            <a:blip r:embed="rId23"/>
            <a:stretch>
              <a:fillRect l="0" t="0" r="0" b="0"/>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82774" y="2063690"/>
            <a:ext cx="18653760" cy="8338185"/>
            <a:chOff x="0" y="0"/>
            <a:chExt cx="24871680" cy="11117580"/>
          </a:xfrm>
        </p:grpSpPr>
        <p:sp>
          <p:nvSpPr>
            <p:cNvPr name="Freeform 3" id="3"/>
            <p:cNvSpPr/>
            <p:nvPr/>
          </p:nvSpPr>
          <p:spPr>
            <a:xfrm flipH="false" flipV="false" rot="0">
              <a:off x="0" y="0"/>
              <a:ext cx="24871680" cy="11117580"/>
            </a:xfrm>
            <a:custGeom>
              <a:avLst/>
              <a:gdLst/>
              <a:ahLst/>
              <a:cxnLst/>
              <a:rect r="r" b="b" t="t" l="l"/>
              <a:pathLst>
                <a:path h="11117580" w="24871680">
                  <a:moveTo>
                    <a:pt x="0" y="0"/>
                  </a:moveTo>
                  <a:lnTo>
                    <a:pt x="24871680" y="0"/>
                  </a:lnTo>
                  <a:lnTo>
                    <a:pt x="24871680" y="11117580"/>
                  </a:lnTo>
                  <a:lnTo>
                    <a:pt x="0" y="11117580"/>
                  </a:lnTo>
                  <a:lnTo>
                    <a:pt x="0" y="0"/>
                  </a:lnTo>
                  <a:close/>
                </a:path>
              </a:pathLst>
            </a:custGeom>
            <a:blipFill>
              <a:blip r:embed="rId3">
                <a:alphaModFix amt="19999"/>
              </a:blip>
              <a:stretch>
                <a:fillRect l="-24" t="0" r="-24" b="0"/>
              </a:stretch>
            </a:blipFill>
          </p:spPr>
        </p:sp>
      </p:grpSp>
      <p:grpSp>
        <p:nvGrpSpPr>
          <p:cNvPr name="Group 4" id="4"/>
          <p:cNvGrpSpPr/>
          <p:nvPr/>
        </p:nvGrpSpPr>
        <p:grpSpPr>
          <a:xfrm rot="0">
            <a:off x="4239230" y="1253000"/>
            <a:ext cx="12801600" cy="7315200"/>
            <a:chOff x="0" y="0"/>
            <a:chExt cx="17068800" cy="9753600"/>
          </a:xfrm>
        </p:grpSpPr>
        <p:sp>
          <p:nvSpPr>
            <p:cNvPr name="Freeform 5" id="5"/>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6" id="6"/>
          <p:cNvSpPr/>
          <p:nvPr/>
        </p:nvSpPr>
        <p:spPr>
          <a:xfrm flipH="false" flipV="false" rot="0">
            <a:off x="4056230" y="1041425"/>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15277">
            <a:off x="4018067" y="1782350"/>
            <a:ext cx="12879127" cy="19050"/>
            <a:chOff x="0" y="0"/>
            <a:chExt cx="17172169" cy="25400"/>
          </a:xfrm>
        </p:grpSpPr>
        <p:sp>
          <p:nvSpPr>
            <p:cNvPr name="Freeform 8" id="8"/>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9" id="9"/>
          <p:cNvGrpSpPr/>
          <p:nvPr/>
        </p:nvGrpSpPr>
        <p:grpSpPr>
          <a:xfrm rot="2700000">
            <a:off x="16184293" y="1416626"/>
            <a:ext cx="617474" cy="19050"/>
            <a:chOff x="0" y="0"/>
            <a:chExt cx="823299" cy="25400"/>
          </a:xfrm>
        </p:grpSpPr>
        <p:sp>
          <p:nvSpPr>
            <p:cNvPr name="Freeform 10" id="10"/>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1" id="11"/>
          <p:cNvGrpSpPr/>
          <p:nvPr/>
        </p:nvGrpSpPr>
        <p:grpSpPr>
          <a:xfrm rot="2700000">
            <a:off x="16184293" y="1416626"/>
            <a:ext cx="617474" cy="19050"/>
            <a:chOff x="0" y="0"/>
            <a:chExt cx="823299" cy="25400"/>
          </a:xfrm>
        </p:grpSpPr>
        <p:sp>
          <p:nvSpPr>
            <p:cNvPr name="Freeform 12" id="12"/>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3" id="13"/>
          <p:cNvGrpSpPr/>
          <p:nvPr/>
        </p:nvGrpSpPr>
        <p:grpSpPr>
          <a:xfrm rot="0">
            <a:off x="15640955" y="1224101"/>
            <a:ext cx="423196" cy="423196"/>
            <a:chOff x="0" y="0"/>
            <a:chExt cx="564261" cy="564261"/>
          </a:xfrm>
        </p:grpSpPr>
        <p:sp>
          <p:nvSpPr>
            <p:cNvPr name="Freeform 14" id="14"/>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15" id="15"/>
          <p:cNvGrpSpPr/>
          <p:nvPr/>
        </p:nvGrpSpPr>
        <p:grpSpPr>
          <a:xfrm rot="404757">
            <a:off x="14929244" y="1599626"/>
            <a:ext cx="505568" cy="19050"/>
            <a:chOff x="0" y="0"/>
            <a:chExt cx="674091" cy="25400"/>
          </a:xfrm>
        </p:grpSpPr>
        <p:sp>
          <p:nvSpPr>
            <p:cNvPr name="Freeform 16" id="16"/>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17" id="17"/>
          <p:cNvGrpSpPr/>
          <p:nvPr/>
        </p:nvGrpSpPr>
        <p:grpSpPr>
          <a:xfrm rot="0">
            <a:off x="2925600" y="1668900"/>
            <a:ext cx="12801600" cy="7315200"/>
            <a:chOff x="0" y="0"/>
            <a:chExt cx="17068800" cy="9753600"/>
          </a:xfrm>
        </p:grpSpPr>
        <p:sp>
          <p:nvSpPr>
            <p:cNvPr name="Freeform 18" id="18"/>
            <p:cNvSpPr/>
            <p:nvPr/>
          </p:nvSpPr>
          <p:spPr>
            <a:xfrm flipH="false" flipV="false" rot="0">
              <a:off x="0" y="0"/>
              <a:ext cx="17068800" cy="9753600"/>
            </a:xfrm>
            <a:custGeom>
              <a:avLst/>
              <a:gdLst/>
              <a:ahLst/>
              <a:cxnLst/>
              <a:rect r="r" b="b" t="t" l="l"/>
              <a:pathLst>
                <a:path h="9753600" w="17068800">
                  <a:moveTo>
                    <a:pt x="0" y="0"/>
                  </a:moveTo>
                  <a:lnTo>
                    <a:pt x="17068800" y="0"/>
                  </a:lnTo>
                  <a:lnTo>
                    <a:pt x="17068800" y="9753600"/>
                  </a:lnTo>
                  <a:lnTo>
                    <a:pt x="0" y="9753600"/>
                  </a:lnTo>
                </a:path>
              </a:pathLst>
            </a:custGeom>
            <a:solidFill>
              <a:srgbClr val="000000"/>
            </a:solidFill>
            <a:ln w="12700">
              <a:solidFill>
                <a:srgbClr val="000000"/>
              </a:solidFill>
            </a:ln>
          </p:spPr>
        </p:sp>
      </p:grpSp>
      <p:sp>
        <p:nvSpPr>
          <p:cNvPr name="Freeform 19" id="19"/>
          <p:cNvSpPr/>
          <p:nvPr/>
        </p:nvSpPr>
        <p:spPr>
          <a:xfrm flipH="false" flipV="false" rot="0">
            <a:off x="2742600" y="1457325"/>
            <a:ext cx="12830175" cy="7372350"/>
          </a:xfrm>
          <a:custGeom>
            <a:avLst/>
            <a:gdLst/>
            <a:ahLst/>
            <a:cxnLst/>
            <a:rect r="r" b="b" t="t" l="l"/>
            <a:pathLst>
              <a:path h="7372350" w="12830175">
                <a:moveTo>
                  <a:pt x="0" y="0"/>
                </a:moveTo>
                <a:lnTo>
                  <a:pt x="12830175" y="0"/>
                </a:lnTo>
                <a:lnTo>
                  <a:pt x="12830175" y="7372350"/>
                </a:lnTo>
                <a:lnTo>
                  <a:pt x="0" y="73723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0" id="20"/>
          <p:cNvGrpSpPr/>
          <p:nvPr/>
        </p:nvGrpSpPr>
        <p:grpSpPr>
          <a:xfrm rot="15277">
            <a:off x="2704437" y="2198250"/>
            <a:ext cx="12879127" cy="19050"/>
            <a:chOff x="0" y="0"/>
            <a:chExt cx="17172169" cy="25400"/>
          </a:xfrm>
        </p:grpSpPr>
        <p:sp>
          <p:nvSpPr>
            <p:cNvPr name="Freeform 21" id="21"/>
            <p:cNvSpPr/>
            <p:nvPr/>
          </p:nvSpPr>
          <p:spPr>
            <a:xfrm flipH="false" flipV="false" rot="0">
              <a:off x="0" y="0"/>
              <a:ext cx="17172178" cy="25400"/>
            </a:xfrm>
            <a:custGeom>
              <a:avLst/>
              <a:gdLst/>
              <a:ahLst/>
              <a:cxnLst/>
              <a:rect r="r" b="b" t="t" l="l"/>
              <a:pathLst>
                <a:path h="25400" w="17172178">
                  <a:moveTo>
                    <a:pt x="12700" y="0"/>
                  </a:moveTo>
                  <a:lnTo>
                    <a:pt x="17159478" y="0"/>
                  </a:lnTo>
                  <a:cubicBezTo>
                    <a:pt x="17166464" y="0"/>
                    <a:pt x="17172178" y="5715"/>
                    <a:pt x="17172178" y="12700"/>
                  </a:cubicBezTo>
                  <a:cubicBezTo>
                    <a:pt x="17172178" y="19685"/>
                    <a:pt x="17166464" y="25400"/>
                    <a:pt x="17159478"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2" id="22"/>
          <p:cNvGrpSpPr/>
          <p:nvPr/>
        </p:nvGrpSpPr>
        <p:grpSpPr>
          <a:xfrm rot="2700000">
            <a:off x="14870663" y="1832526"/>
            <a:ext cx="617474" cy="19050"/>
            <a:chOff x="0" y="0"/>
            <a:chExt cx="823299" cy="25400"/>
          </a:xfrm>
        </p:grpSpPr>
        <p:sp>
          <p:nvSpPr>
            <p:cNvPr name="Freeform 23" id="23"/>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4" id="24"/>
          <p:cNvGrpSpPr/>
          <p:nvPr/>
        </p:nvGrpSpPr>
        <p:grpSpPr>
          <a:xfrm rot="2699999">
            <a:off x="14870663" y="1832526"/>
            <a:ext cx="617474" cy="19050"/>
            <a:chOff x="0" y="0"/>
            <a:chExt cx="823299" cy="25400"/>
          </a:xfrm>
        </p:grpSpPr>
        <p:sp>
          <p:nvSpPr>
            <p:cNvPr name="Freeform 25" id="25"/>
            <p:cNvSpPr/>
            <p:nvPr/>
          </p:nvSpPr>
          <p:spPr>
            <a:xfrm flipH="false" flipV="false" rot="0">
              <a:off x="0" y="0"/>
              <a:ext cx="823341" cy="25400"/>
            </a:xfrm>
            <a:custGeom>
              <a:avLst/>
              <a:gdLst/>
              <a:ahLst/>
              <a:cxnLst/>
              <a:rect r="r" b="b" t="t" l="l"/>
              <a:pathLst>
                <a:path h="25400" w="823341">
                  <a:moveTo>
                    <a:pt x="12700" y="0"/>
                  </a:moveTo>
                  <a:lnTo>
                    <a:pt x="810641" y="0"/>
                  </a:lnTo>
                  <a:cubicBezTo>
                    <a:pt x="817626" y="0"/>
                    <a:pt x="823341" y="5715"/>
                    <a:pt x="823341" y="12700"/>
                  </a:cubicBezTo>
                  <a:cubicBezTo>
                    <a:pt x="823341" y="19685"/>
                    <a:pt x="817626" y="25400"/>
                    <a:pt x="810641"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26" id="26"/>
          <p:cNvGrpSpPr/>
          <p:nvPr/>
        </p:nvGrpSpPr>
        <p:grpSpPr>
          <a:xfrm rot="0">
            <a:off x="14327325" y="1640001"/>
            <a:ext cx="423196" cy="423196"/>
            <a:chOff x="0" y="0"/>
            <a:chExt cx="564261" cy="564261"/>
          </a:xfrm>
        </p:grpSpPr>
        <p:sp>
          <p:nvSpPr>
            <p:cNvPr name="Freeform 27" id="27"/>
            <p:cNvSpPr/>
            <p:nvPr/>
          </p:nvSpPr>
          <p:spPr>
            <a:xfrm flipH="false" flipV="false" rot="0">
              <a:off x="0" y="0"/>
              <a:ext cx="564261" cy="564261"/>
            </a:xfrm>
            <a:custGeom>
              <a:avLst/>
              <a:gdLst/>
              <a:ahLst/>
              <a:cxnLst/>
              <a:rect r="r" b="b" t="t" l="l"/>
              <a:pathLst>
                <a:path h="564261" w="564261">
                  <a:moveTo>
                    <a:pt x="38100" y="0"/>
                  </a:moveTo>
                  <a:lnTo>
                    <a:pt x="526161" y="0"/>
                  </a:lnTo>
                  <a:cubicBezTo>
                    <a:pt x="547243" y="0"/>
                    <a:pt x="564261" y="17018"/>
                    <a:pt x="564261" y="38100"/>
                  </a:cubicBezTo>
                  <a:lnTo>
                    <a:pt x="564261" y="526161"/>
                  </a:lnTo>
                  <a:cubicBezTo>
                    <a:pt x="564261" y="547243"/>
                    <a:pt x="547243" y="564261"/>
                    <a:pt x="526161" y="564261"/>
                  </a:cubicBezTo>
                  <a:lnTo>
                    <a:pt x="38100" y="564261"/>
                  </a:lnTo>
                  <a:cubicBezTo>
                    <a:pt x="17018" y="564261"/>
                    <a:pt x="0" y="547243"/>
                    <a:pt x="0" y="526161"/>
                  </a:cubicBezTo>
                  <a:lnTo>
                    <a:pt x="0" y="38100"/>
                  </a:lnTo>
                  <a:cubicBezTo>
                    <a:pt x="0" y="17018"/>
                    <a:pt x="17018" y="0"/>
                    <a:pt x="38100" y="0"/>
                  </a:cubicBezTo>
                  <a:moveTo>
                    <a:pt x="38100" y="76200"/>
                  </a:moveTo>
                  <a:lnTo>
                    <a:pt x="38100" y="38100"/>
                  </a:lnTo>
                  <a:lnTo>
                    <a:pt x="76200" y="38100"/>
                  </a:lnTo>
                  <a:lnTo>
                    <a:pt x="76200" y="526161"/>
                  </a:lnTo>
                  <a:lnTo>
                    <a:pt x="38100" y="526161"/>
                  </a:lnTo>
                  <a:lnTo>
                    <a:pt x="38100" y="488061"/>
                  </a:lnTo>
                  <a:lnTo>
                    <a:pt x="526161" y="488061"/>
                  </a:lnTo>
                  <a:lnTo>
                    <a:pt x="526161" y="526161"/>
                  </a:lnTo>
                  <a:lnTo>
                    <a:pt x="488061" y="526161"/>
                  </a:lnTo>
                  <a:lnTo>
                    <a:pt x="488061" y="38100"/>
                  </a:lnTo>
                  <a:lnTo>
                    <a:pt x="526161" y="38100"/>
                  </a:lnTo>
                  <a:lnTo>
                    <a:pt x="526161" y="76200"/>
                  </a:lnTo>
                  <a:lnTo>
                    <a:pt x="38100" y="76200"/>
                  </a:lnTo>
                  <a:close/>
                </a:path>
              </a:pathLst>
            </a:custGeom>
            <a:solidFill>
              <a:srgbClr val="000000"/>
            </a:solidFill>
            <a:ln w="12700">
              <a:solidFill>
                <a:srgbClr val="000000"/>
              </a:solidFill>
            </a:ln>
          </p:spPr>
        </p:sp>
      </p:grpSp>
      <p:grpSp>
        <p:nvGrpSpPr>
          <p:cNvPr name="Group 28" id="28"/>
          <p:cNvGrpSpPr/>
          <p:nvPr/>
        </p:nvGrpSpPr>
        <p:grpSpPr>
          <a:xfrm rot="404757">
            <a:off x="13615614" y="2015526"/>
            <a:ext cx="505568" cy="19050"/>
            <a:chOff x="0" y="0"/>
            <a:chExt cx="674091" cy="25400"/>
          </a:xfrm>
        </p:grpSpPr>
        <p:sp>
          <p:nvSpPr>
            <p:cNvPr name="Freeform 29" id="29"/>
            <p:cNvSpPr/>
            <p:nvPr/>
          </p:nvSpPr>
          <p:spPr>
            <a:xfrm flipH="false" flipV="false" rot="0">
              <a:off x="0" y="0"/>
              <a:ext cx="674116" cy="25400"/>
            </a:xfrm>
            <a:custGeom>
              <a:avLst/>
              <a:gdLst/>
              <a:ahLst/>
              <a:cxnLst/>
              <a:rect r="r" b="b" t="t" l="l"/>
              <a:pathLst>
                <a:path h="25400" w="674116">
                  <a:moveTo>
                    <a:pt x="12700" y="0"/>
                  </a:moveTo>
                  <a:lnTo>
                    <a:pt x="661416" y="0"/>
                  </a:lnTo>
                  <a:cubicBezTo>
                    <a:pt x="668401" y="0"/>
                    <a:pt x="674116" y="5715"/>
                    <a:pt x="674116" y="12700"/>
                  </a:cubicBezTo>
                  <a:cubicBezTo>
                    <a:pt x="674116" y="19685"/>
                    <a:pt x="668401" y="25400"/>
                    <a:pt x="661416"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grpSp>
        <p:nvGrpSpPr>
          <p:cNvPr name="Group 30" id="30"/>
          <p:cNvGrpSpPr/>
          <p:nvPr/>
        </p:nvGrpSpPr>
        <p:grpSpPr>
          <a:xfrm rot="0">
            <a:off x="4193076" y="2479440"/>
            <a:ext cx="10972800" cy="1154168"/>
            <a:chOff x="0" y="0"/>
            <a:chExt cx="14630400" cy="1538890"/>
          </a:xfrm>
        </p:grpSpPr>
        <p:sp>
          <p:nvSpPr>
            <p:cNvPr name="Freeform 31" id="31"/>
            <p:cNvSpPr/>
            <p:nvPr/>
          </p:nvSpPr>
          <p:spPr>
            <a:xfrm flipH="false" flipV="false" rot="0">
              <a:off x="0" y="0"/>
              <a:ext cx="14630400" cy="1538890"/>
            </a:xfrm>
            <a:custGeom>
              <a:avLst/>
              <a:gdLst/>
              <a:ahLst/>
              <a:cxnLst/>
              <a:rect r="r" b="b" t="t" l="l"/>
              <a:pathLst>
                <a:path h="1538890" w="14630400">
                  <a:moveTo>
                    <a:pt x="0" y="0"/>
                  </a:moveTo>
                  <a:lnTo>
                    <a:pt x="14630400" y="0"/>
                  </a:lnTo>
                  <a:lnTo>
                    <a:pt x="14630400" y="1538890"/>
                  </a:lnTo>
                  <a:lnTo>
                    <a:pt x="0" y="1538890"/>
                  </a:lnTo>
                  <a:close/>
                </a:path>
              </a:pathLst>
            </a:custGeom>
            <a:solidFill>
              <a:srgbClr val="000000">
                <a:alpha val="0"/>
              </a:srgbClr>
            </a:solidFill>
          </p:spPr>
        </p:sp>
        <p:sp>
          <p:nvSpPr>
            <p:cNvPr name="TextBox 32" id="32"/>
            <p:cNvSpPr txBox="true"/>
            <p:nvPr/>
          </p:nvSpPr>
          <p:spPr>
            <a:xfrm>
              <a:off x="0" y="-9525"/>
              <a:ext cx="14630400" cy="1548415"/>
            </a:xfrm>
            <a:prstGeom prst="rect">
              <a:avLst/>
            </a:prstGeom>
          </p:spPr>
          <p:txBody>
            <a:bodyPr anchor="ctr" rtlCol="false" tIns="0" lIns="0" bIns="0" rIns="0"/>
            <a:lstStyle/>
            <a:p>
              <a:pPr algn="ctr">
                <a:lnSpc>
                  <a:spcPts val="8400"/>
                </a:lnSpc>
              </a:pPr>
              <a:r>
                <a:rPr lang="en-US" sz="7000">
                  <a:solidFill>
                    <a:srgbClr val="000000"/>
                  </a:solidFill>
                  <a:latin typeface="Rubik"/>
                  <a:ea typeface="Rubik"/>
                  <a:cs typeface="Rubik"/>
                  <a:sym typeface="Rubik"/>
                </a:rPr>
                <a:t>Future Improvement</a:t>
              </a:r>
            </a:p>
          </p:txBody>
        </p:sp>
      </p:grpSp>
      <p:sp>
        <p:nvSpPr>
          <p:cNvPr name="Freeform 33" id="33"/>
          <p:cNvSpPr/>
          <p:nvPr/>
        </p:nvSpPr>
        <p:spPr>
          <a:xfrm flipH="false" flipV="false" rot="0">
            <a:off x="898825" y="6809649"/>
            <a:ext cx="1062750" cy="1062750"/>
          </a:xfrm>
          <a:custGeom>
            <a:avLst/>
            <a:gdLst/>
            <a:ahLst/>
            <a:cxnLst/>
            <a:rect r="r" b="b" t="t" l="l"/>
            <a:pathLst>
              <a:path h="1062750" w="1062750">
                <a:moveTo>
                  <a:pt x="0" y="0"/>
                </a:moveTo>
                <a:lnTo>
                  <a:pt x="1062750" y="0"/>
                </a:lnTo>
                <a:lnTo>
                  <a:pt x="1062750" y="1062750"/>
                </a:lnTo>
                <a:lnTo>
                  <a:pt x="0" y="106275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4" id="34"/>
          <p:cNvGrpSpPr/>
          <p:nvPr/>
        </p:nvGrpSpPr>
        <p:grpSpPr>
          <a:xfrm rot="0">
            <a:off x="728726" y="1966016"/>
            <a:ext cx="3474625" cy="1919954"/>
            <a:chOff x="0" y="0"/>
            <a:chExt cx="4632833" cy="2559939"/>
          </a:xfrm>
        </p:grpSpPr>
        <p:sp>
          <p:nvSpPr>
            <p:cNvPr name="Freeform 35" id="35"/>
            <p:cNvSpPr/>
            <p:nvPr/>
          </p:nvSpPr>
          <p:spPr>
            <a:xfrm flipH="false" flipV="false" rot="0">
              <a:off x="0" y="0"/>
              <a:ext cx="4632833" cy="2559939"/>
            </a:xfrm>
            <a:custGeom>
              <a:avLst/>
              <a:gdLst/>
              <a:ahLst/>
              <a:cxnLst/>
              <a:rect r="r" b="b" t="t" l="l"/>
              <a:pathLst>
                <a:path h="2559939" w="4632833">
                  <a:moveTo>
                    <a:pt x="0" y="0"/>
                  </a:moveTo>
                  <a:lnTo>
                    <a:pt x="4632833" y="0"/>
                  </a:lnTo>
                  <a:lnTo>
                    <a:pt x="4632833" y="2559939"/>
                  </a:lnTo>
                  <a:lnTo>
                    <a:pt x="0" y="2559939"/>
                  </a:lnTo>
                </a:path>
              </a:pathLst>
            </a:custGeom>
            <a:solidFill>
              <a:srgbClr val="000000"/>
            </a:solidFill>
            <a:ln w="12700">
              <a:solidFill>
                <a:srgbClr val="000000"/>
              </a:solidFill>
            </a:ln>
          </p:spPr>
        </p:sp>
      </p:grpSp>
      <p:sp>
        <p:nvSpPr>
          <p:cNvPr name="Freeform 36" id="36"/>
          <p:cNvSpPr/>
          <p:nvPr/>
        </p:nvSpPr>
        <p:spPr>
          <a:xfrm flipH="false" flipV="false" rot="0">
            <a:off x="548376" y="1754741"/>
            <a:ext cx="3503200" cy="1977104"/>
          </a:xfrm>
          <a:custGeom>
            <a:avLst/>
            <a:gdLst/>
            <a:ahLst/>
            <a:cxnLst/>
            <a:rect r="r" b="b" t="t" l="l"/>
            <a:pathLst>
              <a:path h="1977104" w="3503200">
                <a:moveTo>
                  <a:pt x="0" y="0"/>
                </a:moveTo>
                <a:lnTo>
                  <a:pt x="3503200" y="0"/>
                </a:lnTo>
                <a:lnTo>
                  <a:pt x="3503200" y="1977104"/>
                </a:lnTo>
                <a:lnTo>
                  <a:pt x="0" y="19771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37" id="37"/>
          <p:cNvGrpSpPr/>
          <p:nvPr/>
        </p:nvGrpSpPr>
        <p:grpSpPr>
          <a:xfrm rot="56023">
            <a:off x="520293" y="2129666"/>
            <a:ext cx="3526066" cy="19050"/>
            <a:chOff x="0" y="0"/>
            <a:chExt cx="4701421" cy="25400"/>
          </a:xfrm>
        </p:grpSpPr>
        <p:sp>
          <p:nvSpPr>
            <p:cNvPr name="Freeform 38" id="38"/>
            <p:cNvSpPr/>
            <p:nvPr/>
          </p:nvSpPr>
          <p:spPr>
            <a:xfrm flipH="false" flipV="false" rot="0">
              <a:off x="0" y="0"/>
              <a:ext cx="4701413" cy="25400"/>
            </a:xfrm>
            <a:custGeom>
              <a:avLst/>
              <a:gdLst/>
              <a:ahLst/>
              <a:cxnLst/>
              <a:rect r="r" b="b" t="t" l="l"/>
              <a:pathLst>
                <a:path h="25400" w="4701413">
                  <a:moveTo>
                    <a:pt x="12700" y="0"/>
                  </a:moveTo>
                  <a:lnTo>
                    <a:pt x="4688713" y="0"/>
                  </a:lnTo>
                  <a:cubicBezTo>
                    <a:pt x="4695698" y="0"/>
                    <a:pt x="4701413" y="5715"/>
                    <a:pt x="4701413" y="12700"/>
                  </a:cubicBezTo>
                  <a:cubicBezTo>
                    <a:pt x="4701413" y="19685"/>
                    <a:pt x="4695698" y="25400"/>
                    <a:pt x="4688713" y="25400"/>
                  </a:cubicBezTo>
                  <a:lnTo>
                    <a:pt x="12700" y="25400"/>
                  </a:lnTo>
                  <a:cubicBezTo>
                    <a:pt x="5715" y="25400"/>
                    <a:pt x="0" y="19685"/>
                    <a:pt x="0" y="12700"/>
                  </a:cubicBezTo>
                  <a:cubicBezTo>
                    <a:pt x="0" y="5715"/>
                    <a:pt x="5715" y="0"/>
                    <a:pt x="12700" y="0"/>
                  </a:cubicBezTo>
                  <a:close/>
                </a:path>
              </a:pathLst>
            </a:custGeom>
            <a:solidFill>
              <a:srgbClr val="000000"/>
            </a:solidFill>
            <a:ln w="12700">
              <a:solidFill>
                <a:srgbClr val="000000"/>
              </a:solidFill>
            </a:ln>
          </p:spPr>
        </p:sp>
      </p:grpSp>
      <p:sp>
        <p:nvSpPr>
          <p:cNvPr name="Freeform 39" id="39"/>
          <p:cNvSpPr/>
          <p:nvPr/>
        </p:nvSpPr>
        <p:spPr>
          <a:xfrm flipH="false" flipV="false" rot="0">
            <a:off x="1308140" y="2426304"/>
            <a:ext cx="1968518" cy="1024007"/>
          </a:xfrm>
          <a:custGeom>
            <a:avLst/>
            <a:gdLst/>
            <a:ahLst/>
            <a:cxnLst/>
            <a:rect r="r" b="b" t="t" l="l"/>
            <a:pathLst>
              <a:path h="1024007" w="1968518">
                <a:moveTo>
                  <a:pt x="0" y="0"/>
                </a:moveTo>
                <a:lnTo>
                  <a:pt x="1968518" y="0"/>
                </a:lnTo>
                <a:lnTo>
                  <a:pt x="1968518" y="1024007"/>
                </a:lnTo>
                <a:lnTo>
                  <a:pt x="0" y="1024007"/>
                </a:lnTo>
                <a:lnTo>
                  <a:pt x="0" y="0"/>
                </a:lnTo>
                <a:close/>
              </a:path>
            </a:pathLst>
          </a:custGeom>
          <a:blipFill>
            <a:blip r:embed="rId10">
              <a:extLst>
                <a:ext uri="{96DAC541-7B7A-43D3-8B79-37D633B846F1}">
                  <asvg:svgBlip xmlns:asvg="http://schemas.microsoft.com/office/drawing/2016/SVG/main" r:embed="rId11"/>
                </a:ext>
              </a:extLst>
            </a:blip>
            <a:stretch>
              <a:fillRect l="0" t="-148" r="0" b="-148"/>
            </a:stretch>
          </a:blipFill>
        </p:spPr>
      </p:sp>
      <p:sp>
        <p:nvSpPr>
          <p:cNvPr name="Freeform 40" id="40"/>
          <p:cNvSpPr/>
          <p:nvPr/>
        </p:nvSpPr>
        <p:spPr>
          <a:xfrm flipH="false" flipV="false" rot="0">
            <a:off x="2816458" y="7787234"/>
            <a:ext cx="914416" cy="329180"/>
          </a:xfrm>
          <a:custGeom>
            <a:avLst/>
            <a:gdLst/>
            <a:ahLst/>
            <a:cxnLst/>
            <a:rect r="r" b="b" t="t" l="l"/>
            <a:pathLst>
              <a:path h="329180" w="914416">
                <a:moveTo>
                  <a:pt x="0" y="0"/>
                </a:moveTo>
                <a:lnTo>
                  <a:pt x="914416" y="0"/>
                </a:lnTo>
                <a:lnTo>
                  <a:pt x="914416" y="329180"/>
                </a:lnTo>
                <a:lnTo>
                  <a:pt x="0" y="329180"/>
                </a:lnTo>
                <a:lnTo>
                  <a:pt x="0" y="0"/>
                </a:lnTo>
                <a:close/>
              </a:path>
            </a:pathLst>
          </a:custGeom>
          <a:blipFill>
            <a:blip r:embed="rId12">
              <a:extLst>
                <a:ext uri="{96DAC541-7B7A-43D3-8B79-37D633B846F1}">
                  <asvg:svgBlip xmlns:asvg="http://schemas.microsoft.com/office/drawing/2016/SVG/main" r:embed="rId13"/>
                </a:ext>
              </a:extLst>
            </a:blip>
            <a:stretch>
              <a:fillRect l="0" t="-1547" r="0" b="-1547"/>
            </a:stretch>
          </a:blipFill>
        </p:spPr>
      </p:sp>
      <p:sp>
        <p:nvSpPr>
          <p:cNvPr name="Freeform 41" id="41"/>
          <p:cNvSpPr/>
          <p:nvPr/>
        </p:nvSpPr>
        <p:spPr>
          <a:xfrm flipH="false" flipV="false" rot="0">
            <a:off x="14063226" y="8116414"/>
            <a:ext cx="914414" cy="119272"/>
          </a:xfrm>
          <a:custGeom>
            <a:avLst/>
            <a:gdLst/>
            <a:ahLst/>
            <a:cxnLst/>
            <a:rect r="r" b="b" t="t" l="l"/>
            <a:pathLst>
              <a:path h="119272" w="914414">
                <a:moveTo>
                  <a:pt x="0" y="0"/>
                </a:moveTo>
                <a:lnTo>
                  <a:pt x="914414" y="0"/>
                </a:lnTo>
                <a:lnTo>
                  <a:pt x="914414" y="119272"/>
                </a:lnTo>
                <a:lnTo>
                  <a:pt x="0" y="119272"/>
                </a:lnTo>
                <a:lnTo>
                  <a:pt x="0" y="0"/>
                </a:lnTo>
                <a:close/>
              </a:path>
            </a:pathLst>
          </a:custGeom>
          <a:blipFill>
            <a:blip r:embed="rId14">
              <a:extLst>
                <a:ext uri="{96DAC541-7B7A-43D3-8B79-37D633B846F1}">
                  <asvg:svgBlip xmlns:asvg="http://schemas.microsoft.com/office/drawing/2016/SVG/main" r:embed="rId15"/>
                </a:ext>
              </a:extLst>
            </a:blip>
            <a:stretch>
              <a:fillRect l="0" t="-5326" r="0" b="-5326"/>
            </a:stretch>
          </a:blipFill>
        </p:spPr>
      </p:sp>
      <p:sp>
        <p:nvSpPr>
          <p:cNvPr name="Freeform 42" id="42"/>
          <p:cNvSpPr/>
          <p:nvPr/>
        </p:nvSpPr>
        <p:spPr>
          <a:xfrm flipH="false" flipV="false" rot="0">
            <a:off x="13598546" y="7819110"/>
            <a:ext cx="914392" cy="114298"/>
          </a:xfrm>
          <a:custGeom>
            <a:avLst/>
            <a:gdLst/>
            <a:ahLst/>
            <a:cxnLst/>
            <a:rect r="r" b="b" t="t" l="l"/>
            <a:pathLst>
              <a:path h="114298" w="914392">
                <a:moveTo>
                  <a:pt x="0" y="0"/>
                </a:moveTo>
                <a:lnTo>
                  <a:pt x="914392" y="0"/>
                </a:lnTo>
                <a:lnTo>
                  <a:pt x="914392" y="114298"/>
                </a:lnTo>
                <a:lnTo>
                  <a:pt x="0" y="11429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3" id="43"/>
          <p:cNvSpPr/>
          <p:nvPr/>
        </p:nvSpPr>
        <p:spPr>
          <a:xfrm flipH="false" flipV="false" rot="0">
            <a:off x="903553" y="8186089"/>
            <a:ext cx="1053295" cy="1053295"/>
          </a:xfrm>
          <a:custGeom>
            <a:avLst/>
            <a:gdLst/>
            <a:ahLst/>
            <a:cxnLst/>
            <a:rect r="r" b="b" t="t" l="l"/>
            <a:pathLst>
              <a:path h="1053295" w="1053295">
                <a:moveTo>
                  <a:pt x="0" y="0"/>
                </a:moveTo>
                <a:lnTo>
                  <a:pt x="1053295" y="0"/>
                </a:lnTo>
                <a:lnTo>
                  <a:pt x="1053295" y="1053295"/>
                </a:lnTo>
                <a:lnTo>
                  <a:pt x="0" y="105329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44" id="44"/>
          <p:cNvSpPr/>
          <p:nvPr/>
        </p:nvSpPr>
        <p:spPr>
          <a:xfrm flipH="false" flipV="false" rot="0">
            <a:off x="768788" y="5306814"/>
            <a:ext cx="1322821" cy="1322821"/>
          </a:xfrm>
          <a:custGeom>
            <a:avLst/>
            <a:gdLst/>
            <a:ahLst/>
            <a:cxnLst/>
            <a:rect r="r" b="b" t="t" l="l"/>
            <a:pathLst>
              <a:path h="1322821" w="1322821">
                <a:moveTo>
                  <a:pt x="0" y="0"/>
                </a:moveTo>
                <a:lnTo>
                  <a:pt x="1322821" y="0"/>
                </a:lnTo>
                <a:lnTo>
                  <a:pt x="1322821" y="1322821"/>
                </a:lnTo>
                <a:lnTo>
                  <a:pt x="0" y="132282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TextBox 45" id="45"/>
          <p:cNvSpPr txBox="true"/>
          <p:nvPr/>
        </p:nvSpPr>
        <p:spPr>
          <a:xfrm rot="0">
            <a:off x="4114401" y="3931509"/>
            <a:ext cx="10365634" cy="1135650"/>
          </a:xfrm>
          <a:prstGeom prst="rect">
            <a:avLst/>
          </a:prstGeom>
        </p:spPr>
        <p:txBody>
          <a:bodyPr anchor="t" rtlCol="false" tIns="0" lIns="0" bIns="0" rIns="0">
            <a:spAutoFit/>
          </a:bodyPr>
          <a:lstStyle/>
          <a:p>
            <a:pPr algn="l">
              <a:lnSpc>
                <a:spcPts val="3358"/>
              </a:lnSpc>
            </a:pPr>
            <a:r>
              <a:rPr lang="en-US" sz="2799">
                <a:solidFill>
                  <a:srgbClr val="000000"/>
                </a:solidFill>
                <a:latin typeface="Times New Roman"/>
                <a:ea typeface="Times New Roman"/>
                <a:cs typeface="Times New Roman"/>
                <a:sym typeface="Times New Roman"/>
              </a:rPr>
              <a:t>Mở rộng dữ liệu (nhiều loài/giai đoạn, điều kiện ánh sáng thực tế) và </a:t>
            </a:r>
            <a:r>
              <a:rPr lang="en-US" sz="2799" b="true">
                <a:solidFill>
                  <a:srgbClr val="000000"/>
                </a:solidFill>
                <a:latin typeface="Times New Roman Bold"/>
                <a:ea typeface="Times New Roman Bold"/>
                <a:cs typeface="Times New Roman Bold"/>
                <a:sym typeface="Times New Roman Bold"/>
              </a:rPr>
              <a:t>active learning</a:t>
            </a:r>
            <a:r>
              <a:rPr lang="en-US" sz="2799">
                <a:solidFill>
                  <a:srgbClr val="000000"/>
                </a:solidFill>
                <a:latin typeface="Times New Roman"/>
                <a:ea typeface="Times New Roman"/>
                <a:cs typeface="Times New Roman"/>
                <a:sym typeface="Times New Roman"/>
              </a:rPr>
              <a:t> để tăng độ chính xác &amp; ổn định.</a:t>
            </a:r>
          </a:p>
        </p:txBody>
      </p:sp>
      <p:sp>
        <p:nvSpPr>
          <p:cNvPr name="TextBox 46" id="46"/>
          <p:cNvSpPr txBox="true"/>
          <p:nvPr/>
        </p:nvSpPr>
        <p:spPr>
          <a:xfrm rot="0">
            <a:off x="4099449" y="5028609"/>
            <a:ext cx="10380584" cy="876300"/>
          </a:xfrm>
          <a:prstGeom prst="rect">
            <a:avLst/>
          </a:prstGeom>
        </p:spPr>
        <p:txBody>
          <a:bodyPr anchor="t" rtlCol="false" tIns="0" lIns="0" bIns="0" rIns="0">
            <a:spAutoFit/>
          </a:bodyPr>
          <a:lstStyle/>
          <a:p>
            <a:pPr algn="l">
              <a:lnSpc>
                <a:spcPts val="3358"/>
              </a:lnSpc>
            </a:pPr>
            <a:r>
              <a:rPr lang="en-US" sz="2799">
                <a:solidFill>
                  <a:srgbClr val="000000"/>
                </a:solidFill>
                <a:latin typeface="Times New Roman"/>
                <a:ea typeface="Times New Roman"/>
                <a:cs typeface="Times New Roman"/>
                <a:sym typeface="Times New Roman"/>
              </a:rPr>
              <a:t>Cải thiện trải nghiệm: hướng dẫn chụp, xử lý ảnh trên thiết bị, giải thích kết quả, hỗ trợ </a:t>
            </a:r>
            <a:r>
              <a:rPr lang="en-US" sz="2799" b="true">
                <a:solidFill>
                  <a:srgbClr val="000000"/>
                </a:solidFill>
                <a:latin typeface="Times New Roman Bold"/>
                <a:ea typeface="Times New Roman Bold"/>
                <a:cs typeface="Times New Roman Bold"/>
                <a:sym typeface="Times New Roman Bold"/>
              </a:rPr>
              <a:t>đa ngôn ngữ</a:t>
            </a:r>
            <a:r>
              <a:rPr lang="en-US" sz="2799">
                <a:solidFill>
                  <a:srgbClr val="000000"/>
                </a:solidFill>
                <a:latin typeface="Times New Roman"/>
                <a:ea typeface="Times New Roman"/>
                <a:cs typeface="Times New Roman"/>
                <a:sym typeface="Times New Roman"/>
              </a:rPr>
              <a:t>.</a:t>
            </a:r>
          </a:p>
        </p:txBody>
      </p:sp>
      <p:sp>
        <p:nvSpPr>
          <p:cNvPr name="TextBox 47" id="47"/>
          <p:cNvSpPr txBox="true"/>
          <p:nvPr/>
        </p:nvSpPr>
        <p:spPr>
          <a:xfrm rot="0">
            <a:off x="4099445" y="6205775"/>
            <a:ext cx="10089104" cy="1135650"/>
          </a:xfrm>
          <a:prstGeom prst="rect">
            <a:avLst/>
          </a:prstGeom>
        </p:spPr>
        <p:txBody>
          <a:bodyPr anchor="t" rtlCol="false" tIns="0" lIns="0" bIns="0" rIns="0">
            <a:spAutoFit/>
          </a:bodyPr>
          <a:lstStyle/>
          <a:p>
            <a:pPr algn="l">
              <a:lnSpc>
                <a:spcPts val="3358"/>
              </a:lnSpc>
            </a:pPr>
            <a:r>
              <a:rPr lang="en-US" sz="2799">
                <a:solidFill>
                  <a:srgbClr val="000000"/>
                </a:solidFill>
                <a:latin typeface="Times New Roman"/>
                <a:ea typeface="Times New Roman"/>
                <a:cs typeface="Times New Roman"/>
                <a:sym typeface="Times New Roman"/>
              </a:rPr>
              <a:t>IPM theo ngữ cảnh: dùng </a:t>
            </a:r>
            <a:r>
              <a:rPr lang="en-US" sz="2799" b="true">
                <a:solidFill>
                  <a:srgbClr val="000000"/>
                </a:solidFill>
                <a:latin typeface="Times New Roman Bold"/>
                <a:ea typeface="Times New Roman Bold"/>
                <a:cs typeface="Times New Roman Bold"/>
                <a:sym typeface="Times New Roman Bold"/>
              </a:rPr>
              <a:t>vị trí/mùa vụ &amp; thời tiết</a:t>
            </a:r>
            <a:r>
              <a:rPr lang="en-US" sz="2799">
                <a:solidFill>
                  <a:srgbClr val="000000"/>
                </a:solidFill>
                <a:latin typeface="Times New Roman"/>
                <a:ea typeface="Times New Roman"/>
                <a:cs typeface="Times New Roman"/>
                <a:sym typeface="Times New Roman"/>
              </a:rPr>
              <a:t> để cá nhân hóa khuyến nghị; nhắc việc và lịch xử lý.</a:t>
            </a:r>
          </a:p>
        </p:txBody>
      </p:sp>
      <p:sp>
        <p:nvSpPr>
          <p:cNvPr name="TextBox 48" id="48"/>
          <p:cNvSpPr txBox="true"/>
          <p:nvPr/>
        </p:nvSpPr>
        <p:spPr>
          <a:xfrm rot="0">
            <a:off x="4099443" y="7289383"/>
            <a:ext cx="9872256" cy="876300"/>
          </a:xfrm>
          <a:prstGeom prst="rect">
            <a:avLst/>
          </a:prstGeom>
        </p:spPr>
        <p:txBody>
          <a:bodyPr anchor="t" rtlCol="false" tIns="0" lIns="0" bIns="0" rIns="0">
            <a:spAutoFit/>
          </a:bodyPr>
          <a:lstStyle/>
          <a:p>
            <a:pPr algn="l">
              <a:lnSpc>
                <a:spcPts val="3358"/>
              </a:lnSpc>
            </a:pPr>
            <a:r>
              <a:rPr lang="en-US" sz="2799">
                <a:solidFill>
                  <a:srgbClr val="000000"/>
                </a:solidFill>
                <a:latin typeface="Times New Roman"/>
                <a:ea typeface="Times New Roman"/>
                <a:cs typeface="Times New Roman"/>
                <a:sym typeface="Times New Roman"/>
              </a:rPr>
              <a:t>Đồng bộ &amp; quản trị: dashboard cập nhật dữ liệu, </a:t>
            </a:r>
            <a:r>
              <a:rPr lang="en-US" sz="2799" b="true">
                <a:solidFill>
                  <a:srgbClr val="000000"/>
                </a:solidFill>
                <a:latin typeface="Times New Roman Bold"/>
                <a:ea typeface="Times New Roman Bold"/>
                <a:cs typeface="Times New Roman Bold"/>
                <a:sym typeface="Times New Roman Bold"/>
              </a:rPr>
              <a:t>cập nhật mô hình OTA</a:t>
            </a:r>
            <a:r>
              <a:rPr lang="en-US" sz="2799">
                <a:solidFill>
                  <a:srgbClr val="000000"/>
                </a:solidFill>
                <a:latin typeface="Times New Roman"/>
                <a:ea typeface="Times New Roman"/>
                <a:cs typeface="Times New Roman"/>
                <a:sym typeface="Times New Roman"/>
              </a:rPr>
              <a:t>, vòng phản hồi người dùng để cải tiến liên tục.</a:t>
            </a:r>
          </a:p>
        </p:txBody>
      </p:sp>
      <p:grpSp>
        <p:nvGrpSpPr>
          <p:cNvPr name="Group 49" id="49"/>
          <p:cNvGrpSpPr/>
          <p:nvPr/>
        </p:nvGrpSpPr>
        <p:grpSpPr>
          <a:xfrm rot="0">
            <a:off x="0" y="7764"/>
            <a:ext cx="18288000" cy="10271474"/>
            <a:chOff x="0" y="0"/>
            <a:chExt cx="24384000" cy="13695299"/>
          </a:xfrm>
        </p:grpSpPr>
        <p:sp>
          <p:nvSpPr>
            <p:cNvPr name="Freeform 50" id="50"/>
            <p:cNvSpPr/>
            <p:nvPr/>
          </p:nvSpPr>
          <p:spPr>
            <a:xfrm flipH="false" flipV="false" rot="0">
              <a:off x="0" y="0"/>
              <a:ext cx="24384000" cy="13695299"/>
            </a:xfrm>
            <a:custGeom>
              <a:avLst/>
              <a:gdLst/>
              <a:ahLst/>
              <a:cxnLst/>
              <a:rect r="r" b="b" t="t" l="l"/>
              <a:pathLst>
                <a:path h="13695299" w="24384000">
                  <a:moveTo>
                    <a:pt x="0" y="0"/>
                  </a:moveTo>
                  <a:lnTo>
                    <a:pt x="24384000" y="0"/>
                  </a:lnTo>
                  <a:lnTo>
                    <a:pt x="24384000" y="13695299"/>
                  </a:lnTo>
                  <a:lnTo>
                    <a:pt x="0" y="13695299"/>
                  </a:lnTo>
                  <a:lnTo>
                    <a:pt x="0" y="0"/>
                  </a:lnTo>
                  <a:close/>
                </a:path>
              </a:pathLst>
            </a:custGeom>
            <a:blipFill>
              <a:blip r:embed="rId22"/>
              <a:stretch>
                <a:fillRect l="0" t="0" r="0" b="0"/>
              </a:stretch>
            </a:blipFill>
          </p:spPr>
        </p:sp>
      </p:grpSp>
      <p:grpSp>
        <p:nvGrpSpPr>
          <p:cNvPr name="Group 51" id="51"/>
          <p:cNvGrpSpPr/>
          <p:nvPr/>
        </p:nvGrpSpPr>
        <p:grpSpPr>
          <a:xfrm rot="0">
            <a:off x="13687" y="100531"/>
            <a:ext cx="18288000" cy="10240041"/>
            <a:chOff x="0" y="0"/>
            <a:chExt cx="24384000" cy="13653388"/>
          </a:xfrm>
        </p:grpSpPr>
        <p:sp>
          <p:nvSpPr>
            <p:cNvPr name="Freeform 52" id="52"/>
            <p:cNvSpPr/>
            <p:nvPr/>
          </p:nvSpPr>
          <p:spPr>
            <a:xfrm flipH="false" flipV="false" rot="0">
              <a:off x="0" y="0"/>
              <a:ext cx="24384000" cy="13653388"/>
            </a:xfrm>
            <a:custGeom>
              <a:avLst/>
              <a:gdLst/>
              <a:ahLst/>
              <a:cxnLst/>
              <a:rect r="r" b="b" t="t" l="l"/>
              <a:pathLst>
                <a:path h="13653388" w="24384000">
                  <a:moveTo>
                    <a:pt x="0" y="0"/>
                  </a:moveTo>
                  <a:lnTo>
                    <a:pt x="24384000" y="0"/>
                  </a:lnTo>
                  <a:lnTo>
                    <a:pt x="24384000" y="13653388"/>
                  </a:lnTo>
                  <a:lnTo>
                    <a:pt x="0" y="13653388"/>
                  </a:lnTo>
                  <a:lnTo>
                    <a:pt x="0" y="0"/>
                  </a:lnTo>
                  <a:close/>
                </a:path>
              </a:pathLst>
            </a:custGeom>
            <a:blipFill>
              <a:blip r:embed="rId23"/>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DAG6h-bH_OM</dc:identifier>
  <dcterms:modified xsi:type="dcterms:W3CDTF">2011-08-01T06:04:30Z</dcterms:modified>
  <cp:revision>1</cp:revision>
  <dc:title>QLDA.PHANLOAISAU</dc:title>
</cp:coreProperties>
</file>