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Alata" charset="1" panose="00000500000000000000"/>
      <p:regular r:id="rId41"/>
    </p:embeddedFont>
    <p:embeddedFont>
      <p:font typeface="Arial Bold" charset="1" panose="020B0704020202020204"/>
      <p:regular r:id="rId45"/>
    </p:embeddedFont>
    <p:embeddedFont>
      <p:font typeface="Arimo Bold" charset="1" panose="020B0704020202020204"/>
      <p:regular r:id="rId47"/>
    </p:embeddedFont>
    <p:embeddedFont>
      <p:font typeface="Times New Roman" charset="1" panose="02020603050405020304"/>
      <p:regular r:id="rId48"/>
    </p:embeddedFont>
    <p:embeddedFont>
      <p:font typeface="Arial" charset="1" panose="020B0604020202020204"/>
      <p:regular r:id="rId49"/>
    </p:embeddedFont>
    <p:embeddedFont>
      <p:font typeface="Calibri (MS) Bold" charset="1" panose="020F0702030404030204"/>
      <p:regular r:id="rId50"/>
    </p:embeddedFont>
    <p:embeddedFont>
      <p:font typeface="Times New Roman Bold" charset="1" panose="02020803070505020304"/>
      <p:regular r:id="rId77"/>
    </p:embeddedFont>
    <p:embeddedFont>
      <p:font typeface="Times New Roman Italics" charset="1" panose="02020503050405090304"/>
      <p:regular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notesMasters/notesMaster1.xml" Type="http://schemas.openxmlformats.org/officeDocument/2006/relationships/notesMaster"/><Relationship Id="rId39" Target="theme/theme2.xml" Type="http://schemas.openxmlformats.org/officeDocument/2006/relationships/theme"/><Relationship Id="rId4" Target="theme/theme1.xml" Type="http://schemas.openxmlformats.org/officeDocument/2006/relationships/theme"/><Relationship Id="rId40" Target="notesSlides/notesSlide1.xml" Type="http://schemas.openxmlformats.org/officeDocument/2006/relationships/notesSlide"/><Relationship Id="rId41" Target="fonts/font41.fntdata" Type="http://schemas.openxmlformats.org/officeDocument/2006/relationships/font"/><Relationship Id="rId42" Target="notesSlides/notesSlide2.xml" Type="http://schemas.openxmlformats.org/officeDocument/2006/relationships/notesSlide"/><Relationship Id="rId43" Target="notesSlides/notesSlide3.xml" Type="http://schemas.openxmlformats.org/officeDocument/2006/relationships/notesSlide"/><Relationship Id="rId44" Target="notesSlides/notesSlide4.xml" Type="http://schemas.openxmlformats.org/officeDocument/2006/relationships/notesSlide"/><Relationship Id="rId45" Target="fonts/font45.fntdata" Type="http://schemas.openxmlformats.org/officeDocument/2006/relationships/font"/><Relationship Id="rId46" Target="notesSlides/notesSlide5.xml" Type="http://schemas.openxmlformats.org/officeDocument/2006/relationships/note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notesSlides/notesSlide6.xml" Type="http://schemas.openxmlformats.org/officeDocument/2006/relationships/notesSlide"/><Relationship Id="rId52" Target="notesSlides/notesSlide7.xml" Type="http://schemas.openxmlformats.org/officeDocument/2006/relationships/notesSlide"/><Relationship Id="rId53" Target="notesSlides/notesSlide8.xml" Type="http://schemas.openxmlformats.org/officeDocument/2006/relationships/notesSlide"/><Relationship Id="rId54" Target="notesSlides/notesSlide9.xml" Type="http://schemas.openxmlformats.org/officeDocument/2006/relationships/notesSlide"/><Relationship Id="rId55" Target="notesSlides/notesSlide10.xml" Type="http://schemas.openxmlformats.org/officeDocument/2006/relationships/notesSlide"/><Relationship Id="rId56" Target="notesSlides/notesSlide11.xml" Type="http://schemas.openxmlformats.org/officeDocument/2006/relationships/notesSlide"/><Relationship Id="rId57" Target="notesSlides/notesSlide12.xml" Type="http://schemas.openxmlformats.org/officeDocument/2006/relationships/notesSlide"/><Relationship Id="rId58" Target="notesSlides/notesSlide13.xml" Type="http://schemas.openxmlformats.org/officeDocument/2006/relationships/notesSlide"/><Relationship Id="rId59" Target="notesSlides/notesSlide14.xml" Type="http://schemas.openxmlformats.org/officeDocument/2006/relationships/notesSlide"/><Relationship Id="rId6" Target="slides/slide1.xml" Type="http://schemas.openxmlformats.org/officeDocument/2006/relationships/slide"/><Relationship Id="rId60" Target="notesSlides/notesSlide15.xml" Type="http://schemas.openxmlformats.org/officeDocument/2006/relationships/notesSlide"/><Relationship Id="rId61" Target="notesSlides/notesSlide16.xml" Type="http://schemas.openxmlformats.org/officeDocument/2006/relationships/notesSlide"/><Relationship Id="rId62" Target="notesSlides/notesSlide17.xml" Type="http://schemas.openxmlformats.org/officeDocument/2006/relationships/notesSlide"/><Relationship Id="rId63" Target="notesSlides/notesSlide18.xml" Type="http://schemas.openxmlformats.org/officeDocument/2006/relationships/notesSlide"/><Relationship Id="rId64" Target="notesSlides/notesSlide19.xml" Type="http://schemas.openxmlformats.org/officeDocument/2006/relationships/notesSlide"/><Relationship Id="rId65" Target="notesSlides/notesSlide20.xml" Type="http://schemas.openxmlformats.org/officeDocument/2006/relationships/notesSlide"/><Relationship Id="rId66" Target="notesSlides/notesSlide21.xml" Type="http://schemas.openxmlformats.org/officeDocument/2006/relationships/notesSlide"/><Relationship Id="rId67" Target="notesSlides/notesSlide22.xml" Type="http://schemas.openxmlformats.org/officeDocument/2006/relationships/notesSlide"/><Relationship Id="rId68" Target="notesSlides/notesSlide23.xml" Type="http://schemas.openxmlformats.org/officeDocument/2006/relationships/notesSlide"/><Relationship Id="rId69" Target="notesSlides/notesSlide24.xml" Type="http://schemas.openxmlformats.org/officeDocument/2006/relationships/notesSlide"/><Relationship Id="rId7" Target="slides/slide2.xml" Type="http://schemas.openxmlformats.org/officeDocument/2006/relationships/slide"/><Relationship Id="rId70" Target="notesSlides/notesSlide25.xml" Type="http://schemas.openxmlformats.org/officeDocument/2006/relationships/notesSlide"/><Relationship Id="rId71" Target="notesSlides/notesSlide26.xml" Type="http://schemas.openxmlformats.org/officeDocument/2006/relationships/notesSlide"/><Relationship Id="rId72" Target="notesSlides/notesSlide27.xml" Type="http://schemas.openxmlformats.org/officeDocument/2006/relationships/notesSlide"/><Relationship Id="rId73" Target="notesSlides/notesSlide28.xml" Type="http://schemas.openxmlformats.org/officeDocument/2006/relationships/notesSlide"/><Relationship Id="rId74" Target="notesSlides/notesSlide29.xml" Type="http://schemas.openxmlformats.org/officeDocument/2006/relationships/notesSlide"/><Relationship Id="rId75" Target="notesSlides/notesSlide30.xml" Type="http://schemas.openxmlformats.org/officeDocument/2006/relationships/notesSlide"/><Relationship Id="rId76" Target="notesSlides/notesSlide31.xml" Type="http://schemas.openxmlformats.org/officeDocument/2006/relationships/notesSlide"/><Relationship Id="rId77" Target="fonts/font77.fntdata" Type="http://schemas.openxmlformats.org/officeDocument/2006/relationships/font"/><Relationship Id="rId78" Target="notesSlides/notesSlide32.xml" Type="http://schemas.openxmlformats.org/officeDocument/2006/relationships/notesSlide"/><Relationship Id="rId79" Target="fonts/font79.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2" Target="../notesSlides/notesSlide5.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jpeg" Type="http://schemas.openxmlformats.org/officeDocument/2006/relationships/image"/><Relationship Id="rId9" Target="../media/image2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38.png" Type="http://schemas.openxmlformats.org/officeDocument/2006/relationships/image"/><Relationship Id="rId2" Target="../notesSlides/notesSlide7.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39.png" Type="http://schemas.openxmlformats.org/officeDocument/2006/relationships/image"/><Relationship Id="rId2" Target="../notesSlides/notesSlide8.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40.png" Type="http://schemas.openxmlformats.org/officeDocument/2006/relationships/image"/><Relationship Id="rId2" Target="../notesSlides/notesSlide9.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41.png" Type="http://schemas.openxmlformats.org/officeDocument/2006/relationships/image"/><Relationship Id="rId2" Target="../notesSlides/notesSlide10.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42.png" Type="http://schemas.openxmlformats.org/officeDocument/2006/relationships/image"/><Relationship Id="rId2" Target="../notesSlides/notesSlide11.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43.png" Type="http://schemas.openxmlformats.org/officeDocument/2006/relationships/image"/><Relationship Id="rId2" Target="../notesSlides/notesSlide12.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44.png" Type="http://schemas.openxmlformats.org/officeDocument/2006/relationships/image"/><Relationship Id="rId12" Target="../media/image45.png" Type="http://schemas.openxmlformats.org/officeDocument/2006/relationships/image"/><Relationship Id="rId13" Target="../media/image46.png" Type="http://schemas.openxmlformats.org/officeDocument/2006/relationships/image"/><Relationship Id="rId14" Target="../media/image47.png" Type="http://schemas.openxmlformats.org/officeDocument/2006/relationships/image"/><Relationship Id="rId2" Target="../notesSlides/notesSlide13.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48.png" Type="http://schemas.openxmlformats.org/officeDocument/2006/relationships/image"/><Relationship Id="rId12" Target="../media/image49.png" Type="http://schemas.openxmlformats.org/officeDocument/2006/relationships/image"/><Relationship Id="rId2" Target="../notesSlides/notesSlide14.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50.png" Type="http://schemas.openxmlformats.org/officeDocument/2006/relationships/image"/><Relationship Id="rId12" Target="../media/image51.png" Type="http://schemas.openxmlformats.org/officeDocument/2006/relationships/image"/><Relationship Id="rId2" Target="../notesSlides/notesSlide15.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52.png" Type="http://schemas.openxmlformats.org/officeDocument/2006/relationships/image"/><Relationship Id="rId2" Target="../notesSlides/notesSlide16.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53.png" Type="http://schemas.openxmlformats.org/officeDocument/2006/relationships/image"/><Relationship Id="rId2" Target="../notesSlides/notesSlide17.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61.png" Type="http://schemas.openxmlformats.org/officeDocument/2006/relationships/image"/><Relationship Id="rId2" Target="../notesSlides/notesSlide19.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6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2" Target="../notesSlides/notesSlide20.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2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2" Target="../notesSlides/notesSlide21.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6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png" Type="http://schemas.openxmlformats.org/officeDocument/2006/relationships/image"/><Relationship Id="rId2" Target="../notesSlides/notesSlide22.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6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png" Type="http://schemas.openxmlformats.org/officeDocument/2006/relationships/image"/><Relationship Id="rId2" Target="../notesSlides/notesSlide23.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6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png" Type="http://schemas.openxmlformats.org/officeDocument/2006/relationships/image"/><Relationship Id="rId2" Target="../notesSlides/notesSlide24.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6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6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7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7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7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7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74.png" Type="http://schemas.openxmlformats.org/officeDocument/2006/relationships/image"/><Relationship Id="rId4" Target="../media/image75.svg" Type="http://schemas.openxmlformats.org/officeDocument/2006/relationships/image"/><Relationship Id="rId5" Target="../media/image76.png" Type="http://schemas.openxmlformats.org/officeDocument/2006/relationships/image"/><Relationship Id="rId6" Target="../media/image77.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74.png" Type="http://schemas.openxmlformats.org/officeDocument/2006/relationships/image"/><Relationship Id="rId4" Target="../media/image75.svg" Type="http://schemas.openxmlformats.org/officeDocument/2006/relationships/image"/><Relationship Id="rId5" Target="../media/image76.png" Type="http://schemas.openxmlformats.org/officeDocument/2006/relationships/image"/><Relationship Id="rId6" Target="../media/image7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2253992" y="52176"/>
            <a:ext cx="13823952" cy="3695400"/>
            <a:chOff x="0" y="0"/>
            <a:chExt cx="18431936" cy="4927200"/>
          </a:xfrm>
        </p:grpSpPr>
        <p:sp>
          <p:nvSpPr>
            <p:cNvPr name="Freeform 3" id="3"/>
            <p:cNvSpPr/>
            <p:nvPr/>
          </p:nvSpPr>
          <p:spPr>
            <a:xfrm flipH="false" flipV="false" rot="0">
              <a:off x="0" y="0"/>
              <a:ext cx="18431935" cy="4927200"/>
            </a:xfrm>
            <a:custGeom>
              <a:avLst/>
              <a:gdLst/>
              <a:ahLst/>
              <a:cxnLst/>
              <a:rect r="r" b="b" t="t" l="l"/>
              <a:pathLst>
                <a:path h="4927200" w="18431935">
                  <a:moveTo>
                    <a:pt x="0" y="0"/>
                  </a:moveTo>
                  <a:lnTo>
                    <a:pt x="18431935" y="0"/>
                  </a:lnTo>
                  <a:lnTo>
                    <a:pt x="18431935" y="4927200"/>
                  </a:lnTo>
                  <a:lnTo>
                    <a:pt x="0" y="4927200"/>
                  </a:lnTo>
                  <a:close/>
                </a:path>
              </a:pathLst>
            </a:custGeom>
            <a:solidFill>
              <a:srgbClr val="000000">
                <a:alpha val="0"/>
              </a:srgbClr>
            </a:solidFill>
          </p:spPr>
        </p:sp>
        <p:sp>
          <p:nvSpPr>
            <p:cNvPr name="TextBox 4" id="4"/>
            <p:cNvSpPr txBox="true"/>
            <p:nvPr/>
          </p:nvSpPr>
          <p:spPr>
            <a:xfrm>
              <a:off x="0" y="-9525"/>
              <a:ext cx="18431936" cy="4936725"/>
            </a:xfrm>
            <a:prstGeom prst="rect">
              <a:avLst/>
            </a:prstGeom>
          </p:spPr>
          <p:txBody>
            <a:bodyPr anchor="b" rtlCol="false" tIns="0" lIns="0" bIns="0" rIns="0"/>
            <a:lstStyle/>
            <a:p>
              <a:pPr algn="ctr">
                <a:lnSpc>
                  <a:spcPts val="9600"/>
                </a:lnSpc>
              </a:pPr>
              <a:r>
                <a:rPr lang="en-US" sz="8000">
                  <a:solidFill>
                    <a:srgbClr val="F5F5F5"/>
                  </a:solidFill>
                  <a:latin typeface="Alata"/>
                  <a:ea typeface="Alata"/>
                  <a:cs typeface="Alata"/>
                  <a:sym typeface="Alata"/>
                </a:rPr>
                <a:t>Xây dựng ứng dụng sàn thương mại điện tử</a:t>
              </a:r>
            </a:p>
          </p:txBody>
        </p:sp>
      </p:grpSp>
      <p:sp>
        <p:nvSpPr>
          <p:cNvPr name="Freeform 5" id="5"/>
          <p:cNvSpPr/>
          <p:nvPr/>
        </p:nvSpPr>
        <p:spPr>
          <a:xfrm flipH="false" flipV="false" rot="0">
            <a:off x="-1701536" y="5574376"/>
            <a:ext cx="5886352" cy="5885200"/>
          </a:xfrm>
          <a:custGeom>
            <a:avLst/>
            <a:gdLst/>
            <a:ahLst/>
            <a:cxnLst/>
            <a:rect r="r" b="b" t="t" l="l"/>
            <a:pathLst>
              <a:path h="5885200" w="5886352">
                <a:moveTo>
                  <a:pt x="0" y="0"/>
                </a:moveTo>
                <a:lnTo>
                  <a:pt x="5886352" y="0"/>
                </a:lnTo>
                <a:lnTo>
                  <a:pt x="5886352" y="5885200"/>
                </a:lnTo>
                <a:lnTo>
                  <a:pt x="0" y="5885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5530054" y="-2617180"/>
            <a:ext cx="5886352" cy="5885200"/>
          </a:xfrm>
          <a:custGeom>
            <a:avLst/>
            <a:gdLst/>
            <a:ahLst/>
            <a:cxnLst/>
            <a:rect r="r" b="b" t="t" l="l"/>
            <a:pathLst>
              <a:path h="5885200" w="5886352">
                <a:moveTo>
                  <a:pt x="0" y="0"/>
                </a:moveTo>
                <a:lnTo>
                  <a:pt x="5886352" y="0"/>
                </a:lnTo>
                <a:lnTo>
                  <a:pt x="5886352" y="5885200"/>
                </a:lnTo>
                <a:lnTo>
                  <a:pt x="0" y="588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5431268" y="3998292"/>
            <a:ext cx="7469400" cy="66600"/>
            <a:chOff x="0" y="0"/>
            <a:chExt cx="9959200" cy="88800"/>
          </a:xfrm>
        </p:grpSpPr>
        <p:sp>
          <p:nvSpPr>
            <p:cNvPr name="Freeform 8" id="8"/>
            <p:cNvSpPr/>
            <p:nvPr/>
          </p:nvSpPr>
          <p:spPr>
            <a:xfrm flipH="false" flipV="false" rot="0">
              <a:off x="0" y="0"/>
              <a:ext cx="9959213" cy="88773"/>
            </a:xfrm>
            <a:custGeom>
              <a:avLst/>
              <a:gdLst/>
              <a:ahLst/>
              <a:cxnLst/>
              <a:rect r="r" b="b" t="t" l="l"/>
              <a:pathLst>
                <a:path h="88773" w="9959213">
                  <a:moveTo>
                    <a:pt x="0" y="0"/>
                  </a:moveTo>
                  <a:lnTo>
                    <a:pt x="9959213" y="0"/>
                  </a:lnTo>
                  <a:lnTo>
                    <a:pt x="9959213" y="88773"/>
                  </a:lnTo>
                  <a:lnTo>
                    <a:pt x="0" y="88773"/>
                  </a:lnTo>
                  <a:close/>
                </a:path>
              </a:pathLst>
            </a:custGeom>
            <a:gradFill rotWithShape="true">
              <a:gsLst>
                <a:gs pos="0">
                  <a:srgbClr val="49E1BB">
                    <a:alpha val="100000"/>
                  </a:srgbClr>
                </a:gs>
                <a:gs pos="100000">
                  <a:srgbClr val="1E8A6F">
                    <a:alpha val="100000"/>
                  </a:srgbClr>
                </a:gs>
              </a:gsLst>
              <a:path path="circle">
                <a:fillToRect l="50000" r="50000" t="50000" b="50000"/>
              </a:path>
            </a:gradFill>
          </p:spPr>
        </p:sp>
      </p:grpSp>
      <p:grpSp>
        <p:nvGrpSpPr>
          <p:cNvPr name="Group 9" id="9"/>
          <p:cNvGrpSpPr/>
          <p:nvPr/>
        </p:nvGrpSpPr>
        <p:grpSpPr>
          <a:xfrm rot="-1168698">
            <a:off x="14813840" y="8200096"/>
            <a:ext cx="4834912" cy="3187352"/>
            <a:chOff x="0" y="0"/>
            <a:chExt cx="6446549" cy="4249803"/>
          </a:xfrm>
        </p:grpSpPr>
        <p:sp>
          <p:nvSpPr>
            <p:cNvPr name="Freeform 10" id="10"/>
            <p:cNvSpPr/>
            <p:nvPr/>
          </p:nvSpPr>
          <p:spPr>
            <a:xfrm flipH="false" flipV="false" rot="0">
              <a:off x="0" y="0"/>
              <a:ext cx="6446520" cy="4249801"/>
            </a:xfrm>
            <a:custGeom>
              <a:avLst/>
              <a:gdLst/>
              <a:ahLst/>
              <a:cxnLst/>
              <a:rect r="r" b="b" t="t" l="l"/>
              <a:pathLst>
                <a:path h="4249801" w="6446520">
                  <a:moveTo>
                    <a:pt x="0" y="2124964"/>
                  </a:moveTo>
                  <a:cubicBezTo>
                    <a:pt x="0" y="951357"/>
                    <a:pt x="1443101" y="0"/>
                    <a:pt x="3223260" y="0"/>
                  </a:cubicBezTo>
                  <a:cubicBezTo>
                    <a:pt x="5003419" y="0"/>
                    <a:pt x="6446520" y="951357"/>
                    <a:pt x="6446520" y="2124964"/>
                  </a:cubicBezTo>
                  <a:cubicBezTo>
                    <a:pt x="6446520" y="3298571"/>
                    <a:pt x="5003419" y="4249801"/>
                    <a:pt x="3223260" y="4249801"/>
                  </a:cubicBezTo>
                  <a:cubicBezTo>
                    <a:pt x="1443101" y="4249801"/>
                    <a:pt x="0" y="3298444"/>
                    <a:pt x="0" y="212496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11" id="11"/>
          <p:cNvGrpSpPr/>
          <p:nvPr/>
        </p:nvGrpSpPr>
        <p:grpSpPr>
          <a:xfrm rot="-1168698">
            <a:off x="-1360710" y="-523654"/>
            <a:ext cx="4834912" cy="3187352"/>
            <a:chOff x="0" y="0"/>
            <a:chExt cx="6446549" cy="4249803"/>
          </a:xfrm>
        </p:grpSpPr>
        <p:sp>
          <p:nvSpPr>
            <p:cNvPr name="Freeform 12" id="12"/>
            <p:cNvSpPr/>
            <p:nvPr/>
          </p:nvSpPr>
          <p:spPr>
            <a:xfrm flipH="false" flipV="false" rot="0">
              <a:off x="0" y="0"/>
              <a:ext cx="6446520" cy="4249801"/>
            </a:xfrm>
            <a:custGeom>
              <a:avLst/>
              <a:gdLst/>
              <a:ahLst/>
              <a:cxnLst/>
              <a:rect r="r" b="b" t="t" l="l"/>
              <a:pathLst>
                <a:path h="4249801" w="6446520">
                  <a:moveTo>
                    <a:pt x="0" y="2124964"/>
                  </a:moveTo>
                  <a:cubicBezTo>
                    <a:pt x="0" y="951357"/>
                    <a:pt x="1443101" y="0"/>
                    <a:pt x="3223260" y="0"/>
                  </a:cubicBezTo>
                  <a:cubicBezTo>
                    <a:pt x="5003419" y="0"/>
                    <a:pt x="6446520" y="951357"/>
                    <a:pt x="6446520" y="2124964"/>
                  </a:cubicBezTo>
                  <a:cubicBezTo>
                    <a:pt x="6446520" y="3298571"/>
                    <a:pt x="5003419" y="4249801"/>
                    <a:pt x="3223260" y="4249801"/>
                  </a:cubicBezTo>
                  <a:cubicBezTo>
                    <a:pt x="1443101" y="4249801"/>
                    <a:pt x="0" y="3298444"/>
                    <a:pt x="0" y="212496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13" id="13"/>
          <p:cNvGrpSpPr/>
          <p:nvPr/>
        </p:nvGrpSpPr>
        <p:grpSpPr>
          <a:xfrm rot="0">
            <a:off x="2486218" y="6219266"/>
            <a:ext cx="13823952" cy="3695400"/>
            <a:chOff x="0" y="0"/>
            <a:chExt cx="18431936" cy="4927200"/>
          </a:xfrm>
        </p:grpSpPr>
        <p:sp>
          <p:nvSpPr>
            <p:cNvPr name="Freeform 14" id="14"/>
            <p:cNvSpPr/>
            <p:nvPr/>
          </p:nvSpPr>
          <p:spPr>
            <a:xfrm flipH="false" flipV="false" rot="0">
              <a:off x="0" y="0"/>
              <a:ext cx="18431935" cy="4927200"/>
            </a:xfrm>
            <a:custGeom>
              <a:avLst/>
              <a:gdLst/>
              <a:ahLst/>
              <a:cxnLst/>
              <a:rect r="r" b="b" t="t" l="l"/>
              <a:pathLst>
                <a:path h="4927200" w="18431935">
                  <a:moveTo>
                    <a:pt x="0" y="0"/>
                  </a:moveTo>
                  <a:lnTo>
                    <a:pt x="18431935" y="0"/>
                  </a:lnTo>
                  <a:lnTo>
                    <a:pt x="18431935" y="4927200"/>
                  </a:lnTo>
                  <a:lnTo>
                    <a:pt x="0" y="4927200"/>
                  </a:lnTo>
                  <a:close/>
                </a:path>
              </a:pathLst>
            </a:custGeom>
            <a:solidFill>
              <a:srgbClr val="000000">
                <a:alpha val="0"/>
              </a:srgbClr>
            </a:solidFill>
          </p:spPr>
        </p:sp>
        <p:sp>
          <p:nvSpPr>
            <p:cNvPr name="TextBox 15" id="15"/>
            <p:cNvSpPr txBox="true"/>
            <p:nvPr/>
          </p:nvSpPr>
          <p:spPr>
            <a:xfrm>
              <a:off x="0" y="-9525"/>
              <a:ext cx="18431936" cy="4936725"/>
            </a:xfrm>
            <a:prstGeom prst="rect">
              <a:avLst/>
            </a:prstGeom>
          </p:spPr>
          <p:txBody>
            <a:bodyPr anchor="b" rtlCol="false" tIns="0" lIns="0" bIns="0" rIns="0"/>
            <a:lstStyle/>
            <a:p>
              <a:pPr algn="ctr">
                <a:lnSpc>
                  <a:spcPts val="3600"/>
                </a:lnSpc>
              </a:pPr>
              <a:r>
                <a:rPr lang="en-US" sz="3000">
                  <a:solidFill>
                    <a:srgbClr val="F5F5F5"/>
                  </a:solidFill>
                  <a:latin typeface="Alata"/>
                  <a:ea typeface="Alata"/>
                  <a:cs typeface="Alata"/>
                  <a:sym typeface="Alata"/>
                </a:rPr>
                <a:t>Giảng viên HD : TH.S PHẠM TRỌNG HUYNH</a:t>
              </a:r>
            </a:p>
            <a:p>
              <a:pPr algn="ctr">
                <a:lnSpc>
                  <a:spcPts val="3600"/>
                </a:lnSpc>
              </a:pPr>
              <a:r>
                <a:rPr lang="en-US" sz="3000">
                  <a:solidFill>
                    <a:srgbClr val="F5F5F5"/>
                  </a:solidFill>
                  <a:latin typeface="Alata"/>
                  <a:ea typeface="Alata"/>
                  <a:cs typeface="Alata"/>
                  <a:sym typeface="Alata"/>
                </a:rPr>
                <a:t>THÀNH VIÊN NHÓM:</a:t>
              </a:r>
            </a:p>
            <a:p>
              <a:pPr algn="ctr">
                <a:lnSpc>
                  <a:spcPts val="3600"/>
                </a:lnSpc>
              </a:pPr>
              <a:r>
                <a:rPr lang="en-US" sz="3000">
                  <a:solidFill>
                    <a:srgbClr val="F5F5F5"/>
                  </a:solidFill>
                  <a:latin typeface="Alata"/>
                  <a:ea typeface="Alata"/>
                  <a:cs typeface="Alata"/>
                  <a:sym typeface="Alata"/>
                </a:rPr>
                <a:t>Nguyễn Hồ Trường Tam_1150080156</a:t>
              </a:r>
            </a:p>
            <a:p>
              <a:pPr algn="ctr">
                <a:lnSpc>
                  <a:spcPts val="3600"/>
                </a:lnSpc>
              </a:pPr>
              <a:r>
                <a:rPr lang="en-US" sz="3000">
                  <a:solidFill>
                    <a:srgbClr val="F5F5F5"/>
                  </a:solidFill>
                  <a:latin typeface="Alata"/>
                  <a:ea typeface="Alata"/>
                  <a:cs typeface="Alata"/>
                  <a:sym typeface="Alata"/>
                </a:rPr>
                <a:t>Đinh Ngọc Minh Khôi_1150080140</a:t>
              </a:r>
            </a:p>
          </p:txBody>
        </p:sp>
      </p:grpSp>
      <p:grpSp>
        <p:nvGrpSpPr>
          <p:cNvPr name="Group 16" id="16"/>
          <p:cNvGrpSpPr/>
          <p:nvPr/>
        </p:nvGrpSpPr>
        <p:grpSpPr>
          <a:xfrm rot="0">
            <a:off x="7754364" y="4530650"/>
            <a:ext cx="2779206" cy="2642853"/>
            <a:chOff x="0" y="0"/>
            <a:chExt cx="3705608" cy="3523805"/>
          </a:xfrm>
        </p:grpSpPr>
        <p:sp>
          <p:nvSpPr>
            <p:cNvPr name="Freeform 17" id="17"/>
            <p:cNvSpPr/>
            <p:nvPr/>
          </p:nvSpPr>
          <p:spPr>
            <a:xfrm flipH="false" flipV="false" rot="0">
              <a:off x="0" y="0"/>
              <a:ext cx="3705606" cy="3523742"/>
            </a:xfrm>
            <a:custGeom>
              <a:avLst/>
              <a:gdLst/>
              <a:ahLst/>
              <a:cxnLst/>
              <a:rect r="r" b="b" t="t" l="l"/>
              <a:pathLst>
                <a:path h="3523742" w="3705606">
                  <a:moveTo>
                    <a:pt x="0" y="0"/>
                  </a:moveTo>
                  <a:lnTo>
                    <a:pt x="3705606" y="0"/>
                  </a:lnTo>
                  <a:lnTo>
                    <a:pt x="3705606" y="3523742"/>
                  </a:lnTo>
                  <a:lnTo>
                    <a:pt x="0" y="3523742"/>
                  </a:lnTo>
                  <a:lnTo>
                    <a:pt x="0" y="0"/>
                  </a:lnTo>
                  <a:close/>
                </a:path>
              </a:pathLst>
            </a:custGeom>
            <a:blipFill>
              <a:blip r:embed="rId7"/>
              <a:stretch>
                <a:fillRect l="0" t="-2579" r="0" b="-2581"/>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1168501">
            <a:off x="16075576" y="7993394"/>
            <a:ext cx="5069650" cy="3342014"/>
            <a:chOff x="0" y="0"/>
            <a:chExt cx="6759533" cy="4456019"/>
          </a:xfrm>
        </p:grpSpPr>
        <p:sp>
          <p:nvSpPr>
            <p:cNvPr name="Freeform 3" id="3"/>
            <p:cNvSpPr/>
            <p:nvPr/>
          </p:nvSpPr>
          <p:spPr>
            <a:xfrm flipH="false" flipV="false" rot="0">
              <a:off x="0" y="0"/>
              <a:ext cx="6759575" cy="4456049"/>
            </a:xfrm>
            <a:custGeom>
              <a:avLst/>
              <a:gdLst/>
              <a:ahLst/>
              <a:cxnLst/>
              <a:rect r="r" b="b" t="t" l="l"/>
              <a:pathLst>
                <a:path h="4456049" w="6759575">
                  <a:moveTo>
                    <a:pt x="0" y="2227961"/>
                  </a:moveTo>
                  <a:cubicBezTo>
                    <a:pt x="0" y="997458"/>
                    <a:pt x="1513205" y="0"/>
                    <a:pt x="3379724" y="0"/>
                  </a:cubicBezTo>
                  <a:cubicBezTo>
                    <a:pt x="5246243" y="0"/>
                    <a:pt x="6759575" y="997458"/>
                    <a:pt x="6759575" y="2227961"/>
                  </a:cubicBezTo>
                  <a:cubicBezTo>
                    <a:pt x="6759575" y="3458464"/>
                    <a:pt x="5246370" y="4456049"/>
                    <a:pt x="3379724" y="4456049"/>
                  </a:cubicBezTo>
                  <a:cubicBezTo>
                    <a:pt x="1513078" y="4456049"/>
                    <a:pt x="0" y="3458464"/>
                    <a:pt x="0" y="2227961"/>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4" id="4"/>
          <p:cNvGrpSpPr/>
          <p:nvPr/>
        </p:nvGrpSpPr>
        <p:grpSpPr>
          <a:xfrm rot="-1168501">
            <a:off x="-2263924" y="3711144"/>
            <a:ext cx="5069650" cy="3342014"/>
            <a:chOff x="0" y="0"/>
            <a:chExt cx="6759533" cy="4456019"/>
          </a:xfrm>
        </p:grpSpPr>
        <p:sp>
          <p:nvSpPr>
            <p:cNvPr name="Freeform 5" id="5"/>
            <p:cNvSpPr/>
            <p:nvPr/>
          </p:nvSpPr>
          <p:spPr>
            <a:xfrm flipH="false" flipV="false" rot="0">
              <a:off x="0" y="0"/>
              <a:ext cx="6759575" cy="4456049"/>
            </a:xfrm>
            <a:custGeom>
              <a:avLst/>
              <a:gdLst/>
              <a:ahLst/>
              <a:cxnLst/>
              <a:rect r="r" b="b" t="t" l="l"/>
              <a:pathLst>
                <a:path h="4456049" w="6759575">
                  <a:moveTo>
                    <a:pt x="0" y="2227961"/>
                  </a:moveTo>
                  <a:cubicBezTo>
                    <a:pt x="0" y="997458"/>
                    <a:pt x="1513205" y="0"/>
                    <a:pt x="3379724" y="0"/>
                  </a:cubicBezTo>
                  <a:cubicBezTo>
                    <a:pt x="5246243" y="0"/>
                    <a:pt x="6759575" y="997458"/>
                    <a:pt x="6759575" y="2227961"/>
                  </a:cubicBezTo>
                  <a:cubicBezTo>
                    <a:pt x="6759575" y="3458464"/>
                    <a:pt x="5246370" y="4456049"/>
                    <a:pt x="3379724" y="4456049"/>
                  </a:cubicBezTo>
                  <a:cubicBezTo>
                    <a:pt x="1513078" y="4456049"/>
                    <a:pt x="0" y="3458464"/>
                    <a:pt x="0" y="2227961"/>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6" id="6"/>
          <p:cNvSpPr/>
          <p:nvPr/>
        </p:nvSpPr>
        <p:spPr>
          <a:xfrm flipH="false" flipV="false" rot="0">
            <a:off x="17805624" y="8420850"/>
            <a:ext cx="245778" cy="717464"/>
          </a:xfrm>
          <a:custGeom>
            <a:avLst/>
            <a:gdLst/>
            <a:ahLst/>
            <a:cxnLst/>
            <a:rect r="r" b="b" t="t" l="l"/>
            <a:pathLst>
              <a:path h="717464" w="245778">
                <a:moveTo>
                  <a:pt x="0" y="0"/>
                </a:moveTo>
                <a:lnTo>
                  <a:pt x="245778" y="0"/>
                </a:lnTo>
                <a:lnTo>
                  <a:pt x="245778" y="717464"/>
                </a:lnTo>
                <a:lnTo>
                  <a:pt x="0" y="7174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90438" y="-2892742"/>
            <a:ext cx="5309134" cy="6587864"/>
          </a:xfrm>
          <a:custGeom>
            <a:avLst/>
            <a:gdLst/>
            <a:ahLst/>
            <a:cxnLst/>
            <a:rect r="r" b="b" t="t" l="l"/>
            <a:pathLst>
              <a:path h="6587864" w="5309134">
                <a:moveTo>
                  <a:pt x="0" y="0"/>
                </a:moveTo>
                <a:lnTo>
                  <a:pt x="5309134" y="0"/>
                </a:lnTo>
                <a:lnTo>
                  <a:pt x="5309134" y="6587864"/>
                </a:lnTo>
                <a:lnTo>
                  <a:pt x="0" y="65878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4322312" y="7300284"/>
            <a:ext cx="5309134" cy="6587864"/>
          </a:xfrm>
          <a:custGeom>
            <a:avLst/>
            <a:gdLst/>
            <a:ahLst/>
            <a:cxnLst/>
            <a:rect r="r" b="b" t="t" l="l"/>
            <a:pathLst>
              <a:path h="6587864" w="5309134">
                <a:moveTo>
                  <a:pt x="0" y="0"/>
                </a:moveTo>
                <a:lnTo>
                  <a:pt x="5309134" y="0"/>
                </a:lnTo>
                <a:lnTo>
                  <a:pt x="5309134" y="6587864"/>
                </a:lnTo>
                <a:lnTo>
                  <a:pt x="0" y="6587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5484852" y="391665"/>
            <a:ext cx="7318296" cy="923925"/>
          </a:xfrm>
          <a:prstGeom prst="rect">
            <a:avLst/>
          </a:prstGeom>
        </p:spPr>
        <p:txBody>
          <a:bodyPr anchor="t" rtlCol="false" tIns="0" lIns="0" bIns="0" rIns="0">
            <a:spAutoFit/>
          </a:bodyPr>
          <a:lstStyle/>
          <a:p>
            <a:pPr algn="ctr">
              <a:lnSpc>
                <a:spcPts val="7200"/>
              </a:lnSpc>
            </a:pPr>
            <a:r>
              <a:rPr lang="en-US" sz="6000">
                <a:solidFill>
                  <a:srgbClr val="F5F5F5"/>
                </a:solidFill>
                <a:latin typeface="Alata"/>
                <a:ea typeface="Alata"/>
                <a:cs typeface="Alata"/>
                <a:sym typeface="Alata"/>
              </a:rPr>
              <a:t>Nội dung thuyết trình</a:t>
            </a:r>
          </a:p>
        </p:txBody>
      </p:sp>
      <p:sp>
        <p:nvSpPr>
          <p:cNvPr name="TextBox 10" id="10"/>
          <p:cNvSpPr txBox="true"/>
          <p:nvPr/>
        </p:nvSpPr>
        <p:spPr>
          <a:xfrm rot="0">
            <a:off x="3224771" y="3330375"/>
            <a:ext cx="4074150" cy="1139550"/>
          </a:xfrm>
          <a:prstGeom prst="rect">
            <a:avLst/>
          </a:prstGeom>
        </p:spPr>
        <p:txBody>
          <a:bodyPr anchor="t" rtlCol="false" tIns="0" lIns="0" bIns="0" rIns="0">
            <a:spAutoFit/>
          </a:bodyPr>
          <a:lstStyle/>
          <a:p>
            <a:pPr algn="ctr">
              <a:lnSpc>
                <a:spcPts val="4320"/>
              </a:lnSpc>
            </a:pPr>
            <a:r>
              <a:rPr lang="en-US" sz="3600">
                <a:solidFill>
                  <a:srgbClr val="F5F5F5"/>
                </a:solidFill>
                <a:latin typeface="Alata"/>
                <a:ea typeface="Alata"/>
                <a:cs typeface="Alata"/>
                <a:sym typeface="Alata"/>
              </a:rPr>
              <a:t>INTRODUCTION</a:t>
            </a:r>
          </a:p>
        </p:txBody>
      </p:sp>
      <p:sp>
        <p:nvSpPr>
          <p:cNvPr name="TextBox 11" id="11"/>
          <p:cNvSpPr txBox="true"/>
          <p:nvPr/>
        </p:nvSpPr>
        <p:spPr>
          <a:xfrm rot="0">
            <a:off x="11091863" y="3330375"/>
            <a:ext cx="4074150" cy="1139550"/>
          </a:xfrm>
          <a:prstGeom prst="rect">
            <a:avLst/>
          </a:prstGeom>
        </p:spPr>
        <p:txBody>
          <a:bodyPr anchor="t" rtlCol="false" tIns="0" lIns="0" bIns="0" rIns="0">
            <a:spAutoFit/>
          </a:bodyPr>
          <a:lstStyle/>
          <a:p>
            <a:pPr algn="ctr">
              <a:lnSpc>
                <a:spcPts val="4320"/>
              </a:lnSpc>
            </a:pPr>
            <a:r>
              <a:rPr lang="en-US" sz="3600">
                <a:solidFill>
                  <a:srgbClr val="F5F5F5"/>
                </a:solidFill>
                <a:latin typeface="Alata"/>
                <a:ea typeface="Alata"/>
                <a:cs typeface="Alata"/>
                <a:sym typeface="Alata"/>
              </a:rPr>
              <a:t>DIAGRAMS</a:t>
            </a:r>
          </a:p>
        </p:txBody>
      </p:sp>
      <p:sp>
        <p:nvSpPr>
          <p:cNvPr name="TextBox 12" id="12"/>
          <p:cNvSpPr txBox="true"/>
          <p:nvPr/>
        </p:nvSpPr>
        <p:spPr>
          <a:xfrm rot="0">
            <a:off x="3224771" y="7085939"/>
            <a:ext cx="4074150" cy="1139550"/>
          </a:xfrm>
          <a:prstGeom prst="rect">
            <a:avLst/>
          </a:prstGeom>
        </p:spPr>
        <p:txBody>
          <a:bodyPr anchor="t" rtlCol="false" tIns="0" lIns="0" bIns="0" rIns="0">
            <a:spAutoFit/>
          </a:bodyPr>
          <a:lstStyle/>
          <a:p>
            <a:pPr algn="ctr">
              <a:lnSpc>
                <a:spcPts val="4320"/>
              </a:lnSpc>
            </a:pPr>
            <a:r>
              <a:rPr lang="en-US" sz="3600">
                <a:solidFill>
                  <a:srgbClr val="F5F5F5"/>
                </a:solidFill>
                <a:latin typeface="Alata"/>
                <a:ea typeface="Alata"/>
                <a:cs typeface="Alata"/>
                <a:sym typeface="Alata"/>
              </a:rPr>
              <a:t>FEATURES</a:t>
            </a:r>
          </a:p>
        </p:txBody>
      </p:sp>
      <p:sp>
        <p:nvSpPr>
          <p:cNvPr name="TextBox 13" id="13"/>
          <p:cNvSpPr txBox="true"/>
          <p:nvPr/>
        </p:nvSpPr>
        <p:spPr>
          <a:xfrm rot="0">
            <a:off x="11091863" y="7085939"/>
            <a:ext cx="4074150" cy="1139550"/>
          </a:xfrm>
          <a:prstGeom prst="rect">
            <a:avLst/>
          </a:prstGeom>
        </p:spPr>
        <p:txBody>
          <a:bodyPr anchor="t" rtlCol="false" tIns="0" lIns="0" bIns="0" rIns="0">
            <a:spAutoFit/>
          </a:bodyPr>
          <a:lstStyle/>
          <a:p>
            <a:pPr algn="ctr">
              <a:lnSpc>
                <a:spcPts val="4320"/>
              </a:lnSpc>
            </a:pPr>
            <a:r>
              <a:rPr lang="en-US" sz="3600">
                <a:solidFill>
                  <a:srgbClr val="F5F5F5"/>
                </a:solidFill>
                <a:latin typeface="Alata"/>
                <a:ea typeface="Alata"/>
                <a:cs typeface="Alata"/>
                <a:sym typeface="Alata"/>
              </a:rPr>
              <a:t>DEMO</a:t>
            </a:r>
          </a:p>
        </p:txBody>
      </p:sp>
      <p:grpSp>
        <p:nvGrpSpPr>
          <p:cNvPr name="Group 14" id="14"/>
          <p:cNvGrpSpPr/>
          <p:nvPr/>
        </p:nvGrpSpPr>
        <p:grpSpPr>
          <a:xfrm rot="0">
            <a:off x="8409300" y="4265610"/>
            <a:ext cx="1469400" cy="1485900"/>
            <a:chOff x="0" y="0"/>
            <a:chExt cx="1959200" cy="1981200"/>
          </a:xfrm>
        </p:grpSpPr>
        <p:sp>
          <p:nvSpPr>
            <p:cNvPr name="Freeform 15" id="15"/>
            <p:cNvSpPr/>
            <p:nvPr/>
          </p:nvSpPr>
          <p:spPr>
            <a:xfrm flipH="false" flipV="false" rot="0">
              <a:off x="0" y="0"/>
              <a:ext cx="1959229" cy="1981203"/>
            </a:xfrm>
            <a:custGeom>
              <a:avLst/>
              <a:gdLst/>
              <a:ahLst/>
              <a:cxnLst/>
              <a:rect r="r" b="b" t="t" l="l"/>
              <a:pathLst>
                <a:path h="1981203" w="1959229">
                  <a:moveTo>
                    <a:pt x="0" y="0"/>
                  </a:moveTo>
                  <a:lnTo>
                    <a:pt x="1959229" y="0"/>
                  </a:lnTo>
                  <a:lnTo>
                    <a:pt x="1959229" y="1981203"/>
                  </a:lnTo>
                  <a:lnTo>
                    <a:pt x="0" y="1981203"/>
                  </a:lnTo>
                  <a:close/>
                </a:path>
              </a:pathLst>
            </a:custGeom>
            <a:solidFill>
              <a:srgbClr val="5FFFF1"/>
            </a:solidFill>
            <a:ln w="12700">
              <a:solidFill>
                <a:srgbClr val="000000"/>
              </a:solidFill>
            </a:ln>
          </p:spPr>
        </p:sp>
        <p:sp>
          <p:nvSpPr>
            <p:cNvPr name="TextBox 16" id="16"/>
            <p:cNvSpPr txBox="true"/>
            <p:nvPr/>
          </p:nvSpPr>
          <p:spPr>
            <a:xfrm>
              <a:off x="0" y="-9525"/>
              <a:ext cx="1959200" cy="1990725"/>
            </a:xfrm>
            <a:prstGeom prst="rect">
              <a:avLst/>
            </a:prstGeom>
          </p:spPr>
          <p:txBody>
            <a:bodyPr anchor="ctr" rtlCol="false" tIns="50800" lIns="50800" bIns="50800" rIns="50800"/>
            <a:lstStyle/>
            <a:p>
              <a:pPr algn="ctr">
                <a:lnSpc>
                  <a:spcPts val="7200"/>
                </a:lnSpc>
              </a:pPr>
              <a:r>
                <a:rPr lang="en-US" sz="6000">
                  <a:solidFill>
                    <a:srgbClr val="091915"/>
                  </a:solidFill>
                  <a:latin typeface="Alata"/>
                  <a:ea typeface="Alata"/>
                  <a:cs typeface="Alata"/>
                  <a:sym typeface="Alata"/>
                </a:rPr>
                <a:t>05</a:t>
              </a:r>
            </a:p>
          </p:txBody>
        </p:sp>
      </p:grpSp>
      <p:sp>
        <p:nvSpPr>
          <p:cNvPr name="TextBox 17" id="17"/>
          <p:cNvSpPr txBox="true"/>
          <p:nvPr/>
        </p:nvSpPr>
        <p:spPr>
          <a:xfrm rot="0">
            <a:off x="7106925" y="5817077"/>
            <a:ext cx="4074150" cy="1139550"/>
          </a:xfrm>
          <a:prstGeom prst="rect">
            <a:avLst/>
          </a:prstGeom>
        </p:spPr>
        <p:txBody>
          <a:bodyPr anchor="t" rtlCol="false" tIns="0" lIns="0" bIns="0" rIns="0">
            <a:spAutoFit/>
          </a:bodyPr>
          <a:lstStyle/>
          <a:p>
            <a:pPr algn="ctr">
              <a:lnSpc>
                <a:spcPts val="4320"/>
              </a:lnSpc>
            </a:pPr>
            <a:r>
              <a:rPr lang="en-US" sz="3600">
                <a:solidFill>
                  <a:srgbClr val="F5F5F5"/>
                </a:solidFill>
                <a:latin typeface="Alata"/>
                <a:ea typeface="Alata"/>
                <a:cs typeface="Alata"/>
                <a:sym typeface="Alata"/>
              </a:rPr>
              <a:t>CONCLUSION</a:t>
            </a:r>
          </a:p>
        </p:txBody>
      </p:sp>
      <p:grpSp>
        <p:nvGrpSpPr>
          <p:cNvPr name="Group 18" id="18"/>
          <p:cNvGrpSpPr/>
          <p:nvPr/>
        </p:nvGrpSpPr>
        <p:grpSpPr>
          <a:xfrm rot="0">
            <a:off x="4390988" y="1669599"/>
            <a:ext cx="1469400" cy="1485900"/>
            <a:chOff x="0" y="0"/>
            <a:chExt cx="1959200" cy="1981200"/>
          </a:xfrm>
        </p:grpSpPr>
        <p:sp>
          <p:nvSpPr>
            <p:cNvPr name="Freeform 19" id="19"/>
            <p:cNvSpPr/>
            <p:nvPr/>
          </p:nvSpPr>
          <p:spPr>
            <a:xfrm flipH="false" flipV="false" rot="0">
              <a:off x="0" y="0"/>
              <a:ext cx="1959229" cy="1981203"/>
            </a:xfrm>
            <a:custGeom>
              <a:avLst/>
              <a:gdLst/>
              <a:ahLst/>
              <a:cxnLst/>
              <a:rect r="r" b="b" t="t" l="l"/>
              <a:pathLst>
                <a:path h="1981203" w="1959229">
                  <a:moveTo>
                    <a:pt x="0" y="0"/>
                  </a:moveTo>
                  <a:lnTo>
                    <a:pt x="1959229" y="0"/>
                  </a:lnTo>
                  <a:lnTo>
                    <a:pt x="1959229" y="1981203"/>
                  </a:lnTo>
                  <a:lnTo>
                    <a:pt x="0" y="1981203"/>
                  </a:lnTo>
                  <a:close/>
                </a:path>
              </a:pathLst>
            </a:custGeom>
            <a:solidFill>
              <a:srgbClr val="5FFFF1"/>
            </a:solidFill>
            <a:ln w="12700">
              <a:solidFill>
                <a:srgbClr val="000000"/>
              </a:solidFill>
            </a:ln>
          </p:spPr>
        </p:sp>
        <p:sp>
          <p:nvSpPr>
            <p:cNvPr name="TextBox 20" id="20"/>
            <p:cNvSpPr txBox="true"/>
            <p:nvPr/>
          </p:nvSpPr>
          <p:spPr>
            <a:xfrm>
              <a:off x="0" y="-9525"/>
              <a:ext cx="1959200" cy="1990725"/>
            </a:xfrm>
            <a:prstGeom prst="rect">
              <a:avLst/>
            </a:prstGeom>
          </p:spPr>
          <p:txBody>
            <a:bodyPr anchor="ctr" rtlCol="false" tIns="50800" lIns="50800" bIns="50800" rIns="50800"/>
            <a:lstStyle/>
            <a:p>
              <a:pPr algn="ctr">
                <a:lnSpc>
                  <a:spcPts val="7200"/>
                </a:lnSpc>
              </a:pPr>
              <a:r>
                <a:rPr lang="en-US" sz="6000">
                  <a:solidFill>
                    <a:srgbClr val="091915"/>
                  </a:solidFill>
                  <a:latin typeface="Alata"/>
                  <a:ea typeface="Alata"/>
                  <a:cs typeface="Alata"/>
                  <a:sym typeface="Alata"/>
                </a:rPr>
                <a:t>01</a:t>
              </a:r>
            </a:p>
          </p:txBody>
        </p:sp>
      </p:grpSp>
      <p:grpSp>
        <p:nvGrpSpPr>
          <p:cNvPr name="Group 21" id="21"/>
          <p:cNvGrpSpPr/>
          <p:nvPr/>
        </p:nvGrpSpPr>
        <p:grpSpPr>
          <a:xfrm rot="0">
            <a:off x="12394238" y="1669599"/>
            <a:ext cx="1469400" cy="1485900"/>
            <a:chOff x="0" y="0"/>
            <a:chExt cx="1959200" cy="1981200"/>
          </a:xfrm>
        </p:grpSpPr>
        <p:sp>
          <p:nvSpPr>
            <p:cNvPr name="Freeform 22" id="22"/>
            <p:cNvSpPr/>
            <p:nvPr/>
          </p:nvSpPr>
          <p:spPr>
            <a:xfrm flipH="false" flipV="false" rot="0">
              <a:off x="0" y="0"/>
              <a:ext cx="1959229" cy="1981203"/>
            </a:xfrm>
            <a:custGeom>
              <a:avLst/>
              <a:gdLst/>
              <a:ahLst/>
              <a:cxnLst/>
              <a:rect r="r" b="b" t="t" l="l"/>
              <a:pathLst>
                <a:path h="1981203" w="1959229">
                  <a:moveTo>
                    <a:pt x="0" y="0"/>
                  </a:moveTo>
                  <a:lnTo>
                    <a:pt x="1959229" y="0"/>
                  </a:lnTo>
                  <a:lnTo>
                    <a:pt x="1959229" y="1981203"/>
                  </a:lnTo>
                  <a:lnTo>
                    <a:pt x="0" y="1981203"/>
                  </a:lnTo>
                  <a:close/>
                </a:path>
              </a:pathLst>
            </a:custGeom>
            <a:solidFill>
              <a:srgbClr val="5FFFF1"/>
            </a:solidFill>
            <a:ln w="12700">
              <a:solidFill>
                <a:srgbClr val="000000"/>
              </a:solidFill>
            </a:ln>
          </p:spPr>
        </p:sp>
        <p:sp>
          <p:nvSpPr>
            <p:cNvPr name="TextBox 23" id="23"/>
            <p:cNvSpPr txBox="true"/>
            <p:nvPr/>
          </p:nvSpPr>
          <p:spPr>
            <a:xfrm>
              <a:off x="0" y="-9525"/>
              <a:ext cx="1959200" cy="1990725"/>
            </a:xfrm>
            <a:prstGeom prst="rect">
              <a:avLst/>
            </a:prstGeom>
          </p:spPr>
          <p:txBody>
            <a:bodyPr anchor="ctr" rtlCol="false" tIns="50800" lIns="50800" bIns="50800" rIns="50800"/>
            <a:lstStyle/>
            <a:p>
              <a:pPr algn="ctr">
                <a:lnSpc>
                  <a:spcPts val="7200"/>
                </a:lnSpc>
              </a:pPr>
              <a:r>
                <a:rPr lang="en-US" sz="6000">
                  <a:solidFill>
                    <a:srgbClr val="091915"/>
                  </a:solidFill>
                  <a:latin typeface="Alata"/>
                  <a:ea typeface="Alata"/>
                  <a:cs typeface="Alata"/>
                  <a:sym typeface="Alata"/>
                </a:rPr>
                <a:t>02</a:t>
              </a:r>
            </a:p>
          </p:txBody>
        </p:sp>
      </p:grpSp>
      <p:grpSp>
        <p:nvGrpSpPr>
          <p:cNvPr name="Group 24" id="24"/>
          <p:cNvGrpSpPr/>
          <p:nvPr/>
        </p:nvGrpSpPr>
        <p:grpSpPr>
          <a:xfrm rot="0">
            <a:off x="4390988" y="5470727"/>
            <a:ext cx="1469400" cy="1485900"/>
            <a:chOff x="0" y="0"/>
            <a:chExt cx="1959200" cy="1981200"/>
          </a:xfrm>
        </p:grpSpPr>
        <p:sp>
          <p:nvSpPr>
            <p:cNvPr name="Freeform 25" id="25"/>
            <p:cNvSpPr/>
            <p:nvPr/>
          </p:nvSpPr>
          <p:spPr>
            <a:xfrm flipH="false" flipV="false" rot="0">
              <a:off x="0" y="0"/>
              <a:ext cx="1959229" cy="1981203"/>
            </a:xfrm>
            <a:custGeom>
              <a:avLst/>
              <a:gdLst/>
              <a:ahLst/>
              <a:cxnLst/>
              <a:rect r="r" b="b" t="t" l="l"/>
              <a:pathLst>
                <a:path h="1981203" w="1959229">
                  <a:moveTo>
                    <a:pt x="0" y="0"/>
                  </a:moveTo>
                  <a:lnTo>
                    <a:pt x="1959229" y="0"/>
                  </a:lnTo>
                  <a:lnTo>
                    <a:pt x="1959229" y="1981203"/>
                  </a:lnTo>
                  <a:lnTo>
                    <a:pt x="0" y="1981203"/>
                  </a:lnTo>
                  <a:close/>
                </a:path>
              </a:pathLst>
            </a:custGeom>
            <a:solidFill>
              <a:srgbClr val="5FFFF1"/>
            </a:solidFill>
            <a:ln w="12700">
              <a:solidFill>
                <a:srgbClr val="000000"/>
              </a:solidFill>
            </a:ln>
          </p:spPr>
        </p:sp>
        <p:sp>
          <p:nvSpPr>
            <p:cNvPr name="TextBox 26" id="26"/>
            <p:cNvSpPr txBox="true"/>
            <p:nvPr/>
          </p:nvSpPr>
          <p:spPr>
            <a:xfrm>
              <a:off x="0" y="-9525"/>
              <a:ext cx="1959200" cy="1990725"/>
            </a:xfrm>
            <a:prstGeom prst="rect">
              <a:avLst/>
            </a:prstGeom>
          </p:spPr>
          <p:txBody>
            <a:bodyPr anchor="ctr" rtlCol="false" tIns="50800" lIns="50800" bIns="50800" rIns="50800"/>
            <a:lstStyle/>
            <a:p>
              <a:pPr algn="ctr">
                <a:lnSpc>
                  <a:spcPts val="7200"/>
                </a:lnSpc>
              </a:pPr>
              <a:r>
                <a:rPr lang="en-US" sz="6000">
                  <a:solidFill>
                    <a:srgbClr val="091915"/>
                  </a:solidFill>
                  <a:latin typeface="Alata"/>
                  <a:ea typeface="Alata"/>
                  <a:cs typeface="Alata"/>
                  <a:sym typeface="Alata"/>
                </a:rPr>
                <a:t>03</a:t>
              </a:r>
            </a:p>
          </p:txBody>
        </p:sp>
      </p:grpSp>
      <p:grpSp>
        <p:nvGrpSpPr>
          <p:cNvPr name="Group 27" id="27"/>
          <p:cNvGrpSpPr/>
          <p:nvPr/>
        </p:nvGrpSpPr>
        <p:grpSpPr>
          <a:xfrm rot="0">
            <a:off x="12352650" y="5350410"/>
            <a:ext cx="1469400" cy="1485900"/>
            <a:chOff x="0" y="0"/>
            <a:chExt cx="1959200" cy="1981200"/>
          </a:xfrm>
        </p:grpSpPr>
        <p:sp>
          <p:nvSpPr>
            <p:cNvPr name="Freeform 28" id="28"/>
            <p:cNvSpPr/>
            <p:nvPr/>
          </p:nvSpPr>
          <p:spPr>
            <a:xfrm flipH="false" flipV="false" rot="0">
              <a:off x="0" y="0"/>
              <a:ext cx="1959229" cy="1981203"/>
            </a:xfrm>
            <a:custGeom>
              <a:avLst/>
              <a:gdLst/>
              <a:ahLst/>
              <a:cxnLst/>
              <a:rect r="r" b="b" t="t" l="l"/>
              <a:pathLst>
                <a:path h="1981203" w="1959229">
                  <a:moveTo>
                    <a:pt x="0" y="0"/>
                  </a:moveTo>
                  <a:lnTo>
                    <a:pt x="1959229" y="0"/>
                  </a:lnTo>
                  <a:lnTo>
                    <a:pt x="1959229" y="1981203"/>
                  </a:lnTo>
                  <a:lnTo>
                    <a:pt x="0" y="1981203"/>
                  </a:lnTo>
                  <a:close/>
                </a:path>
              </a:pathLst>
            </a:custGeom>
            <a:solidFill>
              <a:srgbClr val="5FFFF1"/>
            </a:solidFill>
            <a:ln w="12700">
              <a:solidFill>
                <a:srgbClr val="000000"/>
              </a:solidFill>
            </a:ln>
          </p:spPr>
        </p:sp>
        <p:sp>
          <p:nvSpPr>
            <p:cNvPr name="TextBox 29" id="29"/>
            <p:cNvSpPr txBox="true"/>
            <p:nvPr/>
          </p:nvSpPr>
          <p:spPr>
            <a:xfrm>
              <a:off x="0" y="-9525"/>
              <a:ext cx="1959200" cy="1990725"/>
            </a:xfrm>
            <a:prstGeom prst="rect">
              <a:avLst/>
            </a:prstGeom>
          </p:spPr>
          <p:txBody>
            <a:bodyPr anchor="ctr" rtlCol="false" tIns="50800" lIns="50800" bIns="50800" rIns="50800"/>
            <a:lstStyle/>
            <a:p>
              <a:pPr algn="ctr">
                <a:lnSpc>
                  <a:spcPts val="7200"/>
                </a:lnSpc>
              </a:pPr>
              <a:r>
                <a:rPr lang="en-US" sz="6000">
                  <a:solidFill>
                    <a:srgbClr val="091915"/>
                  </a:solidFill>
                  <a:latin typeface="Alata"/>
                  <a:ea typeface="Alata"/>
                  <a:cs typeface="Alata"/>
                  <a:sym typeface="Alata"/>
                </a:rPr>
                <a:t>04</a:t>
              </a: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3740100" y="7165650"/>
            <a:ext cx="10807800" cy="10807800"/>
            <a:chOff x="0" y="0"/>
            <a:chExt cx="14410400" cy="14410400"/>
          </a:xfrm>
        </p:grpSpPr>
        <p:sp>
          <p:nvSpPr>
            <p:cNvPr name="Freeform 3" id="3"/>
            <p:cNvSpPr/>
            <p:nvPr/>
          </p:nvSpPr>
          <p:spPr>
            <a:xfrm flipH="false" flipV="false" rot="0">
              <a:off x="0" y="0"/>
              <a:ext cx="14410437" cy="14410437"/>
            </a:xfrm>
            <a:custGeom>
              <a:avLst/>
              <a:gdLst/>
              <a:ahLst/>
              <a:cxnLst/>
              <a:rect r="r" b="b" t="t" l="l"/>
              <a:pathLst>
                <a:path h="14410437" w="14410437">
                  <a:moveTo>
                    <a:pt x="0" y="7205218"/>
                  </a:moveTo>
                  <a:cubicBezTo>
                    <a:pt x="0" y="3225927"/>
                    <a:pt x="3225927" y="0"/>
                    <a:pt x="7205218" y="0"/>
                  </a:cubicBezTo>
                  <a:cubicBezTo>
                    <a:pt x="11184510" y="0"/>
                    <a:pt x="14410437" y="3225927"/>
                    <a:pt x="14410437" y="7205218"/>
                  </a:cubicBezTo>
                  <a:cubicBezTo>
                    <a:pt x="14410437" y="11184510"/>
                    <a:pt x="11184510" y="14410437"/>
                    <a:pt x="7205218" y="14410437"/>
                  </a:cubicBezTo>
                  <a:cubicBezTo>
                    <a:pt x="3225927" y="14410437"/>
                    <a:pt x="0" y="11184509"/>
                    <a:pt x="0" y="7205218"/>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4" id="4"/>
          <p:cNvSpPr/>
          <p:nvPr/>
        </p:nvSpPr>
        <p:spPr>
          <a:xfrm flipH="false" flipV="false" rot="0">
            <a:off x="8796646" y="-2935366"/>
            <a:ext cx="5566410" cy="4065692"/>
          </a:xfrm>
          <a:custGeom>
            <a:avLst/>
            <a:gdLst/>
            <a:ahLst/>
            <a:cxnLst/>
            <a:rect r="r" b="b" t="t" l="l"/>
            <a:pathLst>
              <a:path h="4065692" w="5566410">
                <a:moveTo>
                  <a:pt x="0" y="0"/>
                </a:moveTo>
                <a:lnTo>
                  <a:pt x="5566410" y="0"/>
                </a:lnTo>
                <a:lnTo>
                  <a:pt x="5566410" y="4065692"/>
                </a:lnTo>
                <a:lnTo>
                  <a:pt x="0" y="40656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6409466" y="631610"/>
            <a:ext cx="5469069" cy="5469069"/>
            <a:chOff x="0" y="0"/>
            <a:chExt cx="6028800" cy="6028800"/>
          </a:xfrm>
        </p:grpSpPr>
        <p:sp>
          <p:nvSpPr>
            <p:cNvPr name="Freeform 6" id="6"/>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7" id="7"/>
          <p:cNvSpPr txBox="true"/>
          <p:nvPr/>
        </p:nvSpPr>
        <p:spPr>
          <a:xfrm rot="0">
            <a:off x="4458524" y="5098645"/>
            <a:ext cx="9371052" cy="1514475"/>
          </a:xfrm>
          <a:prstGeom prst="rect">
            <a:avLst/>
          </a:prstGeom>
        </p:spPr>
        <p:txBody>
          <a:bodyPr anchor="t" rtlCol="false" tIns="0" lIns="0" bIns="0" rIns="0">
            <a:spAutoFit/>
          </a:bodyPr>
          <a:lstStyle/>
          <a:p>
            <a:pPr algn="ctr">
              <a:lnSpc>
                <a:spcPts val="11999"/>
              </a:lnSpc>
            </a:pPr>
            <a:r>
              <a:rPr lang="en-US" sz="9999">
                <a:solidFill>
                  <a:srgbClr val="F5F5F5"/>
                </a:solidFill>
                <a:latin typeface="Alata"/>
                <a:ea typeface="Alata"/>
                <a:cs typeface="Alata"/>
                <a:sym typeface="Alata"/>
              </a:rPr>
              <a:t>INTRODUCTION</a:t>
            </a:r>
          </a:p>
        </p:txBody>
      </p:sp>
      <p:sp>
        <p:nvSpPr>
          <p:cNvPr name="Freeform 8" id="8"/>
          <p:cNvSpPr/>
          <p:nvPr/>
        </p:nvSpPr>
        <p:spPr>
          <a:xfrm flipH="false" flipV="false" rot="0">
            <a:off x="3808198" y="-3058868"/>
            <a:ext cx="5675680" cy="7103626"/>
          </a:xfrm>
          <a:custGeom>
            <a:avLst/>
            <a:gdLst/>
            <a:ahLst/>
            <a:cxnLst/>
            <a:rect r="r" b="b" t="t" l="l"/>
            <a:pathLst>
              <a:path h="7103626" w="5675680">
                <a:moveTo>
                  <a:pt x="0" y="0"/>
                </a:moveTo>
                <a:lnTo>
                  <a:pt x="5675680" y="0"/>
                </a:lnTo>
                <a:lnTo>
                  <a:pt x="5675680" y="7103626"/>
                </a:lnTo>
                <a:lnTo>
                  <a:pt x="0" y="71036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5409300" y="6948126"/>
            <a:ext cx="7469400" cy="66600"/>
            <a:chOff x="0" y="0"/>
            <a:chExt cx="9959200" cy="88800"/>
          </a:xfrm>
        </p:grpSpPr>
        <p:sp>
          <p:nvSpPr>
            <p:cNvPr name="Freeform 10" id="10"/>
            <p:cNvSpPr/>
            <p:nvPr/>
          </p:nvSpPr>
          <p:spPr>
            <a:xfrm flipH="false" flipV="false" rot="0">
              <a:off x="0" y="0"/>
              <a:ext cx="9959213" cy="88773"/>
            </a:xfrm>
            <a:custGeom>
              <a:avLst/>
              <a:gdLst/>
              <a:ahLst/>
              <a:cxnLst/>
              <a:rect r="r" b="b" t="t" l="l"/>
              <a:pathLst>
                <a:path h="88773" w="9959213">
                  <a:moveTo>
                    <a:pt x="0" y="0"/>
                  </a:moveTo>
                  <a:lnTo>
                    <a:pt x="9959213" y="0"/>
                  </a:lnTo>
                  <a:lnTo>
                    <a:pt x="9959213" y="88773"/>
                  </a:lnTo>
                  <a:lnTo>
                    <a:pt x="0" y="88773"/>
                  </a:lnTo>
                  <a:close/>
                </a:path>
              </a:pathLst>
            </a:custGeom>
            <a:gradFill rotWithShape="true">
              <a:gsLst>
                <a:gs pos="0">
                  <a:srgbClr val="49E1BB">
                    <a:alpha val="100000"/>
                  </a:srgbClr>
                </a:gs>
                <a:gs pos="100000">
                  <a:srgbClr val="1E8A6F">
                    <a:alpha val="100000"/>
                  </a:srgbClr>
                </a:gs>
              </a:gsLst>
              <a:path path="circle">
                <a:fillToRect l="50000" r="50000" t="50000" b="50000"/>
              </a:path>
            </a:gradFill>
          </p:spPr>
        </p:sp>
      </p:grpSp>
      <p:sp>
        <p:nvSpPr>
          <p:cNvPr name="Freeform 11" id="11"/>
          <p:cNvSpPr/>
          <p:nvPr/>
        </p:nvSpPr>
        <p:spPr>
          <a:xfrm flipH="false" flipV="false" rot="0">
            <a:off x="3954668" y="7522914"/>
            <a:ext cx="10013198" cy="5094416"/>
          </a:xfrm>
          <a:custGeom>
            <a:avLst/>
            <a:gdLst/>
            <a:ahLst/>
            <a:cxnLst/>
            <a:rect r="r" b="b" t="t" l="l"/>
            <a:pathLst>
              <a:path h="5094416" w="10013198">
                <a:moveTo>
                  <a:pt x="0" y="0"/>
                </a:moveTo>
                <a:lnTo>
                  <a:pt x="10013198" y="0"/>
                </a:lnTo>
                <a:lnTo>
                  <a:pt x="10013198" y="5094416"/>
                </a:lnTo>
                <a:lnTo>
                  <a:pt x="0" y="50944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7492792" y="1786045"/>
            <a:ext cx="3125108" cy="3160200"/>
            <a:chOff x="0" y="0"/>
            <a:chExt cx="1959200" cy="1981200"/>
          </a:xfrm>
        </p:grpSpPr>
        <p:sp>
          <p:nvSpPr>
            <p:cNvPr name="Freeform 13" id="13"/>
            <p:cNvSpPr/>
            <p:nvPr/>
          </p:nvSpPr>
          <p:spPr>
            <a:xfrm flipH="false" flipV="false" rot="0">
              <a:off x="0" y="0"/>
              <a:ext cx="1959229" cy="1981203"/>
            </a:xfrm>
            <a:custGeom>
              <a:avLst/>
              <a:gdLst/>
              <a:ahLst/>
              <a:cxnLst/>
              <a:rect r="r" b="b" t="t" l="l"/>
              <a:pathLst>
                <a:path h="1981203" w="1959229">
                  <a:moveTo>
                    <a:pt x="0" y="0"/>
                  </a:moveTo>
                  <a:lnTo>
                    <a:pt x="1959229" y="0"/>
                  </a:lnTo>
                  <a:lnTo>
                    <a:pt x="1959229" y="1981203"/>
                  </a:lnTo>
                  <a:lnTo>
                    <a:pt x="0" y="1981203"/>
                  </a:lnTo>
                  <a:close/>
                </a:path>
              </a:pathLst>
            </a:custGeom>
            <a:solidFill>
              <a:srgbClr val="5FFFF1"/>
            </a:solidFill>
            <a:ln w="12700">
              <a:solidFill>
                <a:srgbClr val="000000"/>
              </a:solidFill>
            </a:ln>
          </p:spPr>
        </p:sp>
        <p:sp>
          <p:nvSpPr>
            <p:cNvPr name="TextBox 14" id="14"/>
            <p:cNvSpPr txBox="true"/>
            <p:nvPr/>
          </p:nvSpPr>
          <p:spPr>
            <a:xfrm>
              <a:off x="0" y="-9525"/>
              <a:ext cx="1959200" cy="1990725"/>
            </a:xfrm>
            <a:prstGeom prst="rect">
              <a:avLst/>
            </a:prstGeom>
          </p:spPr>
          <p:txBody>
            <a:bodyPr anchor="ctr" rtlCol="false" tIns="50800" lIns="50800" bIns="50800" rIns="50800"/>
            <a:lstStyle/>
            <a:p>
              <a:pPr algn="ctr">
                <a:lnSpc>
                  <a:spcPts val="14400"/>
                </a:lnSpc>
              </a:pPr>
              <a:r>
                <a:rPr lang="en-US" sz="12000">
                  <a:solidFill>
                    <a:srgbClr val="091915"/>
                  </a:solidFill>
                  <a:latin typeface="Alata"/>
                  <a:ea typeface="Alata"/>
                  <a:cs typeface="Alata"/>
                  <a:sym typeface="Alata"/>
                </a:rPr>
                <a:t>01</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7397700" y="-260400"/>
            <a:ext cx="10807800" cy="10807800"/>
            <a:chOff x="0" y="0"/>
            <a:chExt cx="14410400" cy="14410400"/>
          </a:xfrm>
        </p:grpSpPr>
        <p:sp>
          <p:nvSpPr>
            <p:cNvPr name="Freeform 3" id="3"/>
            <p:cNvSpPr/>
            <p:nvPr/>
          </p:nvSpPr>
          <p:spPr>
            <a:xfrm flipH="false" flipV="false" rot="0">
              <a:off x="0" y="0"/>
              <a:ext cx="14410437" cy="14410437"/>
            </a:xfrm>
            <a:custGeom>
              <a:avLst/>
              <a:gdLst/>
              <a:ahLst/>
              <a:cxnLst/>
              <a:rect r="r" b="b" t="t" l="l"/>
              <a:pathLst>
                <a:path h="14410437" w="14410437">
                  <a:moveTo>
                    <a:pt x="0" y="7205218"/>
                  </a:moveTo>
                  <a:cubicBezTo>
                    <a:pt x="0" y="3225927"/>
                    <a:pt x="3225927" y="0"/>
                    <a:pt x="7205218" y="0"/>
                  </a:cubicBezTo>
                  <a:cubicBezTo>
                    <a:pt x="11184510" y="0"/>
                    <a:pt x="14410437" y="3225927"/>
                    <a:pt x="14410437" y="7205218"/>
                  </a:cubicBezTo>
                  <a:cubicBezTo>
                    <a:pt x="14410437" y="11184510"/>
                    <a:pt x="11184510" y="14410437"/>
                    <a:pt x="7205218" y="14410437"/>
                  </a:cubicBezTo>
                  <a:cubicBezTo>
                    <a:pt x="3225927" y="14410437"/>
                    <a:pt x="0" y="11184509"/>
                    <a:pt x="0" y="7205218"/>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4" id="4"/>
          <p:cNvSpPr/>
          <p:nvPr/>
        </p:nvSpPr>
        <p:spPr>
          <a:xfrm flipH="false" flipV="false" rot="0">
            <a:off x="10359920" y="3534586"/>
            <a:ext cx="8339081" cy="6752396"/>
          </a:xfrm>
          <a:custGeom>
            <a:avLst/>
            <a:gdLst/>
            <a:ahLst/>
            <a:cxnLst/>
            <a:rect r="r" b="b" t="t" l="l"/>
            <a:pathLst>
              <a:path h="6752396" w="8339081">
                <a:moveTo>
                  <a:pt x="0" y="0"/>
                </a:moveTo>
                <a:lnTo>
                  <a:pt x="8339081" y="0"/>
                </a:lnTo>
                <a:lnTo>
                  <a:pt x="8339081" y="6752396"/>
                </a:lnTo>
                <a:lnTo>
                  <a:pt x="0" y="67523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696401" y="934923"/>
            <a:ext cx="8916150" cy="953025"/>
          </a:xfrm>
          <a:prstGeom prst="rect">
            <a:avLst/>
          </a:prstGeom>
        </p:spPr>
        <p:txBody>
          <a:bodyPr anchor="t" rtlCol="false" tIns="0" lIns="0" bIns="0" rIns="0">
            <a:spAutoFit/>
          </a:bodyPr>
          <a:lstStyle/>
          <a:p>
            <a:pPr algn="l">
              <a:lnSpc>
                <a:spcPts val="6480"/>
              </a:lnSpc>
            </a:pPr>
            <a:r>
              <a:rPr lang="en-US" sz="5400">
                <a:solidFill>
                  <a:srgbClr val="F5F5F5"/>
                </a:solidFill>
                <a:latin typeface="Alata"/>
                <a:ea typeface="Alata"/>
                <a:cs typeface="Alata"/>
                <a:sym typeface="Alata"/>
              </a:rPr>
              <a:t>LÝ DO CHỌN ĐỀ TÀI</a:t>
            </a:r>
          </a:p>
        </p:txBody>
      </p:sp>
      <p:sp>
        <p:nvSpPr>
          <p:cNvPr name="TextBox 6" id="6"/>
          <p:cNvSpPr txBox="true"/>
          <p:nvPr/>
        </p:nvSpPr>
        <p:spPr>
          <a:xfrm rot="0">
            <a:off x="981457" y="2166529"/>
            <a:ext cx="7981054" cy="5346618"/>
          </a:xfrm>
          <a:prstGeom prst="rect">
            <a:avLst/>
          </a:prstGeom>
        </p:spPr>
        <p:txBody>
          <a:bodyPr anchor="t" rtlCol="false" tIns="0" lIns="0" bIns="0" rIns="0">
            <a:spAutoFit/>
          </a:bodyPr>
          <a:lstStyle/>
          <a:p>
            <a:pPr algn="l">
              <a:lnSpc>
                <a:spcPts val="4320"/>
              </a:lnSpc>
            </a:pPr>
            <a:r>
              <a:rPr lang="en-US" sz="2400" b="true">
                <a:solidFill>
                  <a:srgbClr val="F5F5F5"/>
                </a:solidFill>
                <a:latin typeface="Arial Bold"/>
                <a:ea typeface="Arial Bold"/>
                <a:cs typeface="Arial Bold"/>
                <a:sym typeface="Arial Bold"/>
              </a:rPr>
              <a:t>       Ứng dụng thương mại điện tử ngày nay được xem như một giải pháp quan trọng giúp doanh nghiệp mở rộng hoạt động bán hàng và quản lý sản phẩm một cách hiệu quả. Từ thực tế đó, nhóm lựa chọn đề tài với mong muốn xây dựng một hệ thống TMĐT hoàn chỉnh, vừa đáp ứng nhu cầu mua sắm trực tuyến, vừa thể hiện cách công nghệ hỗ trợ quy trình vận hành của doanh nghiệp. Đồng thời, đề tài cũng hướng đến việc giúp nhóm trau dồi kỹ năng lập trình, thiết kế giao diện và triển khai các chức năng thực tiễn như xử lý dữ liệu hay thanh toán trực tuyến.</a:t>
            </a:r>
          </a:p>
        </p:txBody>
      </p:sp>
      <p:sp>
        <p:nvSpPr>
          <p:cNvPr name="Freeform 7" id="7"/>
          <p:cNvSpPr/>
          <p:nvPr/>
        </p:nvSpPr>
        <p:spPr>
          <a:xfrm flipH="false" flipV="false" rot="0">
            <a:off x="9770642" y="1406673"/>
            <a:ext cx="3609987" cy="7491732"/>
          </a:xfrm>
          <a:custGeom>
            <a:avLst/>
            <a:gdLst/>
            <a:ahLst/>
            <a:cxnLst/>
            <a:rect r="r" b="b" t="t" l="l"/>
            <a:pathLst>
              <a:path h="7491732" w="3609987">
                <a:moveTo>
                  <a:pt x="0" y="0"/>
                </a:moveTo>
                <a:lnTo>
                  <a:pt x="3609987" y="0"/>
                </a:lnTo>
                <a:lnTo>
                  <a:pt x="3609987" y="7491732"/>
                </a:lnTo>
                <a:lnTo>
                  <a:pt x="0" y="7491732"/>
                </a:lnTo>
                <a:lnTo>
                  <a:pt x="0" y="0"/>
                </a:lnTo>
                <a:close/>
              </a:path>
            </a:pathLst>
          </a:custGeom>
          <a:blipFill>
            <a:blip r:embed="rId5"/>
            <a:stretch>
              <a:fillRect l="-2714" t="-3958" r="-4292" b="-7830"/>
            </a:stretch>
          </a:blipFill>
        </p:spPr>
      </p:sp>
      <p:sp>
        <p:nvSpPr>
          <p:cNvPr name="Freeform 8" id="8"/>
          <p:cNvSpPr/>
          <p:nvPr/>
        </p:nvSpPr>
        <p:spPr>
          <a:xfrm flipH="false" flipV="false" rot="0">
            <a:off x="13380629" y="1388595"/>
            <a:ext cx="3501298" cy="7509809"/>
          </a:xfrm>
          <a:custGeom>
            <a:avLst/>
            <a:gdLst/>
            <a:ahLst/>
            <a:cxnLst/>
            <a:rect r="r" b="b" t="t" l="l"/>
            <a:pathLst>
              <a:path h="7509809" w="3501298">
                <a:moveTo>
                  <a:pt x="0" y="0"/>
                </a:moveTo>
                <a:lnTo>
                  <a:pt x="3501297" y="0"/>
                </a:lnTo>
                <a:lnTo>
                  <a:pt x="3501297" y="7509810"/>
                </a:lnTo>
                <a:lnTo>
                  <a:pt x="0" y="7509810"/>
                </a:lnTo>
                <a:lnTo>
                  <a:pt x="0" y="0"/>
                </a:lnTo>
                <a:close/>
              </a:path>
            </a:pathLst>
          </a:custGeom>
          <a:blipFill>
            <a:blip r:embed="rId6"/>
            <a:stretch>
              <a:fillRect l="0" t="-3895" r="0" b="0"/>
            </a:stretch>
          </a:blipFill>
        </p:spPr>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4686814" y="2208513"/>
            <a:ext cx="5801408" cy="5869957"/>
          </a:xfrm>
          <a:custGeom>
            <a:avLst/>
            <a:gdLst/>
            <a:ahLst/>
            <a:cxnLst/>
            <a:rect r="r" b="b" t="t" l="l"/>
            <a:pathLst>
              <a:path h="5869957" w="5801408">
                <a:moveTo>
                  <a:pt x="0" y="0"/>
                </a:moveTo>
                <a:lnTo>
                  <a:pt x="5801408" y="0"/>
                </a:lnTo>
                <a:lnTo>
                  <a:pt x="5801408" y="5869957"/>
                </a:lnTo>
                <a:lnTo>
                  <a:pt x="0" y="58699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2377725" y="273443"/>
            <a:ext cx="5925736" cy="5852275"/>
          </a:xfrm>
          <a:custGeom>
            <a:avLst/>
            <a:gdLst/>
            <a:ahLst/>
            <a:cxnLst/>
            <a:rect r="r" b="b" t="t" l="l"/>
            <a:pathLst>
              <a:path h="5852275" w="5925736">
                <a:moveTo>
                  <a:pt x="0" y="0"/>
                </a:moveTo>
                <a:lnTo>
                  <a:pt x="5925736" y="0"/>
                </a:lnTo>
                <a:lnTo>
                  <a:pt x="5925736" y="5852275"/>
                </a:lnTo>
                <a:lnTo>
                  <a:pt x="0" y="58522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194150" y="3013500"/>
            <a:ext cx="4521600" cy="4521600"/>
            <a:chOff x="0" y="0"/>
            <a:chExt cx="6028800" cy="6028800"/>
          </a:xfrm>
        </p:grpSpPr>
        <p:sp>
          <p:nvSpPr>
            <p:cNvPr name="Freeform 5" id="5"/>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5881950" y="1070000"/>
            <a:ext cx="4521600" cy="4521600"/>
            <a:chOff x="0" y="0"/>
            <a:chExt cx="6028800" cy="6028800"/>
          </a:xfrm>
        </p:grpSpPr>
        <p:sp>
          <p:nvSpPr>
            <p:cNvPr name="Freeform 7" id="7"/>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8" id="8"/>
          <p:cNvSpPr txBox="true"/>
          <p:nvPr/>
        </p:nvSpPr>
        <p:spPr>
          <a:xfrm rot="0">
            <a:off x="410019" y="4284456"/>
            <a:ext cx="4531752" cy="1882275"/>
          </a:xfrm>
          <a:prstGeom prst="rect">
            <a:avLst/>
          </a:prstGeom>
        </p:spPr>
        <p:txBody>
          <a:bodyPr anchor="t" rtlCol="false" tIns="0" lIns="0" bIns="0" rIns="0">
            <a:spAutoFit/>
          </a:bodyPr>
          <a:lstStyle/>
          <a:p>
            <a:pPr algn="ctr">
              <a:lnSpc>
                <a:spcPts val="2879"/>
              </a:lnSpc>
            </a:pPr>
            <a:r>
              <a:rPr lang="en-US" sz="2400" b="true">
                <a:solidFill>
                  <a:srgbClr val="F5F5F5"/>
                </a:solidFill>
                <a:latin typeface="Arimo Bold"/>
                <a:ea typeface="Arimo Bold"/>
                <a:cs typeface="Arimo Bold"/>
                <a:sym typeface="Arimo Bold"/>
              </a:rPr>
              <a:t>VSCODE</a:t>
            </a:r>
          </a:p>
          <a:p>
            <a:pPr algn="ctr">
              <a:lnSpc>
                <a:spcPts val="2879"/>
              </a:lnSpc>
            </a:pPr>
          </a:p>
          <a:p>
            <a:pPr algn="ctr">
              <a:lnSpc>
                <a:spcPts val="2879"/>
              </a:lnSpc>
            </a:pPr>
            <a:r>
              <a:rPr lang="en-US" sz="2400">
                <a:solidFill>
                  <a:srgbClr val="F5F5F5"/>
                </a:solidFill>
                <a:latin typeface="Times New Roman"/>
                <a:ea typeface="Times New Roman"/>
                <a:cs typeface="Times New Roman"/>
                <a:sym typeface="Times New Roman"/>
              </a:rPr>
              <a:t>Trình soạn thảo mã miễn phí của Microsoft hỗ trợ nhiều ngôn ngữ có gợi ý code debug Git và dùng trong đồ án để viết backend và app mobile</a:t>
            </a:r>
          </a:p>
        </p:txBody>
      </p:sp>
      <p:sp>
        <p:nvSpPr>
          <p:cNvPr name="TextBox 9" id="9"/>
          <p:cNvSpPr txBox="true"/>
          <p:nvPr/>
        </p:nvSpPr>
        <p:spPr>
          <a:xfrm rot="0">
            <a:off x="9259169" y="4402238"/>
            <a:ext cx="3906516" cy="1882275"/>
          </a:xfrm>
          <a:prstGeom prst="rect">
            <a:avLst/>
          </a:prstGeom>
        </p:spPr>
        <p:txBody>
          <a:bodyPr anchor="t" rtlCol="false" tIns="0" lIns="0" bIns="0" rIns="0">
            <a:spAutoFit/>
          </a:bodyPr>
          <a:lstStyle/>
          <a:p>
            <a:pPr algn="ctr">
              <a:lnSpc>
                <a:spcPts val="2879"/>
              </a:lnSpc>
            </a:pPr>
            <a:r>
              <a:rPr lang="en-US" sz="2400" b="true">
                <a:solidFill>
                  <a:srgbClr val="F5F5F5"/>
                </a:solidFill>
                <a:latin typeface="Arimo Bold"/>
                <a:ea typeface="Arimo Bold"/>
                <a:cs typeface="Arimo Bold"/>
                <a:sym typeface="Arimo Bold"/>
              </a:rPr>
              <a:t>FLUTTER</a:t>
            </a:r>
          </a:p>
          <a:p>
            <a:pPr algn="ctr">
              <a:lnSpc>
                <a:spcPts val="2879"/>
              </a:lnSpc>
            </a:pPr>
          </a:p>
          <a:p>
            <a:pPr algn="ctr">
              <a:lnSpc>
                <a:spcPts val="2879"/>
              </a:lnSpc>
            </a:pPr>
            <a:r>
              <a:rPr lang="en-US" sz="2400">
                <a:solidFill>
                  <a:srgbClr val="F5F5F5"/>
                </a:solidFill>
                <a:latin typeface="Arial"/>
                <a:ea typeface="Arial"/>
                <a:cs typeface="Arial"/>
                <a:sym typeface="Arial"/>
              </a:rPr>
              <a:t>Flutter là bộ SDK giao diện đa nền tảng của Google cho phép lập trình một code Dart nhưng chạy được trên Android iOS web và desktop với hiệu năng gần native và UI tùy biến đẹp.</a:t>
            </a:r>
          </a:p>
        </p:txBody>
      </p:sp>
      <p:sp>
        <p:nvSpPr>
          <p:cNvPr name="TextBox 10" id="10"/>
          <p:cNvSpPr txBox="true"/>
          <p:nvPr/>
        </p:nvSpPr>
        <p:spPr>
          <a:xfrm rot="0">
            <a:off x="5309647" y="4402238"/>
            <a:ext cx="3181856" cy="1882275"/>
          </a:xfrm>
          <a:prstGeom prst="rect">
            <a:avLst/>
          </a:prstGeom>
        </p:spPr>
        <p:txBody>
          <a:bodyPr anchor="t" rtlCol="false" tIns="0" lIns="0" bIns="0" rIns="0">
            <a:spAutoFit/>
          </a:bodyPr>
          <a:lstStyle/>
          <a:p>
            <a:pPr algn="ctr">
              <a:lnSpc>
                <a:spcPts val="2879"/>
              </a:lnSpc>
            </a:pPr>
            <a:r>
              <a:rPr lang="en-US" sz="2400" b="true">
                <a:solidFill>
                  <a:srgbClr val="F5F5F5"/>
                </a:solidFill>
                <a:latin typeface="Arimo Bold"/>
                <a:ea typeface="Arimo Bold"/>
                <a:cs typeface="Arimo Bold"/>
                <a:sym typeface="Arimo Bold"/>
              </a:rPr>
              <a:t>Node.js + Express</a:t>
            </a:r>
          </a:p>
          <a:p>
            <a:pPr algn="ctr">
              <a:lnSpc>
                <a:spcPts val="2879"/>
              </a:lnSpc>
            </a:pPr>
          </a:p>
          <a:p>
            <a:pPr algn="ctr">
              <a:lnSpc>
                <a:spcPts val="2879"/>
              </a:lnSpc>
            </a:pPr>
            <a:r>
              <a:rPr lang="en-US" sz="2400">
                <a:solidFill>
                  <a:srgbClr val="F5F5F5"/>
                </a:solidFill>
                <a:latin typeface="Arial"/>
                <a:ea typeface="Arial"/>
                <a:cs typeface="Arial"/>
                <a:sym typeface="Arial"/>
              </a:rPr>
              <a:t>Môi trường chạy JavaScript trên server, giúp xử lý nhanh và không chặn luồng. Express là framework xây dựng API cho Node.js, giúp tạo backend nhanh, gọn và dễ quản lý.</a:t>
            </a:r>
          </a:p>
        </p:txBody>
      </p:sp>
      <p:sp>
        <p:nvSpPr>
          <p:cNvPr name="TextBox 11" id="11"/>
          <p:cNvSpPr txBox="true"/>
          <p:nvPr/>
        </p:nvSpPr>
        <p:spPr>
          <a:xfrm rot="0">
            <a:off x="13933351" y="4373663"/>
            <a:ext cx="3218910" cy="1910850"/>
          </a:xfrm>
          <a:prstGeom prst="rect">
            <a:avLst/>
          </a:prstGeom>
        </p:spPr>
        <p:txBody>
          <a:bodyPr anchor="t" rtlCol="false" tIns="0" lIns="0" bIns="0" rIns="0">
            <a:spAutoFit/>
          </a:bodyPr>
          <a:lstStyle/>
          <a:p>
            <a:pPr algn="ctr">
              <a:lnSpc>
                <a:spcPts val="2879"/>
              </a:lnSpc>
            </a:pPr>
            <a:r>
              <a:rPr lang="en-US" sz="2400" b="true">
                <a:solidFill>
                  <a:srgbClr val="F5F5F5"/>
                </a:solidFill>
                <a:latin typeface="Calibri (MS) Bold"/>
                <a:ea typeface="Calibri (MS) Bold"/>
                <a:cs typeface="Calibri (MS) Bold"/>
                <a:sym typeface="Calibri (MS) Bold"/>
              </a:rPr>
              <a:t>PostgreSQL</a:t>
            </a:r>
          </a:p>
          <a:p>
            <a:pPr algn="ctr">
              <a:lnSpc>
                <a:spcPts val="2879"/>
              </a:lnSpc>
            </a:pPr>
          </a:p>
          <a:p>
            <a:pPr algn="ctr">
              <a:lnSpc>
                <a:spcPts val="2879"/>
              </a:lnSpc>
            </a:pPr>
            <a:r>
              <a:rPr lang="en-US" sz="2400">
                <a:solidFill>
                  <a:srgbClr val="F5F5F5"/>
                </a:solidFill>
                <a:latin typeface="Arial"/>
                <a:ea typeface="Arial"/>
                <a:cs typeface="Arial"/>
                <a:sym typeface="Arial"/>
              </a:rPr>
              <a:t>Hệ quản trị cơ sở dữ liệu quan hệ mạnh mẽ, hỗ trợ lưu trữ dữ liệu lớn, truy vấn phức tạp và đảm bảo tính an toàn – ổn định cho hệ thống.</a:t>
            </a:r>
          </a:p>
        </p:txBody>
      </p:sp>
      <p:sp>
        <p:nvSpPr>
          <p:cNvPr name="TextBox 12" id="12"/>
          <p:cNvSpPr txBox="true"/>
          <p:nvPr/>
        </p:nvSpPr>
        <p:spPr>
          <a:xfrm rot="0">
            <a:off x="1531425" y="767374"/>
            <a:ext cx="15225150" cy="953025"/>
          </a:xfrm>
          <a:prstGeom prst="rect">
            <a:avLst/>
          </a:prstGeom>
        </p:spPr>
        <p:txBody>
          <a:bodyPr anchor="t" rtlCol="false" tIns="0" lIns="0" bIns="0" rIns="0">
            <a:spAutoFit/>
          </a:bodyPr>
          <a:lstStyle/>
          <a:p>
            <a:pPr algn="l">
              <a:lnSpc>
                <a:spcPts val="6480"/>
              </a:lnSpc>
            </a:pPr>
            <a:r>
              <a:rPr lang="en-US" sz="5400">
                <a:solidFill>
                  <a:srgbClr val="F5F5F5"/>
                </a:solidFill>
                <a:latin typeface="Alata"/>
                <a:ea typeface="Alata"/>
                <a:cs typeface="Alata"/>
                <a:sym typeface="Alata"/>
              </a:rPr>
              <a:t>CÔNG NGHỆ SỬ DỤNG</a:t>
            </a:r>
          </a:p>
        </p:txBody>
      </p:sp>
      <p:grpSp>
        <p:nvGrpSpPr>
          <p:cNvPr name="Group 13" id="13"/>
          <p:cNvGrpSpPr>
            <a:grpSpLocks noChangeAspect="true"/>
          </p:cNvGrpSpPr>
          <p:nvPr/>
        </p:nvGrpSpPr>
        <p:grpSpPr>
          <a:xfrm rot="0">
            <a:off x="2094022" y="2103316"/>
            <a:ext cx="2015400" cy="1807748"/>
            <a:chOff x="0" y="0"/>
            <a:chExt cx="2687200" cy="2410331"/>
          </a:xfrm>
        </p:grpSpPr>
        <p:sp>
          <p:nvSpPr>
            <p:cNvPr name="Freeform 14" id="14" descr="Vscode"/>
            <p:cNvSpPr/>
            <p:nvPr/>
          </p:nvSpPr>
          <p:spPr>
            <a:xfrm flipH="false" flipV="false" rot="0">
              <a:off x="0" y="0"/>
              <a:ext cx="2687193" cy="2410333"/>
            </a:xfrm>
            <a:custGeom>
              <a:avLst/>
              <a:gdLst/>
              <a:ahLst/>
              <a:cxnLst/>
              <a:rect r="r" b="b" t="t" l="l"/>
              <a:pathLst>
                <a:path h="2410333" w="2687193">
                  <a:moveTo>
                    <a:pt x="0" y="0"/>
                  </a:moveTo>
                  <a:lnTo>
                    <a:pt x="2687193" y="0"/>
                  </a:lnTo>
                  <a:lnTo>
                    <a:pt x="2687193" y="2410333"/>
                  </a:lnTo>
                  <a:lnTo>
                    <a:pt x="0" y="2410333"/>
                  </a:lnTo>
                  <a:lnTo>
                    <a:pt x="0" y="0"/>
                  </a:lnTo>
                  <a:close/>
                </a:path>
              </a:pathLst>
            </a:custGeom>
            <a:blipFill>
              <a:blip r:embed="rId7"/>
              <a:stretch>
                <a:fillRect l="0" t="0" r="0" b="-11486"/>
              </a:stretch>
            </a:blipFill>
          </p:spPr>
        </p:sp>
      </p:grpSp>
      <p:grpSp>
        <p:nvGrpSpPr>
          <p:cNvPr name="Group 15" id="15"/>
          <p:cNvGrpSpPr>
            <a:grpSpLocks noChangeAspect="true"/>
          </p:cNvGrpSpPr>
          <p:nvPr/>
        </p:nvGrpSpPr>
        <p:grpSpPr>
          <a:xfrm rot="0">
            <a:off x="10323854" y="2162944"/>
            <a:ext cx="1777150" cy="1777150"/>
            <a:chOff x="0" y="0"/>
            <a:chExt cx="2369533" cy="2369533"/>
          </a:xfrm>
        </p:grpSpPr>
        <p:sp>
          <p:nvSpPr>
            <p:cNvPr name="Freeform 16" id="16" descr="Flutter - YouTube"/>
            <p:cNvSpPr/>
            <p:nvPr/>
          </p:nvSpPr>
          <p:spPr>
            <a:xfrm flipH="false" flipV="false" rot="0">
              <a:off x="0" y="0"/>
              <a:ext cx="2369566" cy="2369566"/>
            </a:xfrm>
            <a:custGeom>
              <a:avLst/>
              <a:gdLst/>
              <a:ahLst/>
              <a:cxnLst/>
              <a:rect r="r" b="b" t="t" l="l"/>
              <a:pathLst>
                <a:path h="2369566" w="2369566">
                  <a:moveTo>
                    <a:pt x="0" y="0"/>
                  </a:moveTo>
                  <a:lnTo>
                    <a:pt x="2369566" y="0"/>
                  </a:lnTo>
                  <a:lnTo>
                    <a:pt x="2369566" y="2369566"/>
                  </a:lnTo>
                  <a:lnTo>
                    <a:pt x="0" y="2369566"/>
                  </a:lnTo>
                  <a:lnTo>
                    <a:pt x="0" y="0"/>
                  </a:lnTo>
                  <a:close/>
                </a:path>
              </a:pathLst>
            </a:custGeom>
            <a:blipFill>
              <a:blip r:embed="rId8"/>
              <a:stretch>
                <a:fillRect l="0" t="0" r="1" b="1"/>
              </a:stretch>
            </a:blipFill>
          </p:spPr>
        </p:sp>
      </p:grpSp>
      <p:grpSp>
        <p:nvGrpSpPr>
          <p:cNvPr name="Group 17" id="17"/>
          <p:cNvGrpSpPr>
            <a:grpSpLocks noChangeAspect="true"/>
          </p:cNvGrpSpPr>
          <p:nvPr/>
        </p:nvGrpSpPr>
        <p:grpSpPr>
          <a:xfrm rot="0">
            <a:off x="14762994" y="2192068"/>
            <a:ext cx="1886484" cy="1748026"/>
            <a:chOff x="0" y="0"/>
            <a:chExt cx="2515312" cy="2330701"/>
          </a:xfrm>
        </p:grpSpPr>
        <p:sp>
          <p:nvSpPr>
            <p:cNvPr name="Freeform 18" id="18"/>
            <p:cNvSpPr/>
            <p:nvPr/>
          </p:nvSpPr>
          <p:spPr>
            <a:xfrm flipH="false" flipV="false" rot="0">
              <a:off x="0" y="0"/>
              <a:ext cx="2515362" cy="2330704"/>
            </a:xfrm>
            <a:custGeom>
              <a:avLst/>
              <a:gdLst/>
              <a:ahLst/>
              <a:cxnLst/>
              <a:rect r="r" b="b" t="t" l="l"/>
              <a:pathLst>
                <a:path h="2330704" w="2515362">
                  <a:moveTo>
                    <a:pt x="0" y="0"/>
                  </a:moveTo>
                  <a:lnTo>
                    <a:pt x="2515362" y="0"/>
                  </a:lnTo>
                  <a:lnTo>
                    <a:pt x="2515362" y="2330704"/>
                  </a:lnTo>
                  <a:lnTo>
                    <a:pt x="0" y="2330704"/>
                  </a:lnTo>
                  <a:lnTo>
                    <a:pt x="0" y="0"/>
                  </a:lnTo>
                  <a:close/>
                </a:path>
              </a:pathLst>
            </a:custGeom>
            <a:blipFill>
              <a:blip r:embed="rId9"/>
              <a:stretch>
                <a:fillRect l="0" t="0" r="1" b="0"/>
              </a:stretch>
            </a:blipFill>
          </p:spPr>
        </p:sp>
      </p:grpSp>
      <p:grpSp>
        <p:nvGrpSpPr>
          <p:cNvPr name="Group 19" id="19"/>
          <p:cNvGrpSpPr>
            <a:grpSpLocks noChangeAspect="true"/>
          </p:cNvGrpSpPr>
          <p:nvPr/>
        </p:nvGrpSpPr>
        <p:grpSpPr>
          <a:xfrm rot="0">
            <a:off x="5936712" y="2192068"/>
            <a:ext cx="1936148" cy="1889180"/>
            <a:chOff x="0" y="0"/>
            <a:chExt cx="2581531" cy="2518907"/>
          </a:xfrm>
        </p:grpSpPr>
        <p:sp>
          <p:nvSpPr>
            <p:cNvPr name="Freeform 20" id="20"/>
            <p:cNvSpPr/>
            <p:nvPr/>
          </p:nvSpPr>
          <p:spPr>
            <a:xfrm flipH="false" flipV="false" rot="0">
              <a:off x="0" y="0"/>
              <a:ext cx="2581529" cy="2518918"/>
            </a:xfrm>
            <a:custGeom>
              <a:avLst/>
              <a:gdLst/>
              <a:ahLst/>
              <a:cxnLst/>
              <a:rect r="r" b="b" t="t" l="l"/>
              <a:pathLst>
                <a:path h="2518918" w="2581529">
                  <a:moveTo>
                    <a:pt x="0" y="0"/>
                  </a:moveTo>
                  <a:lnTo>
                    <a:pt x="2581529" y="0"/>
                  </a:lnTo>
                  <a:lnTo>
                    <a:pt x="2581529" y="2518918"/>
                  </a:lnTo>
                  <a:lnTo>
                    <a:pt x="0" y="2518918"/>
                  </a:lnTo>
                  <a:lnTo>
                    <a:pt x="0" y="0"/>
                  </a:lnTo>
                  <a:close/>
                </a:path>
              </a:pathLst>
            </a:custGeom>
            <a:blipFill>
              <a:blip r:embed="rId10"/>
              <a:stretch>
                <a:fillRect l="0" t="0" r="0" b="0"/>
              </a:stretch>
            </a:blipFill>
          </p:spPr>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3740100" y="7165650"/>
            <a:ext cx="10807800" cy="10807800"/>
            <a:chOff x="0" y="0"/>
            <a:chExt cx="14410400" cy="14410400"/>
          </a:xfrm>
        </p:grpSpPr>
        <p:sp>
          <p:nvSpPr>
            <p:cNvPr name="Freeform 3" id="3"/>
            <p:cNvSpPr/>
            <p:nvPr/>
          </p:nvSpPr>
          <p:spPr>
            <a:xfrm flipH="false" flipV="false" rot="0">
              <a:off x="0" y="0"/>
              <a:ext cx="14410437" cy="14410437"/>
            </a:xfrm>
            <a:custGeom>
              <a:avLst/>
              <a:gdLst/>
              <a:ahLst/>
              <a:cxnLst/>
              <a:rect r="r" b="b" t="t" l="l"/>
              <a:pathLst>
                <a:path h="14410437" w="14410437">
                  <a:moveTo>
                    <a:pt x="0" y="7205218"/>
                  </a:moveTo>
                  <a:cubicBezTo>
                    <a:pt x="0" y="3225927"/>
                    <a:pt x="3225927" y="0"/>
                    <a:pt x="7205218" y="0"/>
                  </a:cubicBezTo>
                  <a:cubicBezTo>
                    <a:pt x="11184510" y="0"/>
                    <a:pt x="14410437" y="3225927"/>
                    <a:pt x="14410437" y="7205218"/>
                  </a:cubicBezTo>
                  <a:cubicBezTo>
                    <a:pt x="14410437" y="11184510"/>
                    <a:pt x="11184510" y="14410437"/>
                    <a:pt x="7205218" y="14410437"/>
                  </a:cubicBezTo>
                  <a:cubicBezTo>
                    <a:pt x="3225927" y="14410437"/>
                    <a:pt x="0" y="11184509"/>
                    <a:pt x="0" y="7205218"/>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4" id="4"/>
          <p:cNvSpPr/>
          <p:nvPr/>
        </p:nvSpPr>
        <p:spPr>
          <a:xfrm flipH="false" flipV="false" rot="0">
            <a:off x="8796646" y="-2935366"/>
            <a:ext cx="5566410" cy="4065692"/>
          </a:xfrm>
          <a:custGeom>
            <a:avLst/>
            <a:gdLst/>
            <a:ahLst/>
            <a:cxnLst/>
            <a:rect r="r" b="b" t="t" l="l"/>
            <a:pathLst>
              <a:path h="4065692" w="5566410">
                <a:moveTo>
                  <a:pt x="0" y="0"/>
                </a:moveTo>
                <a:lnTo>
                  <a:pt x="5566410" y="0"/>
                </a:lnTo>
                <a:lnTo>
                  <a:pt x="5566410" y="4065692"/>
                </a:lnTo>
                <a:lnTo>
                  <a:pt x="0" y="40656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6409466" y="631610"/>
            <a:ext cx="5469069" cy="5469069"/>
            <a:chOff x="0" y="0"/>
            <a:chExt cx="6028800" cy="6028800"/>
          </a:xfrm>
        </p:grpSpPr>
        <p:sp>
          <p:nvSpPr>
            <p:cNvPr name="Freeform 6" id="6"/>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7" id="7"/>
          <p:cNvSpPr txBox="true"/>
          <p:nvPr/>
        </p:nvSpPr>
        <p:spPr>
          <a:xfrm rot="0">
            <a:off x="5889119" y="5098645"/>
            <a:ext cx="6509861" cy="1514475"/>
          </a:xfrm>
          <a:prstGeom prst="rect">
            <a:avLst/>
          </a:prstGeom>
        </p:spPr>
        <p:txBody>
          <a:bodyPr anchor="t" rtlCol="false" tIns="0" lIns="0" bIns="0" rIns="0">
            <a:spAutoFit/>
          </a:bodyPr>
          <a:lstStyle/>
          <a:p>
            <a:pPr algn="ctr">
              <a:lnSpc>
                <a:spcPts val="11999"/>
              </a:lnSpc>
            </a:pPr>
            <a:r>
              <a:rPr lang="en-US" sz="9999">
                <a:solidFill>
                  <a:srgbClr val="F5F5F5"/>
                </a:solidFill>
                <a:latin typeface="Alata"/>
                <a:ea typeface="Alata"/>
                <a:cs typeface="Alata"/>
                <a:sym typeface="Alata"/>
              </a:rPr>
              <a:t>DIAGRAMS</a:t>
            </a:r>
          </a:p>
        </p:txBody>
      </p:sp>
      <p:sp>
        <p:nvSpPr>
          <p:cNvPr name="Freeform 8" id="8"/>
          <p:cNvSpPr/>
          <p:nvPr/>
        </p:nvSpPr>
        <p:spPr>
          <a:xfrm flipH="false" flipV="false" rot="0">
            <a:off x="3808198" y="-3058868"/>
            <a:ext cx="5675680" cy="7103626"/>
          </a:xfrm>
          <a:custGeom>
            <a:avLst/>
            <a:gdLst/>
            <a:ahLst/>
            <a:cxnLst/>
            <a:rect r="r" b="b" t="t" l="l"/>
            <a:pathLst>
              <a:path h="7103626" w="5675680">
                <a:moveTo>
                  <a:pt x="0" y="0"/>
                </a:moveTo>
                <a:lnTo>
                  <a:pt x="5675680" y="0"/>
                </a:lnTo>
                <a:lnTo>
                  <a:pt x="5675680" y="7103626"/>
                </a:lnTo>
                <a:lnTo>
                  <a:pt x="0" y="71036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5409300" y="6948126"/>
            <a:ext cx="7469400" cy="66600"/>
            <a:chOff x="0" y="0"/>
            <a:chExt cx="9959200" cy="88800"/>
          </a:xfrm>
        </p:grpSpPr>
        <p:sp>
          <p:nvSpPr>
            <p:cNvPr name="Freeform 10" id="10"/>
            <p:cNvSpPr/>
            <p:nvPr/>
          </p:nvSpPr>
          <p:spPr>
            <a:xfrm flipH="false" flipV="false" rot="0">
              <a:off x="0" y="0"/>
              <a:ext cx="9959213" cy="88773"/>
            </a:xfrm>
            <a:custGeom>
              <a:avLst/>
              <a:gdLst/>
              <a:ahLst/>
              <a:cxnLst/>
              <a:rect r="r" b="b" t="t" l="l"/>
              <a:pathLst>
                <a:path h="88773" w="9959213">
                  <a:moveTo>
                    <a:pt x="0" y="0"/>
                  </a:moveTo>
                  <a:lnTo>
                    <a:pt x="9959213" y="0"/>
                  </a:lnTo>
                  <a:lnTo>
                    <a:pt x="9959213" y="88773"/>
                  </a:lnTo>
                  <a:lnTo>
                    <a:pt x="0" y="88773"/>
                  </a:lnTo>
                  <a:close/>
                </a:path>
              </a:pathLst>
            </a:custGeom>
            <a:gradFill rotWithShape="true">
              <a:gsLst>
                <a:gs pos="0">
                  <a:srgbClr val="49E1BB">
                    <a:alpha val="100000"/>
                  </a:srgbClr>
                </a:gs>
                <a:gs pos="100000">
                  <a:srgbClr val="1E8A6F">
                    <a:alpha val="100000"/>
                  </a:srgbClr>
                </a:gs>
              </a:gsLst>
              <a:path path="circle">
                <a:fillToRect l="50000" r="50000" t="50000" b="50000"/>
              </a:path>
            </a:gradFill>
          </p:spPr>
        </p:sp>
      </p:grpSp>
      <p:sp>
        <p:nvSpPr>
          <p:cNvPr name="Freeform 11" id="11"/>
          <p:cNvSpPr/>
          <p:nvPr/>
        </p:nvSpPr>
        <p:spPr>
          <a:xfrm flipH="false" flipV="false" rot="0">
            <a:off x="3954668" y="7522914"/>
            <a:ext cx="10013198" cy="5094416"/>
          </a:xfrm>
          <a:custGeom>
            <a:avLst/>
            <a:gdLst/>
            <a:ahLst/>
            <a:cxnLst/>
            <a:rect r="r" b="b" t="t" l="l"/>
            <a:pathLst>
              <a:path h="5094416" w="10013198">
                <a:moveTo>
                  <a:pt x="0" y="0"/>
                </a:moveTo>
                <a:lnTo>
                  <a:pt x="10013198" y="0"/>
                </a:lnTo>
                <a:lnTo>
                  <a:pt x="10013198" y="5094416"/>
                </a:lnTo>
                <a:lnTo>
                  <a:pt x="0" y="50944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7492792" y="1786045"/>
            <a:ext cx="3125108" cy="3160200"/>
            <a:chOff x="0" y="0"/>
            <a:chExt cx="1959200" cy="1981200"/>
          </a:xfrm>
        </p:grpSpPr>
        <p:sp>
          <p:nvSpPr>
            <p:cNvPr name="Freeform 13" id="13"/>
            <p:cNvSpPr/>
            <p:nvPr/>
          </p:nvSpPr>
          <p:spPr>
            <a:xfrm flipH="false" flipV="false" rot="0">
              <a:off x="0" y="0"/>
              <a:ext cx="1959229" cy="1981203"/>
            </a:xfrm>
            <a:custGeom>
              <a:avLst/>
              <a:gdLst/>
              <a:ahLst/>
              <a:cxnLst/>
              <a:rect r="r" b="b" t="t" l="l"/>
              <a:pathLst>
                <a:path h="1981203" w="1959229">
                  <a:moveTo>
                    <a:pt x="0" y="0"/>
                  </a:moveTo>
                  <a:lnTo>
                    <a:pt x="1959229" y="0"/>
                  </a:lnTo>
                  <a:lnTo>
                    <a:pt x="1959229" y="1981203"/>
                  </a:lnTo>
                  <a:lnTo>
                    <a:pt x="0" y="1981203"/>
                  </a:lnTo>
                  <a:close/>
                </a:path>
              </a:pathLst>
            </a:custGeom>
            <a:solidFill>
              <a:srgbClr val="5FFFF1"/>
            </a:solidFill>
            <a:ln w="12700">
              <a:solidFill>
                <a:srgbClr val="000000"/>
              </a:solidFill>
            </a:ln>
          </p:spPr>
        </p:sp>
        <p:sp>
          <p:nvSpPr>
            <p:cNvPr name="TextBox 14" id="14"/>
            <p:cNvSpPr txBox="true"/>
            <p:nvPr/>
          </p:nvSpPr>
          <p:spPr>
            <a:xfrm>
              <a:off x="0" y="-9525"/>
              <a:ext cx="1959200" cy="1990725"/>
            </a:xfrm>
            <a:prstGeom prst="rect">
              <a:avLst/>
            </a:prstGeom>
          </p:spPr>
          <p:txBody>
            <a:bodyPr anchor="ctr" rtlCol="false" tIns="50800" lIns="50800" bIns="50800" rIns="50800"/>
            <a:lstStyle/>
            <a:p>
              <a:pPr algn="ctr">
                <a:lnSpc>
                  <a:spcPts val="14400"/>
                </a:lnSpc>
              </a:pPr>
              <a:r>
                <a:rPr lang="en-US" sz="12000">
                  <a:solidFill>
                    <a:srgbClr val="091915"/>
                  </a:solidFill>
                  <a:latin typeface="Alata"/>
                  <a:ea typeface="Alata"/>
                  <a:cs typeface="Alata"/>
                  <a:sym typeface="Alata"/>
                </a:rPr>
                <a:t>02</a:t>
              </a: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10" id="10"/>
          <p:cNvSpPr/>
          <p:nvPr/>
        </p:nvSpPr>
        <p:spPr>
          <a:xfrm flipH="false" flipV="false" rot="0">
            <a:off x="750302" y="3511134"/>
            <a:ext cx="16973477" cy="3264733"/>
          </a:xfrm>
          <a:custGeom>
            <a:avLst/>
            <a:gdLst/>
            <a:ahLst/>
            <a:cxnLst/>
            <a:rect r="r" b="b" t="t" l="l"/>
            <a:pathLst>
              <a:path h="3264733" w="16973477">
                <a:moveTo>
                  <a:pt x="0" y="0"/>
                </a:moveTo>
                <a:lnTo>
                  <a:pt x="16973477" y="0"/>
                </a:lnTo>
                <a:lnTo>
                  <a:pt x="16973477" y="3264732"/>
                </a:lnTo>
                <a:lnTo>
                  <a:pt x="0" y="3264732"/>
                </a:lnTo>
                <a:lnTo>
                  <a:pt x="0" y="0"/>
                </a:lnTo>
                <a:close/>
              </a:path>
            </a:pathLst>
          </a:custGeom>
          <a:blipFill>
            <a:blip r:embed="rId11"/>
            <a:stretch>
              <a:fillRect l="-285" t="0" r="-285" b="0"/>
            </a:stretch>
          </a:blipFill>
        </p:spPr>
      </p:sp>
      <p:sp>
        <p:nvSpPr>
          <p:cNvPr name="TextBox 11" id="11"/>
          <p:cNvSpPr txBox="true"/>
          <p:nvPr/>
        </p:nvSpPr>
        <p:spPr>
          <a:xfrm rot="0">
            <a:off x="4756019" y="1375777"/>
            <a:ext cx="9285000" cy="809625"/>
          </a:xfrm>
          <a:prstGeom prst="rect">
            <a:avLst/>
          </a:prstGeom>
        </p:spPr>
        <p:txBody>
          <a:bodyPr anchor="t" rtlCol="false" tIns="0" lIns="0" bIns="0" rIns="0">
            <a:spAutoFit/>
          </a:bodyPr>
          <a:lstStyle/>
          <a:p>
            <a:pPr algn="l">
              <a:lnSpc>
                <a:spcPts val="6480"/>
              </a:lnSpc>
            </a:pPr>
            <a:r>
              <a:rPr lang="en-US" sz="5400">
                <a:solidFill>
                  <a:srgbClr val="F5F5F5"/>
                </a:solidFill>
                <a:latin typeface="Alata"/>
                <a:ea typeface="Alata"/>
                <a:cs typeface="Alata"/>
                <a:sym typeface="Alata"/>
              </a:rPr>
              <a:t>SƠ ĐỒ PHÂN RÃ CHỨC NĂNG</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10" id="10"/>
          <p:cNvSpPr txBox="true"/>
          <p:nvPr/>
        </p:nvSpPr>
        <p:spPr>
          <a:xfrm rot="0">
            <a:off x="1514008" y="4465419"/>
            <a:ext cx="6394921" cy="1628775"/>
          </a:xfrm>
          <a:prstGeom prst="rect">
            <a:avLst/>
          </a:prstGeom>
        </p:spPr>
        <p:txBody>
          <a:bodyPr anchor="t" rtlCol="false" tIns="0" lIns="0" bIns="0" rIns="0">
            <a:spAutoFit/>
          </a:bodyPr>
          <a:lstStyle/>
          <a:p>
            <a:pPr algn="ctr">
              <a:lnSpc>
                <a:spcPts val="6480"/>
              </a:lnSpc>
            </a:pPr>
            <a:r>
              <a:rPr lang="en-US" sz="5400">
                <a:solidFill>
                  <a:srgbClr val="F5F5F5"/>
                </a:solidFill>
                <a:latin typeface="Alata"/>
                <a:ea typeface="Alata"/>
                <a:cs typeface="Alata"/>
                <a:sym typeface="Alata"/>
              </a:rPr>
              <a:t>SƠ ĐỒ USECASE </a:t>
            </a:r>
          </a:p>
          <a:p>
            <a:pPr algn="ctr">
              <a:lnSpc>
                <a:spcPts val="6480"/>
              </a:lnSpc>
            </a:pPr>
            <a:r>
              <a:rPr lang="en-US" sz="5400">
                <a:solidFill>
                  <a:srgbClr val="F5F5F5"/>
                </a:solidFill>
                <a:latin typeface="Alata"/>
                <a:ea typeface="Alata"/>
                <a:cs typeface="Alata"/>
                <a:sym typeface="Alata"/>
              </a:rPr>
              <a:t>TỔNG QUAN</a:t>
            </a:r>
          </a:p>
        </p:txBody>
      </p:sp>
      <p:sp>
        <p:nvSpPr>
          <p:cNvPr name="Freeform 11" id="11" descr="A diagram of a network  AI-generated content may be incorrect."/>
          <p:cNvSpPr/>
          <p:nvPr/>
        </p:nvSpPr>
        <p:spPr>
          <a:xfrm flipH="false" flipV="false" rot="0">
            <a:off x="10904950" y="362154"/>
            <a:ext cx="5834208" cy="9562693"/>
          </a:xfrm>
          <a:custGeom>
            <a:avLst/>
            <a:gdLst/>
            <a:ahLst/>
            <a:cxnLst/>
            <a:rect r="r" b="b" t="t" l="l"/>
            <a:pathLst>
              <a:path h="9562693" w="5834208">
                <a:moveTo>
                  <a:pt x="0" y="0"/>
                </a:moveTo>
                <a:lnTo>
                  <a:pt x="5834208" y="0"/>
                </a:lnTo>
                <a:lnTo>
                  <a:pt x="5834208" y="9562692"/>
                </a:lnTo>
                <a:lnTo>
                  <a:pt x="0" y="9562692"/>
                </a:lnTo>
                <a:lnTo>
                  <a:pt x="0" y="0"/>
                </a:lnTo>
                <a:close/>
              </a:path>
            </a:pathLst>
          </a:custGeom>
          <a:blipFill>
            <a:blip r:embed="rId11"/>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10" id="10"/>
          <p:cNvSpPr txBox="true"/>
          <p:nvPr/>
        </p:nvSpPr>
        <p:spPr>
          <a:xfrm rot="0">
            <a:off x="1671100" y="3806427"/>
            <a:ext cx="6957146" cy="2447925"/>
          </a:xfrm>
          <a:prstGeom prst="rect">
            <a:avLst/>
          </a:prstGeom>
        </p:spPr>
        <p:txBody>
          <a:bodyPr anchor="t" rtlCol="false" tIns="0" lIns="0" bIns="0" rIns="0">
            <a:spAutoFit/>
          </a:bodyPr>
          <a:lstStyle/>
          <a:p>
            <a:pPr algn="ctr">
              <a:lnSpc>
                <a:spcPts val="6480"/>
              </a:lnSpc>
            </a:pPr>
            <a:r>
              <a:rPr lang="en-US" sz="5400">
                <a:solidFill>
                  <a:srgbClr val="F5F5F5"/>
                </a:solidFill>
                <a:latin typeface="Alata"/>
                <a:ea typeface="Alata"/>
                <a:cs typeface="Alata"/>
                <a:sym typeface="Alata"/>
              </a:rPr>
              <a:t>SƠ ĐỒ USECASE </a:t>
            </a:r>
          </a:p>
          <a:p>
            <a:pPr algn="ctr">
              <a:lnSpc>
                <a:spcPts val="6480"/>
              </a:lnSpc>
            </a:pPr>
            <a:r>
              <a:rPr lang="en-US" sz="5400">
                <a:solidFill>
                  <a:srgbClr val="F5F5F5"/>
                </a:solidFill>
                <a:latin typeface="Alata"/>
                <a:ea typeface="Alata"/>
                <a:cs typeface="Alata"/>
                <a:sym typeface="Alata"/>
              </a:rPr>
              <a:t> CHỨC NĂNG</a:t>
            </a:r>
          </a:p>
          <a:p>
            <a:pPr algn="ctr">
              <a:lnSpc>
                <a:spcPts val="6480"/>
              </a:lnSpc>
            </a:pPr>
            <a:r>
              <a:rPr lang="en-US" sz="5400">
                <a:solidFill>
                  <a:srgbClr val="F5F5F5"/>
                </a:solidFill>
                <a:latin typeface="Alata"/>
                <a:ea typeface="Alata"/>
                <a:cs typeface="Alata"/>
                <a:sym typeface="Alata"/>
              </a:rPr>
              <a:t>CỦA KHÁCH HÀNG</a:t>
            </a:r>
          </a:p>
        </p:txBody>
      </p:sp>
      <p:sp>
        <p:nvSpPr>
          <p:cNvPr name="Freeform 11" id="11" descr="A diagram of a diagram  AI-generated content may be incorrect."/>
          <p:cNvSpPr/>
          <p:nvPr/>
        </p:nvSpPr>
        <p:spPr>
          <a:xfrm flipH="false" flipV="false" rot="0">
            <a:off x="10561777" y="707371"/>
            <a:ext cx="5407714" cy="9099908"/>
          </a:xfrm>
          <a:custGeom>
            <a:avLst/>
            <a:gdLst/>
            <a:ahLst/>
            <a:cxnLst/>
            <a:rect r="r" b="b" t="t" l="l"/>
            <a:pathLst>
              <a:path h="9099908" w="5407714">
                <a:moveTo>
                  <a:pt x="0" y="0"/>
                </a:moveTo>
                <a:lnTo>
                  <a:pt x="5407714" y="0"/>
                </a:lnTo>
                <a:lnTo>
                  <a:pt x="5407714" y="9099908"/>
                </a:lnTo>
                <a:lnTo>
                  <a:pt x="0" y="9099908"/>
                </a:lnTo>
                <a:lnTo>
                  <a:pt x="0" y="0"/>
                </a:lnTo>
                <a:close/>
              </a:path>
            </a:pathLst>
          </a:custGeom>
          <a:blipFill>
            <a:blip r:embed="rId11"/>
            <a:stretch>
              <a:fillRect l="0" t="0" r="0" b="0"/>
            </a:stretch>
          </a:blipFill>
        </p:spPr>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10" id="10"/>
          <p:cNvSpPr txBox="true"/>
          <p:nvPr/>
        </p:nvSpPr>
        <p:spPr>
          <a:xfrm rot="0">
            <a:off x="1671100" y="3806427"/>
            <a:ext cx="6957146" cy="2447925"/>
          </a:xfrm>
          <a:prstGeom prst="rect">
            <a:avLst/>
          </a:prstGeom>
        </p:spPr>
        <p:txBody>
          <a:bodyPr anchor="t" rtlCol="false" tIns="0" lIns="0" bIns="0" rIns="0">
            <a:spAutoFit/>
          </a:bodyPr>
          <a:lstStyle/>
          <a:p>
            <a:pPr algn="ctr">
              <a:lnSpc>
                <a:spcPts val="6480"/>
              </a:lnSpc>
            </a:pPr>
            <a:r>
              <a:rPr lang="en-US" sz="5400">
                <a:solidFill>
                  <a:srgbClr val="F5F5F5"/>
                </a:solidFill>
                <a:latin typeface="Alata"/>
                <a:ea typeface="Alata"/>
                <a:cs typeface="Alata"/>
                <a:sym typeface="Alata"/>
              </a:rPr>
              <a:t>SƠ ĐỒ USECASE </a:t>
            </a:r>
          </a:p>
          <a:p>
            <a:pPr algn="ctr">
              <a:lnSpc>
                <a:spcPts val="6480"/>
              </a:lnSpc>
            </a:pPr>
            <a:r>
              <a:rPr lang="en-US" sz="5400">
                <a:solidFill>
                  <a:srgbClr val="F5F5F5"/>
                </a:solidFill>
                <a:latin typeface="Alata"/>
                <a:ea typeface="Alata"/>
                <a:cs typeface="Alata"/>
                <a:sym typeface="Alata"/>
              </a:rPr>
              <a:t> CHỨC NĂNG</a:t>
            </a:r>
          </a:p>
          <a:p>
            <a:pPr algn="ctr">
              <a:lnSpc>
                <a:spcPts val="6480"/>
              </a:lnSpc>
            </a:pPr>
            <a:r>
              <a:rPr lang="en-US" sz="5400">
                <a:solidFill>
                  <a:srgbClr val="F5F5F5"/>
                </a:solidFill>
                <a:latin typeface="Alata"/>
                <a:ea typeface="Alata"/>
                <a:cs typeface="Alata"/>
                <a:sym typeface="Alata"/>
              </a:rPr>
              <a:t>CỦA QUẢN TRỊ VIÊN</a:t>
            </a:r>
          </a:p>
        </p:txBody>
      </p:sp>
      <p:sp>
        <p:nvSpPr>
          <p:cNvPr name="Freeform 11" id="11"/>
          <p:cNvSpPr/>
          <p:nvPr/>
        </p:nvSpPr>
        <p:spPr>
          <a:xfrm flipH="false" flipV="false" rot="0">
            <a:off x="9717881" y="700461"/>
            <a:ext cx="7857937" cy="8886078"/>
          </a:xfrm>
          <a:custGeom>
            <a:avLst/>
            <a:gdLst/>
            <a:ahLst/>
            <a:cxnLst/>
            <a:rect r="r" b="b" t="t" l="l"/>
            <a:pathLst>
              <a:path h="8886078" w="7857937">
                <a:moveTo>
                  <a:pt x="0" y="0"/>
                </a:moveTo>
                <a:lnTo>
                  <a:pt x="7857937" y="0"/>
                </a:lnTo>
                <a:lnTo>
                  <a:pt x="7857937" y="8886078"/>
                </a:lnTo>
                <a:lnTo>
                  <a:pt x="0" y="8886078"/>
                </a:lnTo>
                <a:lnTo>
                  <a:pt x="0" y="0"/>
                </a:lnTo>
                <a:close/>
              </a:path>
            </a:pathLst>
          </a:custGeom>
          <a:blipFill>
            <a:blip r:embed="rId11"/>
            <a:stretch>
              <a:fillRect l="0" t="0" r="0" b="0"/>
            </a:stretch>
          </a:blipFill>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10" id="10"/>
          <p:cNvSpPr txBox="true"/>
          <p:nvPr/>
        </p:nvSpPr>
        <p:spPr>
          <a:xfrm rot="0">
            <a:off x="1565017" y="3806427"/>
            <a:ext cx="6957146" cy="2447925"/>
          </a:xfrm>
          <a:prstGeom prst="rect">
            <a:avLst/>
          </a:prstGeom>
        </p:spPr>
        <p:txBody>
          <a:bodyPr anchor="t" rtlCol="false" tIns="0" lIns="0" bIns="0" rIns="0">
            <a:spAutoFit/>
          </a:bodyPr>
          <a:lstStyle/>
          <a:p>
            <a:pPr algn="ctr">
              <a:lnSpc>
                <a:spcPts val="6480"/>
              </a:lnSpc>
            </a:pPr>
            <a:r>
              <a:rPr lang="en-US" sz="5400">
                <a:solidFill>
                  <a:srgbClr val="F5F5F5"/>
                </a:solidFill>
                <a:latin typeface="Alata"/>
                <a:ea typeface="Alata"/>
                <a:cs typeface="Alata"/>
                <a:sym typeface="Alata"/>
              </a:rPr>
              <a:t>SƠ ĐỒ USECASE </a:t>
            </a:r>
          </a:p>
          <a:p>
            <a:pPr algn="ctr">
              <a:lnSpc>
                <a:spcPts val="6480"/>
              </a:lnSpc>
            </a:pPr>
            <a:r>
              <a:rPr lang="en-US" sz="5400">
                <a:solidFill>
                  <a:srgbClr val="F5F5F5"/>
                </a:solidFill>
                <a:latin typeface="Alata"/>
                <a:ea typeface="Alata"/>
                <a:cs typeface="Alata"/>
                <a:sym typeface="Alata"/>
              </a:rPr>
              <a:t> CHỨC NĂNG</a:t>
            </a:r>
          </a:p>
          <a:p>
            <a:pPr algn="ctr">
              <a:lnSpc>
                <a:spcPts val="6480"/>
              </a:lnSpc>
            </a:pPr>
            <a:r>
              <a:rPr lang="en-US" sz="5400">
                <a:solidFill>
                  <a:srgbClr val="F5F5F5"/>
                </a:solidFill>
                <a:latin typeface="Alata"/>
                <a:ea typeface="Alata"/>
                <a:cs typeface="Alata"/>
                <a:sym typeface="Alata"/>
              </a:rPr>
              <a:t>NGƯỜI BÁN HÀNG</a:t>
            </a:r>
          </a:p>
        </p:txBody>
      </p:sp>
      <p:grpSp>
        <p:nvGrpSpPr>
          <p:cNvPr name="Group 11" id="11"/>
          <p:cNvGrpSpPr>
            <a:grpSpLocks noChangeAspect="true"/>
          </p:cNvGrpSpPr>
          <p:nvPr/>
        </p:nvGrpSpPr>
        <p:grpSpPr>
          <a:xfrm rot="0">
            <a:off x="8887226" y="1111831"/>
            <a:ext cx="8688592" cy="8326426"/>
            <a:chOff x="0" y="0"/>
            <a:chExt cx="10619589" cy="10176933"/>
          </a:xfrm>
        </p:grpSpPr>
        <p:sp>
          <p:nvSpPr>
            <p:cNvPr name="Freeform 12" id="12"/>
            <p:cNvSpPr/>
            <p:nvPr/>
          </p:nvSpPr>
          <p:spPr>
            <a:xfrm flipH="false" flipV="false" rot="0">
              <a:off x="0" y="0"/>
              <a:ext cx="10619613" cy="10176891"/>
            </a:xfrm>
            <a:custGeom>
              <a:avLst/>
              <a:gdLst/>
              <a:ahLst/>
              <a:cxnLst/>
              <a:rect r="r" b="b" t="t" l="l"/>
              <a:pathLst>
                <a:path h="10176891" w="10619613">
                  <a:moveTo>
                    <a:pt x="0" y="0"/>
                  </a:moveTo>
                  <a:lnTo>
                    <a:pt x="10619613" y="0"/>
                  </a:lnTo>
                  <a:lnTo>
                    <a:pt x="10619613" y="10176891"/>
                  </a:lnTo>
                  <a:lnTo>
                    <a:pt x="0" y="10176891"/>
                  </a:lnTo>
                  <a:lnTo>
                    <a:pt x="0" y="0"/>
                  </a:lnTo>
                  <a:close/>
                </a:path>
              </a:pathLst>
            </a:custGeom>
            <a:blipFill>
              <a:blip r:embed="rId11"/>
              <a:stretch>
                <a:fillRect l="-3" t="0" r="-3" b="0"/>
              </a:stretch>
            </a:blipFill>
          </p:spPr>
        </p:sp>
      </p:gr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10" id="10"/>
          <p:cNvSpPr txBox="true"/>
          <p:nvPr/>
        </p:nvSpPr>
        <p:spPr>
          <a:xfrm rot="0">
            <a:off x="1028700" y="3806427"/>
            <a:ext cx="6957146" cy="2447925"/>
          </a:xfrm>
          <a:prstGeom prst="rect">
            <a:avLst/>
          </a:prstGeom>
        </p:spPr>
        <p:txBody>
          <a:bodyPr anchor="t" rtlCol="false" tIns="0" lIns="0" bIns="0" rIns="0">
            <a:spAutoFit/>
          </a:bodyPr>
          <a:lstStyle/>
          <a:p>
            <a:pPr algn="ctr">
              <a:lnSpc>
                <a:spcPts val="6480"/>
              </a:lnSpc>
            </a:pPr>
            <a:r>
              <a:rPr lang="en-US" sz="5400">
                <a:solidFill>
                  <a:srgbClr val="F5F5F5"/>
                </a:solidFill>
                <a:latin typeface="Alata"/>
                <a:ea typeface="Alata"/>
                <a:cs typeface="Alata"/>
                <a:sym typeface="Alata"/>
              </a:rPr>
              <a:t>SƠ ĐỒ USECASE </a:t>
            </a:r>
          </a:p>
          <a:p>
            <a:pPr algn="ctr">
              <a:lnSpc>
                <a:spcPts val="6480"/>
              </a:lnSpc>
            </a:pPr>
            <a:r>
              <a:rPr lang="en-US" sz="5400">
                <a:solidFill>
                  <a:srgbClr val="F5F5F5"/>
                </a:solidFill>
                <a:latin typeface="Alata"/>
                <a:ea typeface="Alata"/>
                <a:cs typeface="Alata"/>
                <a:sym typeface="Alata"/>
              </a:rPr>
              <a:t> CHỨC NĂNG</a:t>
            </a:r>
          </a:p>
          <a:p>
            <a:pPr algn="ctr">
              <a:lnSpc>
                <a:spcPts val="6480"/>
              </a:lnSpc>
            </a:pPr>
            <a:r>
              <a:rPr lang="en-US" sz="5400">
                <a:solidFill>
                  <a:srgbClr val="F5F5F5"/>
                </a:solidFill>
                <a:latin typeface="Alata"/>
                <a:ea typeface="Alata"/>
                <a:cs typeface="Alata"/>
                <a:sym typeface="Alata"/>
              </a:rPr>
              <a:t>THANH TOÁN</a:t>
            </a:r>
          </a:p>
        </p:txBody>
      </p:sp>
      <p:grpSp>
        <p:nvGrpSpPr>
          <p:cNvPr name="Group 11" id="11"/>
          <p:cNvGrpSpPr>
            <a:grpSpLocks noChangeAspect="true"/>
          </p:cNvGrpSpPr>
          <p:nvPr/>
        </p:nvGrpSpPr>
        <p:grpSpPr>
          <a:xfrm rot="0">
            <a:off x="8575610" y="1801594"/>
            <a:ext cx="8683690" cy="6946900"/>
            <a:chOff x="0" y="0"/>
            <a:chExt cx="11578253" cy="9262533"/>
          </a:xfrm>
        </p:grpSpPr>
        <p:sp>
          <p:nvSpPr>
            <p:cNvPr name="Freeform 12" id="12"/>
            <p:cNvSpPr/>
            <p:nvPr/>
          </p:nvSpPr>
          <p:spPr>
            <a:xfrm flipH="false" flipV="false" rot="0">
              <a:off x="0" y="0"/>
              <a:ext cx="11578209" cy="9262491"/>
            </a:xfrm>
            <a:custGeom>
              <a:avLst/>
              <a:gdLst/>
              <a:ahLst/>
              <a:cxnLst/>
              <a:rect r="r" b="b" t="t" l="l"/>
              <a:pathLst>
                <a:path h="9262491" w="11578209">
                  <a:moveTo>
                    <a:pt x="0" y="0"/>
                  </a:moveTo>
                  <a:lnTo>
                    <a:pt x="11578209" y="0"/>
                  </a:lnTo>
                  <a:lnTo>
                    <a:pt x="11578209" y="9262491"/>
                  </a:lnTo>
                  <a:lnTo>
                    <a:pt x="0" y="9262491"/>
                  </a:lnTo>
                  <a:lnTo>
                    <a:pt x="0" y="0"/>
                  </a:lnTo>
                  <a:close/>
                </a:path>
              </a:pathLst>
            </a:custGeom>
            <a:blipFill>
              <a:blip r:embed="rId11"/>
              <a:stretch>
                <a:fillRect l="-18" t="0" r="-18" b="0"/>
              </a:stretch>
            </a:blipFill>
          </p:spPr>
        </p:sp>
      </p:gr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10" id="10"/>
          <p:cNvSpPr/>
          <p:nvPr/>
        </p:nvSpPr>
        <p:spPr>
          <a:xfrm flipH="false" flipV="false" rot="0">
            <a:off x="750302" y="2508879"/>
            <a:ext cx="4149110" cy="5616392"/>
          </a:xfrm>
          <a:custGeom>
            <a:avLst/>
            <a:gdLst/>
            <a:ahLst/>
            <a:cxnLst/>
            <a:rect r="r" b="b" t="t" l="l"/>
            <a:pathLst>
              <a:path h="5616392" w="4149110">
                <a:moveTo>
                  <a:pt x="0" y="0"/>
                </a:moveTo>
                <a:lnTo>
                  <a:pt x="4149110" y="0"/>
                </a:lnTo>
                <a:lnTo>
                  <a:pt x="4149110" y="5616391"/>
                </a:lnTo>
                <a:lnTo>
                  <a:pt x="0" y="5616391"/>
                </a:lnTo>
                <a:lnTo>
                  <a:pt x="0" y="0"/>
                </a:lnTo>
                <a:close/>
              </a:path>
            </a:pathLst>
          </a:custGeom>
          <a:blipFill>
            <a:blip r:embed="rId11"/>
            <a:stretch>
              <a:fillRect l="0" t="0" r="0" b="0"/>
            </a:stretch>
          </a:blipFill>
        </p:spPr>
      </p:sp>
      <p:sp>
        <p:nvSpPr>
          <p:cNvPr name="Freeform 11" id="11"/>
          <p:cNvSpPr/>
          <p:nvPr/>
        </p:nvSpPr>
        <p:spPr>
          <a:xfrm flipH="false" flipV="false" rot="0">
            <a:off x="5297623" y="2466848"/>
            <a:ext cx="3791065" cy="5616392"/>
          </a:xfrm>
          <a:custGeom>
            <a:avLst/>
            <a:gdLst/>
            <a:ahLst/>
            <a:cxnLst/>
            <a:rect r="r" b="b" t="t" l="l"/>
            <a:pathLst>
              <a:path h="5616392" w="3791065">
                <a:moveTo>
                  <a:pt x="0" y="0"/>
                </a:moveTo>
                <a:lnTo>
                  <a:pt x="3791065" y="0"/>
                </a:lnTo>
                <a:lnTo>
                  <a:pt x="3791065" y="5616392"/>
                </a:lnTo>
                <a:lnTo>
                  <a:pt x="0" y="5616392"/>
                </a:lnTo>
                <a:lnTo>
                  <a:pt x="0" y="0"/>
                </a:lnTo>
                <a:close/>
              </a:path>
            </a:pathLst>
          </a:custGeom>
          <a:blipFill>
            <a:blip r:embed="rId12"/>
            <a:stretch>
              <a:fillRect l="0" t="0" r="0" b="0"/>
            </a:stretch>
          </a:blipFill>
        </p:spPr>
      </p:sp>
      <p:sp>
        <p:nvSpPr>
          <p:cNvPr name="Freeform 12" id="12"/>
          <p:cNvSpPr/>
          <p:nvPr/>
        </p:nvSpPr>
        <p:spPr>
          <a:xfrm flipH="false" flipV="false" rot="0">
            <a:off x="9488738" y="2157947"/>
            <a:ext cx="3599628" cy="6356958"/>
          </a:xfrm>
          <a:custGeom>
            <a:avLst/>
            <a:gdLst/>
            <a:ahLst/>
            <a:cxnLst/>
            <a:rect r="r" b="b" t="t" l="l"/>
            <a:pathLst>
              <a:path h="6356958" w="3599628">
                <a:moveTo>
                  <a:pt x="0" y="0"/>
                </a:moveTo>
                <a:lnTo>
                  <a:pt x="3599628" y="0"/>
                </a:lnTo>
                <a:lnTo>
                  <a:pt x="3599628" y="6356958"/>
                </a:lnTo>
                <a:lnTo>
                  <a:pt x="0" y="6356958"/>
                </a:lnTo>
                <a:lnTo>
                  <a:pt x="0" y="0"/>
                </a:lnTo>
                <a:close/>
              </a:path>
            </a:pathLst>
          </a:custGeom>
          <a:blipFill>
            <a:blip r:embed="rId13"/>
            <a:stretch>
              <a:fillRect l="0" t="0" r="0" b="0"/>
            </a:stretch>
          </a:blipFill>
        </p:spPr>
      </p:sp>
      <p:sp>
        <p:nvSpPr>
          <p:cNvPr name="Freeform 13" id="13"/>
          <p:cNvSpPr/>
          <p:nvPr/>
        </p:nvSpPr>
        <p:spPr>
          <a:xfrm flipH="false" flipV="false" rot="0">
            <a:off x="13536586" y="2157947"/>
            <a:ext cx="3599628" cy="6356958"/>
          </a:xfrm>
          <a:custGeom>
            <a:avLst/>
            <a:gdLst/>
            <a:ahLst/>
            <a:cxnLst/>
            <a:rect r="r" b="b" t="t" l="l"/>
            <a:pathLst>
              <a:path h="6356958" w="3599628">
                <a:moveTo>
                  <a:pt x="0" y="0"/>
                </a:moveTo>
                <a:lnTo>
                  <a:pt x="3599628" y="0"/>
                </a:lnTo>
                <a:lnTo>
                  <a:pt x="3599628" y="6356958"/>
                </a:lnTo>
                <a:lnTo>
                  <a:pt x="0" y="6356958"/>
                </a:lnTo>
                <a:lnTo>
                  <a:pt x="0" y="0"/>
                </a:lnTo>
                <a:close/>
              </a:path>
            </a:pathLst>
          </a:custGeom>
          <a:blipFill>
            <a:blip r:embed="rId14"/>
            <a:stretch>
              <a:fillRect l="0" t="0" r="0" b="0"/>
            </a:stretch>
          </a:blipFill>
        </p:spPr>
      </p:sp>
      <p:sp>
        <p:nvSpPr>
          <p:cNvPr name="TextBox 14" id="14"/>
          <p:cNvSpPr txBox="true"/>
          <p:nvPr/>
        </p:nvSpPr>
        <p:spPr>
          <a:xfrm rot="0">
            <a:off x="5610115" y="840343"/>
            <a:ext cx="6957146" cy="809625"/>
          </a:xfrm>
          <a:prstGeom prst="rect">
            <a:avLst/>
          </a:prstGeom>
        </p:spPr>
        <p:txBody>
          <a:bodyPr anchor="t" rtlCol="false" tIns="0" lIns="0" bIns="0" rIns="0">
            <a:spAutoFit/>
          </a:bodyPr>
          <a:lstStyle/>
          <a:p>
            <a:pPr algn="ctr">
              <a:lnSpc>
                <a:spcPts val="6480"/>
              </a:lnSpc>
            </a:pPr>
            <a:r>
              <a:rPr lang="en-US" sz="5400">
                <a:solidFill>
                  <a:srgbClr val="F5F5F5"/>
                </a:solidFill>
                <a:latin typeface="Alata"/>
                <a:ea typeface="Alata"/>
                <a:cs typeface="Alata"/>
                <a:sym typeface="Alata"/>
              </a:rPr>
              <a:t>SƠ ĐỒ ACTIVITY</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10" id="10"/>
          <p:cNvSpPr/>
          <p:nvPr/>
        </p:nvSpPr>
        <p:spPr>
          <a:xfrm flipH="false" flipV="false" rot="0">
            <a:off x="750302" y="2358234"/>
            <a:ext cx="7825532" cy="5438745"/>
          </a:xfrm>
          <a:custGeom>
            <a:avLst/>
            <a:gdLst/>
            <a:ahLst/>
            <a:cxnLst/>
            <a:rect r="r" b="b" t="t" l="l"/>
            <a:pathLst>
              <a:path h="5438745" w="7825532">
                <a:moveTo>
                  <a:pt x="0" y="0"/>
                </a:moveTo>
                <a:lnTo>
                  <a:pt x="7825532" y="0"/>
                </a:lnTo>
                <a:lnTo>
                  <a:pt x="7825532" y="5438745"/>
                </a:lnTo>
                <a:lnTo>
                  <a:pt x="0" y="5438745"/>
                </a:lnTo>
                <a:lnTo>
                  <a:pt x="0" y="0"/>
                </a:lnTo>
                <a:close/>
              </a:path>
            </a:pathLst>
          </a:custGeom>
          <a:blipFill>
            <a:blip r:embed="rId11"/>
            <a:stretch>
              <a:fillRect l="0" t="0" r="0" b="0"/>
            </a:stretch>
          </a:blipFill>
        </p:spPr>
      </p:sp>
      <p:sp>
        <p:nvSpPr>
          <p:cNvPr name="Freeform 11" id="11"/>
          <p:cNvSpPr/>
          <p:nvPr/>
        </p:nvSpPr>
        <p:spPr>
          <a:xfrm flipH="false" flipV="false" rot="0">
            <a:off x="9636561" y="2736942"/>
            <a:ext cx="7430681" cy="4681329"/>
          </a:xfrm>
          <a:custGeom>
            <a:avLst/>
            <a:gdLst/>
            <a:ahLst/>
            <a:cxnLst/>
            <a:rect r="r" b="b" t="t" l="l"/>
            <a:pathLst>
              <a:path h="4681329" w="7430681">
                <a:moveTo>
                  <a:pt x="0" y="0"/>
                </a:moveTo>
                <a:lnTo>
                  <a:pt x="7430681" y="0"/>
                </a:lnTo>
                <a:lnTo>
                  <a:pt x="7430681" y="4681329"/>
                </a:lnTo>
                <a:lnTo>
                  <a:pt x="0" y="4681329"/>
                </a:lnTo>
                <a:lnTo>
                  <a:pt x="0" y="0"/>
                </a:lnTo>
                <a:close/>
              </a:path>
            </a:pathLst>
          </a:custGeom>
          <a:blipFill>
            <a:blip r:embed="rId12"/>
            <a:stretch>
              <a:fillRect l="0" t="0" r="0" b="0"/>
            </a:stretch>
          </a:blipFill>
        </p:spPr>
      </p:sp>
      <p:sp>
        <p:nvSpPr>
          <p:cNvPr name="TextBox 12" id="12"/>
          <p:cNvSpPr txBox="true"/>
          <p:nvPr/>
        </p:nvSpPr>
        <p:spPr>
          <a:xfrm rot="0">
            <a:off x="5665427" y="618138"/>
            <a:ext cx="6957146" cy="809625"/>
          </a:xfrm>
          <a:prstGeom prst="rect">
            <a:avLst/>
          </a:prstGeom>
        </p:spPr>
        <p:txBody>
          <a:bodyPr anchor="t" rtlCol="false" tIns="0" lIns="0" bIns="0" rIns="0">
            <a:spAutoFit/>
          </a:bodyPr>
          <a:lstStyle/>
          <a:p>
            <a:pPr algn="ctr">
              <a:lnSpc>
                <a:spcPts val="6480"/>
              </a:lnSpc>
            </a:pPr>
            <a:r>
              <a:rPr lang="en-US" sz="5400">
                <a:solidFill>
                  <a:srgbClr val="F5F5F5"/>
                </a:solidFill>
                <a:latin typeface="Alata"/>
                <a:ea typeface="Alata"/>
                <a:cs typeface="Alata"/>
                <a:sym typeface="Alata"/>
              </a:rPr>
              <a:t>SƠ ĐỒ SEQUENCE</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10" id="10"/>
          <p:cNvSpPr/>
          <p:nvPr/>
        </p:nvSpPr>
        <p:spPr>
          <a:xfrm flipH="false" flipV="false" rot="0">
            <a:off x="864595" y="2284791"/>
            <a:ext cx="7539606" cy="6681976"/>
          </a:xfrm>
          <a:custGeom>
            <a:avLst/>
            <a:gdLst/>
            <a:ahLst/>
            <a:cxnLst/>
            <a:rect r="r" b="b" t="t" l="l"/>
            <a:pathLst>
              <a:path h="6681976" w="7539606">
                <a:moveTo>
                  <a:pt x="0" y="0"/>
                </a:moveTo>
                <a:lnTo>
                  <a:pt x="7539606" y="0"/>
                </a:lnTo>
                <a:lnTo>
                  <a:pt x="7539606" y="6681976"/>
                </a:lnTo>
                <a:lnTo>
                  <a:pt x="0" y="6681976"/>
                </a:lnTo>
                <a:lnTo>
                  <a:pt x="0" y="0"/>
                </a:lnTo>
                <a:close/>
              </a:path>
            </a:pathLst>
          </a:custGeom>
          <a:blipFill>
            <a:blip r:embed="rId11"/>
            <a:stretch>
              <a:fillRect l="0" t="0" r="0" b="0"/>
            </a:stretch>
          </a:blipFill>
        </p:spPr>
      </p:sp>
      <p:sp>
        <p:nvSpPr>
          <p:cNvPr name="Freeform 11" id="11"/>
          <p:cNvSpPr/>
          <p:nvPr/>
        </p:nvSpPr>
        <p:spPr>
          <a:xfrm flipH="false" flipV="false" rot="0">
            <a:off x="9624770" y="2284791"/>
            <a:ext cx="6724001" cy="6681976"/>
          </a:xfrm>
          <a:custGeom>
            <a:avLst/>
            <a:gdLst/>
            <a:ahLst/>
            <a:cxnLst/>
            <a:rect r="r" b="b" t="t" l="l"/>
            <a:pathLst>
              <a:path h="6681976" w="6724001">
                <a:moveTo>
                  <a:pt x="0" y="0"/>
                </a:moveTo>
                <a:lnTo>
                  <a:pt x="6724001" y="0"/>
                </a:lnTo>
                <a:lnTo>
                  <a:pt x="6724001" y="6681976"/>
                </a:lnTo>
                <a:lnTo>
                  <a:pt x="0" y="6681976"/>
                </a:lnTo>
                <a:lnTo>
                  <a:pt x="0" y="0"/>
                </a:lnTo>
                <a:close/>
              </a:path>
            </a:pathLst>
          </a:custGeom>
          <a:blipFill>
            <a:blip r:embed="rId12"/>
            <a:stretch>
              <a:fillRect l="0" t="0" r="0" b="0"/>
            </a:stretch>
          </a:blipFill>
        </p:spPr>
      </p:sp>
      <p:sp>
        <p:nvSpPr>
          <p:cNvPr name="TextBox 12" id="12"/>
          <p:cNvSpPr txBox="true"/>
          <p:nvPr/>
        </p:nvSpPr>
        <p:spPr>
          <a:xfrm rot="0">
            <a:off x="5665427" y="618138"/>
            <a:ext cx="6957146" cy="809625"/>
          </a:xfrm>
          <a:prstGeom prst="rect">
            <a:avLst/>
          </a:prstGeom>
        </p:spPr>
        <p:txBody>
          <a:bodyPr anchor="t" rtlCol="false" tIns="0" lIns="0" bIns="0" rIns="0">
            <a:spAutoFit/>
          </a:bodyPr>
          <a:lstStyle/>
          <a:p>
            <a:pPr algn="ctr">
              <a:lnSpc>
                <a:spcPts val="6480"/>
              </a:lnSpc>
            </a:pPr>
            <a:r>
              <a:rPr lang="en-US" sz="5400">
                <a:solidFill>
                  <a:srgbClr val="F5F5F5"/>
                </a:solidFill>
                <a:latin typeface="Alata"/>
                <a:ea typeface="Alata"/>
                <a:cs typeface="Alata"/>
                <a:sym typeface="Alata"/>
              </a:rPr>
              <a:t>SƠ ĐỒ SEQUENCE</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10" id="10"/>
          <p:cNvSpPr/>
          <p:nvPr/>
        </p:nvSpPr>
        <p:spPr>
          <a:xfrm flipH="false" flipV="false" rot="0">
            <a:off x="10216679" y="619428"/>
            <a:ext cx="5410369" cy="9046172"/>
          </a:xfrm>
          <a:custGeom>
            <a:avLst/>
            <a:gdLst/>
            <a:ahLst/>
            <a:cxnLst/>
            <a:rect r="r" b="b" t="t" l="l"/>
            <a:pathLst>
              <a:path h="9046172" w="5410369">
                <a:moveTo>
                  <a:pt x="0" y="0"/>
                </a:moveTo>
                <a:lnTo>
                  <a:pt x="5410369" y="0"/>
                </a:lnTo>
                <a:lnTo>
                  <a:pt x="5410369" y="9046172"/>
                </a:lnTo>
                <a:lnTo>
                  <a:pt x="0" y="9046172"/>
                </a:lnTo>
                <a:lnTo>
                  <a:pt x="0" y="0"/>
                </a:lnTo>
                <a:close/>
              </a:path>
            </a:pathLst>
          </a:custGeom>
          <a:blipFill>
            <a:blip r:embed="rId11"/>
            <a:stretch>
              <a:fillRect l="0" t="-3564" r="0" b="0"/>
            </a:stretch>
          </a:blipFill>
        </p:spPr>
      </p:sp>
      <p:sp>
        <p:nvSpPr>
          <p:cNvPr name="TextBox 11" id="11"/>
          <p:cNvSpPr txBox="true"/>
          <p:nvPr/>
        </p:nvSpPr>
        <p:spPr>
          <a:xfrm rot="0">
            <a:off x="1671100" y="4038125"/>
            <a:ext cx="6516104" cy="809625"/>
          </a:xfrm>
          <a:prstGeom prst="rect">
            <a:avLst/>
          </a:prstGeom>
        </p:spPr>
        <p:txBody>
          <a:bodyPr anchor="t" rtlCol="false" tIns="0" lIns="0" bIns="0" rIns="0">
            <a:spAutoFit/>
          </a:bodyPr>
          <a:lstStyle/>
          <a:p>
            <a:pPr algn="ctr">
              <a:lnSpc>
                <a:spcPts val="6480"/>
              </a:lnSpc>
            </a:pPr>
            <a:r>
              <a:rPr lang="en-US" sz="5400">
                <a:solidFill>
                  <a:srgbClr val="F5F5F5"/>
                </a:solidFill>
                <a:latin typeface="Alata"/>
                <a:ea typeface="Alata"/>
                <a:cs typeface="Alata"/>
                <a:sym typeface="Alata"/>
              </a:rPr>
              <a:t>SƠ ĐỒ CLASS</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5336400" y="-1760526"/>
            <a:ext cx="4478836" cy="5557428"/>
          </a:xfrm>
          <a:custGeom>
            <a:avLst/>
            <a:gdLst/>
            <a:ahLst/>
            <a:cxnLst/>
            <a:rect r="r" b="b" t="t" l="l"/>
            <a:pathLst>
              <a:path h="5557428" w="4478836">
                <a:moveTo>
                  <a:pt x="0" y="0"/>
                </a:moveTo>
                <a:lnTo>
                  <a:pt x="4478836" y="0"/>
                </a:lnTo>
                <a:lnTo>
                  <a:pt x="4478836" y="5557428"/>
                </a:lnTo>
                <a:lnTo>
                  <a:pt x="0" y="5557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9236" y="5275044"/>
            <a:ext cx="670718" cy="1805200"/>
          </a:xfrm>
          <a:custGeom>
            <a:avLst/>
            <a:gdLst/>
            <a:ahLst/>
            <a:cxnLst/>
            <a:rect r="r" b="b" t="t" l="l"/>
            <a:pathLst>
              <a:path h="1805200" w="670718">
                <a:moveTo>
                  <a:pt x="0" y="0"/>
                </a:moveTo>
                <a:lnTo>
                  <a:pt x="670718" y="0"/>
                </a:lnTo>
                <a:lnTo>
                  <a:pt x="670718" y="1805200"/>
                </a:lnTo>
                <a:lnTo>
                  <a:pt x="0" y="1805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58834" y="6556866"/>
            <a:ext cx="4883354" cy="3916078"/>
          </a:xfrm>
          <a:custGeom>
            <a:avLst/>
            <a:gdLst/>
            <a:ahLst/>
            <a:cxnLst/>
            <a:rect r="r" b="b" t="t" l="l"/>
            <a:pathLst>
              <a:path h="3916078" w="4883354">
                <a:moveTo>
                  <a:pt x="0" y="0"/>
                </a:moveTo>
                <a:lnTo>
                  <a:pt x="4883354" y="0"/>
                </a:lnTo>
                <a:lnTo>
                  <a:pt x="4883354" y="3916078"/>
                </a:lnTo>
                <a:lnTo>
                  <a:pt x="0" y="3916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302" y="5704750"/>
            <a:ext cx="201482" cy="1145304"/>
          </a:xfrm>
          <a:custGeom>
            <a:avLst/>
            <a:gdLst/>
            <a:ahLst/>
            <a:cxnLst/>
            <a:rect r="r" b="b" t="t" l="l"/>
            <a:pathLst>
              <a:path h="1145304" w="201482">
                <a:moveTo>
                  <a:pt x="0" y="0"/>
                </a:moveTo>
                <a:lnTo>
                  <a:pt x="201482" y="0"/>
                </a:lnTo>
                <a:lnTo>
                  <a:pt x="201482" y="1145304"/>
                </a:lnTo>
                <a:lnTo>
                  <a:pt x="0" y="114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937300" y="7586050"/>
            <a:ext cx="3608400" cy="3608400"/>
            <a:chOff x="0" y="0"/>
            <a:chExt cx="4811200" cy="4811200"/>
          </a:xfrm>
        </p:grpSpPr>
        <p:sp>
          <p:nvSpPr>
            <p:cNvPr name="Freeform 7" id="7"/>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16348950" y="4028600"/>
            <a:ext cx="5637000" cy="5637000"/>
            <a:chOff x="0" y="0"/>
            <a:chExt cx="7516000" cy="7516000"/>
          </a:xfrm>
        </p:grpSpPr>
        <p:sp>
          <p:nvSpPr>
            <p:cNvPr name="Freeform 9" id="9"/>
            <p:cNvSpPr/>
            <p:nvPr/>
          </p:nvSpPr>
          <p:spPr>
            <a:xfrm flipH="false" flipV="false" rot="0">
              <a:off x="0" y="0"/>
              <a:ext cx="7515987" cy="7515987"/>
            </a:xfrm>
            <a:custGeom>
              <a:avLst/>
              <a:gdLst/>
              <a:ahLst/>
              <a:cxnLst/>
              <a:rect r="r" b="b" t="t" l="l"/>
              <a:pathLst>
                <a:path h="7515987" w="7515987">
                  <a:moveTo>
                    <a:pt x="0" y="3758057"/>
                  </a:moveTo>
                  <a:cubicBezTo>
                    <a:pt x="0" y="1682496"/>
                    <a:pt x="1682496" y="0"/>
                    <a:pt x="3758057" y="0"/>
                  </a:cubicBezTo>
                  <a:cubicBezTo>
                    <a:pt x="5833618" y="0"/>
                    <a:pt x="7515987" y="1682496"/>
                    <a:pt x="7515987" y="3758057"/>
                  </a:cubicBezTo>
                  <a:cubicBezTo>
                    <a:pt x="7515987" y="5833618"/>
                    <a:pt x="5833491" y="7515987"/>
                    <a:pt x="3758057" y="7515987"/>
                  </a:cubicBezTo>
                  <a:cubicBezTo>
                    <a:pt x="1682623" y="7515987"/>
                    <a:pt x="0" y="5833491"/>
                    <a:pt x="0" y="3758057"/>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10" id="10"/>
          <p:cNvSpPr/>
          <p:nvPr/>
        </p:nvSpPr>
        <p:spPr>
          <a:xfrm flipH="false" flipV="false" rot="0">
            <a:off x="2767014" y="1849464"/>
            <a:ext cx="12753973" cy="7540786"/>
          </a:xfrm>
          <a:custGeom>
            <a:avLst/>
            <a:gdLst/>
            <a:ahLst/>
            <a:cxnLst/>
            <a:rect r="r" b="b" t="t" l="l"/>
            <a:pathLst>
              <a:path h="7540786" w="12753973">
                <a:moveTo>
                  <a:pt x="0" y="0"/>
                </a:moveTo>
                <a:lnTo>
                  <a:pt x="12753972" y="0"/>
                </a:lnTo>
                <a:lnTo>
                  <a:pt x="12753972" y="7540786"/>
                </a:lnTo>
                <a:lnTo>
                  <a:pt x="0" y="7540786"/>
                </a:lnTo>
                <a:lnTo>
                  <a:pt x="0" y="0"/>
                </a:lnTo>
                <a:close/>
              </a:path>
            </a:pathLst>
          </a:custGeom>
          <a:blipFill>
            <a:blip r:embed="rId11"/>
            <a:stretch>
              <a:fillRect l="0" t="0" r="0" b="0"/>
            </a:stretch>
          </a:blipFill>
        </p:spPr>
      </p:sp>
      <p:sp>
        <p:nvSpPr>
          <p:cNvPr name="TextBox 11" id="11"/>
          <p:cNvSpPr txBox="true"/>
          <p:nvPr/>
        </p:nvSpPr>
        <p:spPr>
          <a:xfrm rot="0">
            <a:off x="7258519" y="797320"/>
            <a:ext cx="3770963" cy="809625"/>
          </a:xfrm>
          <a:prstGeom prst="rect">
            <a:avLst/>
          </a:prstGeom>
        </p:spPr>
        <p:txBody>
          <a:bodyPr anchor="t" rtlCol="false" tIns="0" lIns="0" bIns="0" rIns="0">
            <a:spAutoFit/>
          </a:bodyPr>
          <a:lstStyle/>
          <a:p>
            <a:pPr algn="l">
              <a:lnSpc>
                <a:spcPts val="6480"/>
              </a:lnSpc>
            </a:pPr>
            <a:r>
              <a:rPr lang="en-US" sz="5400">
                <a:solidFill>
                  <a:srgbClr val="F5F5F5"/>
                </a:solidFill>
                <a:latin typeface="Alata"/>
                <a:ea typeface="Alata"/>
                <a:cs typeface="Alata"/>
                <a:sym typeface="Alata"/>
              </a:rPr>
              <a:t>SƠ ĐỒ ERD</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3740100" y="7165650"/>
            <a:ext cx="10807800" cy="10807800"/>
            <a:chOff x="0" y="0"/>
            <a:chExt cx="14410400" cy="14410400"/>
          </a:xfrm>
        </p:grpSpPr>
        <p:sp>
          <p:nvSpPr>
            <p:cNvPr name="Freeform 3" id="3"/>
            <p:cNvSpPr/>
            <p:nvPr/>
          </p:nvSpPr>
          <p:spPr>
            <a:xfrm flipH="false" flipV="false" rot="0">
              <a:off x="0" y="0"/>
              <a:ext cx="14410437" cy="14410437"/>
            </a:xfrm>
            <a:custGeom>
              <a:avLst/>
              <a:gdLst/>
              <a:ahLst/>
              <a:cxnLst/>
              <a:rect r="r" b="b" t="t" l="l"/>
              <a:pathLst>
                <a:path h="14410437" w="14410437">
                  <a:moveTo>
                    <a:pt x="0" y="7205218"/>
                  </a:moveTo>
                  <a:cubicBezTo>
                    <a:pt x="0" y="3225927"/>
                    <a:pt x="3225927" y="0"/>
                    <a:pt x="7205218" y="0"/>
                  </a:cubicBezTo>
                  <a:cubicBezTo>
                    <a:pt x="11184510" y="0"/>
                    <a:pt x="14410437" y="3225927"/>
                    <a:pt x="14410437" y="7205218"/>
                  </a:cubicBezTo>
                  <a:cubicBezTo>
                    <a:pt x="14410437" y="11184510"/>
                    <a:pt x="11184510" y="14410437"/>
                    <a:pt x="7205218" y="14410437"/>
                  </a:cubicBezTo>
                  <a:cubicBezTo>
                    <a:pt x="3225927" y="14410437"/>
                    <a:pt x="0" y="11184509"/>
                    <a:pt x="0" y="7205218"/>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4" id="4"/>
          <p:cNvSpPr/>
          <p:nvPr/>
        </p:nvSpPr>
        <p:spPr>
          <a:xfrm flipH="false" flipV="false" rot="0">
            <a:off x="8796646" y="-2935366"/>
            <a:ext cx="5566410" cy="4065692"/>
          </a:xfrm>
          <a:custGeom>
            <a:avLst/>
            <a:gdLst/>
            <a:ahLst/>
            <a:cxnLst/>
            <a:rect r="r" b="b" t="t" l="l"/>
            <a:pathLst>
              <a:path h="4065692" w="5566410">
                <a:moveTo>
                  <a:pt x="0" y="0"/>
                </a:moveTo>
                <a:lnTo>
                  <a:pt x="5566410" y="0"/>
                </a:lnTo>
                <a:lnTo>
                  <a:pt x="5566410" y="4065692"/>
                </a:lnTo>
                <a:lnTo>
                  <a:pt x="0" y="40656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6409466" y="631610"/>
            <a:ext cx="5469069" cy="5469069"/>
            <a:chOff x="0" y="0"/>
            <a:chExt cx="6028800" cy="6028800"/>
          </a:xfrm>
        </p:grpSpPr>
        <p:sp>
          <p:nvSpPr>
            <p:cNvPr name="Freeform 6" id="6"/>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7" id="7"/>
          <p:cNvSpPr txBox="true"/>
          <p:nvPr/>
        </p:nvSpPr>
        <p:spPr>
          <a:xfrm rot="0">
            <a:off x="6329770" y="5098645"/>
            <a:ext cx="5628561" cy="1514475"/>
          </a:xfrm>
          <a:prstGeom prst="rect">
            <a:avLst/>
          </a:prstGeom>
        </p:spPr>
        <p:txBody>
          <a:bodyPr anchor="t" rtlCol="false" tIns="0" lIns="0" bIns="0" rIns="0">
            <a:spAutoFit/>
          </a:bodyPr>
          <a:lstStyle/>
          <a:p>
            <a:pPr algn="ctr">
              <a:lnSpc>
                <a:spcPts val="11999"/>
              </a:lnSpc>
            </a:pPr>
            <a:r>
              <a:rPr lang="en-US" sz="9999">
                <a:solidFill>
                  <a:srgbClr val="F5F5F5"/>
                </a:solidFill>
                <a:latin typeface="Alata"/>
                <a:ea typeface="Alata"/>
                <a:cs typeface="Alata"/>
                <a:sym typeface="Alata"/>
              </a:rPr>
              <a:t>FE</a:t>
            </a:r>
            <a:r>
              <a:rPr lang="en-US" sz="9999">
                <a:solidFill>
                  <a:srgbClr val="F5F5F5"/>
                </a:solidFill>
                <a:latin typeface="Alata"/>
                <a:ea typeface="Alata"/>
                <a:cs typeface="Alata"/>
                <a:sym typeface="Alata"/>
              </a:rPr>
              <a:t>ATURES</a:t>
            </a:r>
          </a:p>
        </p:txBody>
      </p:sp>
      <p:sp>
        <p:nvSpPr>
          <p:cNvPr name="Freeform 8" id="8"/>
          <p:cNvSpPr/>
          <p:nvPr/>
        </p:nvSpPr>
        <p:spPr>
          <a:xfrm flipH="false" flipV="false" rot="0">
            <a:off x="3808198" y="-3058868"/>
            <a:ext cx="5675680" cy="7103626"/>
          </a:xfrm>
          <a:custGeom>
            <a:avLst/>
            <a:gdLst/>
            <a:ahLst/>
            <a:cxnLst/>
            <a:rect r="r" b="b" t="t" l="l"/>
            <a:pathLst>
              <a:path h="7103626" w="5675680">
                <a:moveTo>
                  <a:pt x="0" y="0"/>
                </a:moveTo>
                <a:lnTo>
                  <a:pt x="5675680" y="0"/>
                </a:lnTo>
                <a:lnTo>
                  <a:pt x="5675680" y="7103626"/>
                </a:lnTo>
                <a:lnTo>
                  <a:pt x="0" y="71036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5409300" y="6948126"/>
            <a:ext cx="7469400" cy="66600"/>
            <a:chOff x="0" y="0"/>
            <a:chExt cx="9959200" cy="88800"/>
          </a:xfrm>
        </p:grpSpPr>
        <p:sp>
          <p:nvSpPr>
            <p:cNvPr name="Freeform 10" id="10"/>
            <p:cNvSpPr/>
            <p:nvPr/>
          </p:nvSpPr>
          <p:spPr>
            <a:xfrm flipH="false" flipV="false" rot="0">
              <a:off x="0" y="0"/>
              <a:ext cx="9959213" cy="88773"/>
            </a:xfrm>
            <a:custGeom>
              <a:avLst/>
              <a:gdLst/>
              <a:ahLst/>
              <a:cxnLst/>
              <a:rect r="r" b="b" t="t" l="l"/>
              <a:pathLst>
                <a:path h="88773" w="9959213">
                  <a:moveTo>
                    <a:pt x="0" y="0"/>
                  </a:moveTo>
                  <a:lnTo>
                    <a:pt x="9959213" y="0"/>
                  </a:lnTo>
                  <a:lnTo>
                    <a:pt x="9959213" y="88773"/>
                  </a:lnTo>
                  <a:lnTo>
                    <a:pt x="0" y="88773"/>
                  </a:lnTo>
                  <a:close/>
                </a:path>
              </a:pathLst>
            </a:custGeom>
            <a:gradFill rotWithShape="true">
              <a:gsLst>
                <a:gs pos="0">
                  <a:srgbClr val="49E1BB">
                    <a:alpha val="100000"/>
                  </a:srgbClr>
                </a:gs>
                <a:gs pos="100000">
                  <a:srgbClr val="1E8A6F">
                    <a:alpha val="100000"/>
                  </a:srgbClr>
                </a:gs>
              </a:gsLst>
              <a:path path="circle">
                <a:fillToRect l="50000" r="50000" t="50000" b="50000"/>
              </a:path>
            </a:gradFill>
          </p:spPr>
        </p:sp>
      </p:grpSp>
      <p:sp>
        <p:nvSpPr>
          <p:cNvPr name="Freeform 11" id="11"/>
          <p:cNvSpPr/>
          <p:nvPr/>
        </p:nvSpPr>
        <p:spPr>
          <a:xfrm flipH="false" flipV="false" rot="0">
            <a:off x="3954668" y="7522914"/>
            <a:ext cx="10013198" cy="5094416"/>
          </a:xfrm>
          <a:custGeom>
            <a:avLst/>
            <a:gdLst/>
            <a:ahLst/>
            <a:cxnLst/>
            <a:rect r="r" b="b" t="t" l="l"/>
            <a:pathLst>
              <a:path h="5094416" w="10013198">
                <a:moveTo>
                  <a:pt x="0" y="0"/>
                </a:moveTo>
                <a:lnTo>
                  <a:pt x="10013198" y="0"/>
                </a:lnTo>
                <a:lnTo>
                  <a:pt x="10013198" y="5094416"/>
                </a:lnTo>
                <a:lnTo>
                  <a:pt x="0" y="50944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7492792" y="1786045"/>
            <a:ext cx="3125108" cy="3160200"/>
            <a:chOff x="0" y="0"/>
            <a:chExt cx="1959200" cy="1981200"/>
          </a:xfrm>
        </p:grpSpPr>
        <p:sp>
          <p:nvSpPr>
            <p:cNvPr name="Freeform 13" id="13"/>
            <p:cNvSpPr/>
            <p:nvPr/>
          </p:nvSpPr>
          <p:spPr>
            <a:xfrm flipH="false" flipV="false" rot="0">
              <a:off x="0" y="0"/>
              <a:ext cx="1959229" cy="1981203"/>
            </a:xfrm>
            <a:custGeom>
              <a:avLst/>
              <a:gdLst/>
              <a:ahLst/>
              <a:cxnLst/>
              <a:rect r="r" b="b" t="t" l="l"/>
              <a:pathLst>
                <a:path h="1981203" w="1959229">
                  <a:moveTo>
                    <a:pt x="0" y="0"/>
                  </a:moveTo>
                  <a:lnTo>
                    <a:pt x="1959229" y="0"/>
                  </a:lnTo>
                  <a:lnTo>
                    <a:pt x="1959229" y="1981203"/>
                  </a:lnTo>
                  <a:lnTo>
                    <a:pt x="0" y="1981203"/>
                  </a:lnTo>
                  <a:close/>
                </a:path>
              </a:pathLst>
            </a:custGeom>
            <a:solidFill>
              <a:srgbClr val="5FFFF1"/>
            </a:solidFill>
            <a:ln w="12700">
              <a:solidFill>
                <a:srgbClr val="000000"/>
              </a:solidFill>
            </a:ln>
          </p:spPr>
        </p:sp>
        <p:sp>
          <p:nvSpPr>
            <p:cNvPr name="TextBox 14" id="14"/>
            <p:cNvSpPr txBox="true"/>
            <p:nvPr/>
          </p:nvSpPr>
          <p:spPr>
            <a:xfrm>
              <a:off x="0" y="-9525"/>
              <a:ext cx="1959200" cy="1990725"/>
            </a:xfrm>
            <a:prstGeom prst="rect">
              <a:avLst/>
            </a:prstGeom>
          </p:spPr>
          <p:txBody>
            <a:bodyPr anchor="ctr" rtlCol="false" tIns="50800" lIns="50800" bIns="50800" rIns="50800"/>
            <a:lstStyle/>
            <a:p>
              <a:pPr algn="ctr">
                <a:lnSpc>
                  <a:spcPts val="14400"/>
                </a:lnSpc>
              </a:pPr>
              <a:r>
                <a:rPr lang="en-US" sz="12000">
                  <a:solidFill>
                    <a:srgbClr val="091915"/>
                  </a:solidFill>
                  <a:latin typeface="Alata"/>
                  <a:ea typeface="Alata"/>
                  <a:cs typeface="Alata"/>
                  <a:sym typeface="Alata"/>
                </a:rPr>
                <a:t>03</a:t>
              </a:r>
            </a:p>
          </p:txBody>
        </p:sp>
      </p:gr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952876" y="2634256"/>
            <a:ext cx="3279186" cy="5929918"/>
          </a:xfrm>
          <a:custGeom>
            <a:avLst/>
            <a:gdLst/>
            <a:ahLst/>
            <a:cxnLst/>
            <a:rect r="r" b="b" t="t" l="l"/>
            <a:pathLst>
              <a:path h="5929918" w="3279186">
                <a:moveTo>
                  <a:pt x="0" y="0"/>
                </a:moveTo>
                <a:lnTo>
                  <a:pt x="3279186" y="0"/>
                </a:lnTo>
                <a:lnTo>
                  <a:pt x="3279186" y="5929918"/>
                </a:lnTo>
                <a:lnTo>
                  <a:pt x="0" y="592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20728" y="3632011"/>
            <a:ext cx="6577171" cy="6441576"/>
          </a:xfrm>
          <a:custGeom>
            <a:avLst/>
            <a:gdLst/>
            <a:ahLst/>
            <a:cxnLst/>
            <a:rect r="r" b="b" t="t" l="l"/>
            <a:pathLst>
              <a:path h="6441576" w="6577171">
                <a:moveTo>
                  <a:pt x="0" y="0"/>
                </a:moveTo>
                <a:lnTo>
                  <a:pt x="6577171" y="0"/>
                </a:lnTo>
                <a:lnTo>
                  <a:pt x="6577171" y="6441576"/>
                </a:lnTo>
                <a:lnTo>
                  <a:pt x="0" y="6441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057300" y="3339300"/>
            <a:ext cx="3608400" cy="3608400"/>
            <a:chOff x="0" y="0"/>
            <a:chExt cx="4811200" cy="4811200"/>
          </a:xfrm>
        </p:grpSpPr>
        <p:sp>
          <p:nvSpPr>
            <p:cNvPr name="Freeform 5" id="5"/>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6615100" y="2110950"/>
            <a:ext cx="4282800" cy="4282800"/>
            <a:chOff x="0" y="0"/>
            <a:chExt cx="5710400" cy="5710400"/>
          </a:xfrm>
        </p:grpSpPr>
        <p:sp>
          <p:nvSpPr>
            <p:cNvPr name="Freeform 7" id="7"/>
            <p:cNvSpPr/>
            <p:nvPr/>
          </p:nvSpPr>
          <p:spPr>
            <a:xfrm flipH="false" flipV="false" rot="0">
              <a:off x="0" y="0"/>
              <a:ext cx="5710428" cy="5710428"/>
            </a:xfrm>
            <a:custGeom>
              <a:avLst/>
              <a:gdLst/>
              <a:ahLst/>
              <a:cxnLst/>
              <a:rect r="r" b="b" t="t" l="l"/>
              <a:pathLst>
                <a:path h="5710428" w="5710428">
                  <a:moveTo>
                    <a:pt x="0" y="2855214"/>
                  </a:moveTo>
                  <a:cubicBezTo>
                    <a:pt x="0" y="1278255"/>
                    <a:pt x="1278255" y="0"/>
                    <a:pt x="2855214" y="0"/>
                  </a:cubicBezTo>
                  <a:cubicBezTo>
                    <a:pt x="4432173" y="0"/>
                    <a:pt x="5710428" y="1278255"/>
                    <a:pt x="5710428" y="2855214"/>
                  </a:cubicBezTo>
                  <a:cubicBezTo>
                    <a:pt x="5710428" y="4432173"/>
                    <a:pt x="4432046" y="5710428"/>
                    <a:pt x="2855214" y="5710428"/>
                  </a:cubicBezTo>
                  <a:cubicBezTo>
                    <a:pt x="1278382" y="5710428"/>
                    <a:pt x="0" y="4432046"/>
                    <a:pt x="0" y="285521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8" id="8"/>
          <p:cNvSpPr/>
          <p:nvPr/>
        </p:nvSpPr>
        <p:spPr>
          <a:xfrm flipH="false" flipV="false" rot="0">
            <a:off x="16185905" y="8039769"/>
            <a:ext cx="2247205" cy="2247205"/>
          </a:xfrm>
          <a:custGeom>
            <a:avLst/>
            <a:gdLst/>
            <a:ahLst/>
            <a:cxnLst/>
            <a:rect r="r" b="b" t="t" l="l"/>
            <a:pathLst>
              <a:path h="2247205" w="2247205">
                <a:moveTo>
                  <a:pt x="0" y="0"/>
                </a:moveTo>
                <a:lnTo>
                  <a:pt x="2247206" y="0"/>
                </a:lnTo>
                <a:lnTo>
                  <a:pt x="2247206" y="2247206"/>
                </a:lnTo>
                <a:lnTo>
                  <a:pt x="0" y="2247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7040446" y="1654431"/>
            <a:ext cx="3711206" cy="7603869"/>
          </a:xfrm>
          <a:custGeom>
            <a:avLst/>
            <a:gdLst/>
            <a:ahLst/>
            <a:cxnLst/>
            <a:rect r="r" b="b" t="t" l="l"/>
            <a:pathLst>
              <a:path h="7603869" w="3711206">
                <a:moveTo>
                  <a:pt x="0" y="0"/>
                </a:moveTo>
                <a:lnTo>
                  <a:pt x="3711206" y="0"/>
                </a:lnTo>
                <a:lnTo>
                  <a:pt x="3711206" y="7603869"/>
                </a:lnTo>
                <a:lnTo>
                  <a:pt x="0" y="7603869"/>
                </a:lnTo>
                <a:lnTo>
                  <a:pt x="0" y="0"/>
                </a:lnTo>
                <a:close/>
              </a:path>
            </a:pathLst>
          </a:custGeom>
          <a:blipFill>
            <a:blip r:embed="rId9"/>
            <a:stretch>
              <a:fillRect l="-241" t="-2269" r="-241" b="-1524"/>
            </a:stretch>
          </a:blipFill>
        </p:spPr>
      </p:sp>
      <p:sp>
        <p:nvSpPr>
          <p:cNvPr name="Freeform 10" id="10"/>
          <p:cNvSpPr/>
          <p:nvPr/>
        </p:nvSpPr>
        <p:spPr>
          <a:xfrm flipH="false" flipV="false" rot="0">
            <a:off x="1611184" y="1654431"/>
            <a:ext cx="3609987" cy="7603869"/>
          </a:xfrm>
          <a:custGeom>
            <a:avLst/>
            <a:gdLst/>
            <a:ahLst/>
            <a:cxnLst/>
            <a:rect r="r" b="b" t="t" l="l"/>
            <a:pathLst>
              <a:path h="7603869" w="3609987">
                <a:moveTo>
                  <a:pt x="0" y="0"/>
                </a:moveTo>
                <a:lnTo>
                  <a:pt x="3609987" y="0"/>
                </a:lnTo>
                <a:lnTo>
                  <a:pt x="3609987" y="7603869"/>
                </a:lnTo>
                <a:lnTo>
                  <a:pt x="0" y="7603869"/>
                </a:lnTo>
                <a:lnTo>
                  <a:pt x="0" y="0"/>
                </a:lnTo>
                <a:close/>
              </a:path>
            </a:pathLst>
          </a:custGeom>
          <a:blipFill>
            <a:blip r:embed="rId10"/>
            <a:stretch>
              <a:fillRect l="-2714" t="-3900" r="-4292" b="-6240"/>
            </a:stretch>
          </a:blipFill>
        </p:spPr>
      </p:sp>
      <p:sp>
        <p:nvSpPr>
          <p:cNvPr name="Freeform 11" id="11"/>
          <p:cNvSpPr/>
          <p:nvPr/>
        </p:nvSpPr>
        <p:spPr>
          <a:xfrm flipH="false" flipV="false" rot="0">
            <a:off x="12570927" y="1654431"/>
            <a:ext cx="3665143" cy="7603869"/>
          </a:xfrm>
          <a:custGeom>
            <a:avLst/>
            <a:gdLst/>
            <a:ahLst/>
            <a:cxnLst/>
            <a:rect r="r" b="b" t="t" l="l"/>
            <a:pathLst>
              <a:path h="7603869" w="3665143">
                <a:moveTo>
                  <a:pt x="0" y="0"/>
                </a:moveTo>
                <a:lnTo>
                  <a:pt x="3665143" y="0"/>
                </a:lnTo>
                <a:lnTo>
                  <a:pt x="3665143" y="7603869"/>
                </a:lnTo>
                <a:lnTo>
                  <a:pt x="0" y="7603869"/>
                </a:lnTo>
                <a:lnTo>
                  <a:pt x="0" y="0"/>
                </a:lnTo>
                <a:close/>
              </a:path>
            </a:pathLst>
          </a:custGeom>
          <a:blipFill>
            <a:blip r:embed="rId11"/>
            <a:stretch>
              <a:fillRect l="-2355" t="-3151" r="-3140" b="-7091"/>
            </a:stretch>
          </a:blipFill>
        </p:spPr>
      </p:sp>
      <p:sp>
        <p:nvSpPr>
          <p:cNvPr name="TextBox 12" id="12"/>
          <p:cNvSpPr txBox="true"/>
          <p:nvPr/>
        </p:nvSpPr>
        <p:spPr>
          <a:xfrm rot="0">
            <a:off x="1934790" y="519560"/>
            <a:ext cx="17633724" cy="695325"/>
          </a:xfrm>
          <a:prstGeom prst="rect">
            <a:avLst/>
          </a:prstGeom>
        </p:spPr>
        <p:txBody>
          <a:bodyPr anchor="t" rtlCol="false" tIns="0" lIns="0" bIns="0" rIns="0">
            <a:spAutoFit/>
          </a:bodyPr>
          <a:lstStyle/>
          <a:p>
            <a:pPr algn="l">
              <a:lnSpc>
                <a:spcPts val="5400"/>
              </a:lnSpc>
            </a:pPr>
            <a:r>
              <a:rPr lang="en-US" sz="4500">
                <a:solidFill>
                  <a:srgbClr val="F5F5F5"/>
                </a:solidFill>
                <a:latin typeface="Alata"/>
                <a:ea typeface="Alata"/>
                <a:cs typeface="Alata"/>
                <a:sym typeface="Alata"/>
              </a:rPr>
              <a:t>GIAO DIỆN ĐĂNG NHẬP-ĐĂNG KÝ-QUÊN MẬT KHẨU</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952876" y="2634256"/>
            <a:ext cx="3279186" cy="5929918"/>
          </a:xfrm>
          <a:custGeom>
            <a:avLst/>
            <a:gdLst/>
            <a:ahLst/>
            <a:cxnLst/>
            <a:rect r="r" b="b" t="t" l="l"/>
            <a:pathLst>
              <a:path h="5929918" w="3279186">
                <a:moveTo>
                  <a:pt x="0" y="0"/>
                </a:moveTo>
                <a:lnTo>
                  <a:pt x="3279186" y="0"/>
                </a:lnTo>
                <a:lnTo>
                  <a:pt x="3279186" y="5929918"/>
                </a:lnTo>
                <a:lnTo>
                  <a:pt x="0" y="592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20728" y="3632011"/>
            <a:ext cx="6577171" cy="6441576"/>
          </a:xfrm>
          <a:custGeom>
            <a:avLst/>
            <a:gdLst/>
            <a:ahLst/>
            <a:cxnLst/>
            <a:rect r="r" b="b" t="t" l="l"/>
            <a:pathLst>
              <a:path h="6441576" w="6577171">
                <a:moveTo>
                  <a:pt x="0" y="0"/>
                </a:moveTo>
                <a:lnTo>
                  <a:pt x="6577171" y="0"/>
                </a:lnTo>
                <a:lnTo>
                  <a:pt x="6577171" y="6441576"/>
                </a:lnTo>
                <a:lnTo>
                  <a:pt x="0" y="6441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057300" y="3339300"/>
            <a:ext cx="3608400" cy="3608400"/>
            <a:chOff x="0" y="0"/>
            <a:chExt cx="4811200" cy="4811200"/>
          </a:xfrm>
        </p:grpSpPr>
        <p:sp>
          <p:nvSpPr>
            <p:cNvPr name="Freeform 5" id="5"/>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6615100" y="2110950"/>
            <a:ext cx="4282800" cy="4282800"/>
            <a:chOff x="0" y="0"/>
            <a:chExt cx="5710400" cy="5710400"/>
          </a:xfrm>
        </p:grpSpPr>
        <p:sp>
          <p:nvSpPr>
            <p:cNvPr name="Freeform 7" id="7"/>
            <p:cNvSpPr/>
            <p:nvPr/>
          </p:nvSpPr>
          <p:spPr>
            <a:xfrm flipH="false" flipV="false" rot="0">
              <a:off x="0" y="0"/>
              <a:ext cx="5710428" cy="5710428"/>
            </a:xfrm>
            <a:custGeom>
              <a:avLst/>
              <a:gdLst/>
              <a:ahLst/>
              <a:cxnLst/>
              <a:rect r="r" b="b" t="t" l="l"/>
              <a:pathLst>
                <a:path h="5710428" w="5710428">
                  <a:moveTo>
                    <a:pt x="0" y="2855214"/>
                  </a:moveTo>
                  <a:cubicBezTo>
                    <a:pt x="0" y="1278255"/>
                    <a:pt x="1278255" y="0"/>
                    <a:pt x="2855214" y="0"/>
                  </a:cubicBezTo>
                  <a:cubicBezTo>
                    <a:pt x="4432173" y="0"/>
                    <a:pt x="5710428" y="1278255"/>
                    <a:pt x="5710428" y="2855214"/>
                  </a:cubicBezTo>
                  <a:cubicBezTo>
                    <a:pt x="5710428" y="4432173"/>
                    <a:pt x="4432046" y="5710428"/>
                    <a:pt x="2855214" y="5710428"/>
                  </a:cubicBezTo>
                  <a:cubicBezTo>
                    <a:pt x="1278382" y="5710428"/>
                    <a:pt x="0" y="4432046"/>
                    <a:pt x="0" y="285521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8" id="8"/>
          <p:cNvSpPr/>
          <p:nvPr/>
        </p:nvSpPr>
        <p:spPr>
          <a:xfrm flipH="false" flipV="false" rot="0">
            <a:off x="16185905" y="8039769"/>
            <a:ext cx="2247205" cy="2247205"/>
          </a:xfrm>
          <a:custGeom>
            <a:avLst/>
            <a:gdLst/>
            <a:ahLst/>
            <a:cxnLst/>
            <a:rect r="r" b="b" t="t" l="l"/>
            <a:pathLst>
              <a:path h="2247205" w="2247205">
                <a:moveTo>
                  <a:pt x="0" y="0"/>
                </a:moveTo>
                <a:lnTo>
                  <a:pt x="2247206" y="0"/>
                </a:lnTo>
                <a:lnTo>
                  <a:pt x="2247206" y="2247206"/>
                </a:lnTo>
                <a:lnTo>
                  <a:pt x="0" y="2247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973154" y="1844310"/>
            <a:ext cx="3501298" cy="7509809"/>
          </a:xfrm>
          <a:custGeom>
            <a:avLst/>
            <a:gdLst/>
            <a:ahLst/>
            <a:cxnLst/>
            <a:rect r="r" b="b" t="t" l="l"/>
            <a:pathLst>
              <a:path h="7509809" w="3501298">
                <a:moveTo>
                  <a:pt x="0" y="0"/>
                </a:moveTo>
                <a:lnTo>
                  <a:pt x="3501298" y="0"/>
                </a:lnTo>
                <a:lnTo>
                  <a:pt x="3501298" y="7509810"/>
                </a:lnTo>
                <a:lnTo>
                  <a:pt x="0" y="7509810"/>
                </a:lnTo>
                <a:lnTo>
                  <a:pt x="0" y="0"/>
                </a:lnTo>
                <a:close/>
              </a:path>
            </a:pathLst>
          </a:custGeom>
          <a:blipFill>
            <a:blip r:embed="rId9"/>
            <a:stretch>
              <a:fillRect l="0" t="-3895" r="0" b="0"/>
            </a:stretch>
          </a:blipFill>
        </p:spPr>
      </p:sp>
      <p:sp>
        <p:nvSpPr>
          <p:cNvPr name="Freeform 10" id="10"/>
          <p:cNvSpPr/>
          <p:nvPr/>
        </p:nvSpPr>
        <p:spPr>
          <a:xfrm flipH="false" flipV="false" rot="0">
            <a:off x="10320173" y="1844310"/>
            <a:ext cx="3501680" cy="7509809"/>
          </a:xfrm>
          <a:custGeom>
            <a:avLst/>
            <a:gdLst/>
            <a:ahLst/>
            <a:cxnLst/>
            <a:rect r="r" b="b" t="t" l="l"/>
            <a:pathLst>
              <a:path h="7509809" w="3501680">
                <a:moveTo>
                  <a:pt x="0" y="0"/>
                </a:moveTo>
                <a:lnTo>
                  <a:pt x="3501680" y="0"/>
                </a:lnTo>
                <a:lnTo>
                  <a:pt x="3501680" y="7509810"/>
                </a:lnTo>
                <a:lnTo>
                  <a:pt x="0" y="7509810"/>
                </a:lnTo>
                <a:lnTo>
                  <a:pt x="0" y="0"/>
                </a:lnTo>
                <a:close/>
              </a:path>
            </a:pathLst>
          </a:custGeom>
          <a:blipFill>
            <a:blip r:embed="rId10"/>
            <a:stretch>
              <a:fillRect l="0" t="-3906" r="0" b="0"/>
            </a:stretch>
          </a:blipFill>
        </p:spPr>
      </p:sp>
      <p:sp>
        <p:nvSpPr>
          <p:cNvPr name="TextBox 11" id="11"/>
          <p:cNvSpPr txBox="true"/>
          <p:nvPr/>
        </p:nvSpPr>
        <p:spPr>
          <a:xfrm rot="0">
            <a:off x="2034150" y="676275"/>
            <a:ext cx="15225150" cy="695325"/>
          </a:xfrm>
          <a:prstGeom prst="rect">
            <a:avLst/>
          </a:prstGeom>
        </p:spPr>
        <p:txBody>
          <a:bodyPr anchor="t" rtlCol="false" tIns="0" lIns="0" bIns="0" rIns="0">
            <a:spAutoFit/>
          </a:bodyPr>
          <a:lstStyle/>
          <a:p>
            <a:pPr algn="l">
              <a:lnSpc>
                <a:spcPts val="5400"/>
              </a:lnSpc>
            </a:pPr>
            <a:r>
              <a:rPr lang="en-US" sz="4500">
                <a:solidFill>
                  <a:srgbClr val="F5F5F5"/>
                </a:solidFill>
                <a:latin typeface="Alata"/>
                <a:ea typeface="Alata"/>
                <a:cs typeface="Alata"/>
                <a:sym typeface="Alata"/>
              </a:rPr>
              <a:t>GIAO DIỆN TRANG CHỦ-TRANG TÌM KIẾM SẢN PHẨM</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952876" y="2634256"/>
            <a:ext cx="3279186" cy="5929918"/>
          </a:xfrm>
          <a:custGeom>
            <a:avLst/>
            <a:gdLst/>
            <a:ahLst/>
            <a:cxnLst/>
            <a:rect r="r" b="b" t="t" l="l"/>
            <a:pathLst>
              <a:path h="5929918" w="3279186">
                <a:moveTo>
                  <a:pt x="0" y="0"/>
                </a:moveTo>
                <a:lnTo>
                  <a:pt x="3279186" y="0"/>
                </a:lnTo>
                <a:lnTo>
                  <a:pt x="3279186" y="5929918"/>
                </a:lnTo>
                <a:lnTo>
                  <a:pt x="0" y="592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20728" y="3632011"/>
            <a:ext cx="6577171" cy="6441576"/>
          </a:xfrm>
          <a:custGeom>
            <a:avLst/>
            <a:gdLst/>
            <a:ahLst/>
            <a:cxnLst/>
            <a:rect r="r" b="b" t="t" l="l"/>
            <a:pathLst>
              <a:path h="6441576" w="6577171">
                <a:moveTo>
                  <a:pt x="0" y="0"/>
                </a:moveTo>
                <a:lnTo>
                  <a:pt x="6577171" y="0"/>
                </a:lnTo>
                <a:lnTo>
                  <a:pt x="6577171" y="6441576"/>
                </a:lnTo>
                <a:lnTo>
                  <a:pt x="0" y="6441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057300" y="3339300"/>
            <a:ext cx="3608400" cy="3608400"/>
            <a:chOff x="0" y="0"/>
            <a:chExt cx="4811200" cy="4811200"/>
          </a:xfrm>
        </p:grpSpPr>
        <p:sp>
          <p:nvSpPr>
            <p:cNvPr name="Freeform 5" id="5"/>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6615100" y="2110950"/>
            <a:ext cx="4282800" cy="4282800"/>
            <a:chOff x="0" y="0"/>
            <a:chExt cx="5710400" cy="5710400"/>
          </a:xfrm>
        </p:grpSpPr>
        <p:sp>
          <p:nvSpPr>
            <p:cNvPr name="Freeform 7" id="7"/>
            <p:cNvSpPr/>
            <p:nvPr/>
          </p:nvSpPr>
          <p:spPr>
            <a:xfrm flipH="false" flipV="false" rot="0">
              <a:off x="0" y="0"/>
              <a:ext cx="5710428" cy="5710428"/>
            </a:xfrm>
            <a:custGeom>
              <a:avLst/>
              <a:gdLst/>
              <a:ahLst/>
              <a:cxnLst/>
              <a:rect r="r" b="b" t="t" l="l"/>
              <a:pathLst>
                <a:path h="5710428" w="5710428">
                  <a:moveTo>
                    <a:pt x="0" y="2855214"/>
                  </a:moveTo>
                  <a:cubicBezTo>
                    <a:pt x="0" y="1278255"/>
                    <a:pt x="1278255" y="0"/>
                    <a:pt x="2855214" y="0"/>
                  </a:cubicBezTo>
                  <a:cubicBezTo>
                    <a:pt x="4432173" y="0"/>
                    <a:pt x="5710428" y="1278255"/>
                    <a:pt x="5710428" y="2855214"/>
                  </a:cubicBezTo>
                  <a:cubicBezTo>
                    <a:pt x="5710428" y="4432173"/>
                    <a:pt x="4432046" y="5710428"/>
                    <a:pt x="2855214" y="5710428"/>
                  </a:cubicBezTo>
                  <a:cubicBezTo>
                    <a:pt x="1278382" y="5710428"/>
                    <a:pt x="0" y="4432046"/>
                    <a:pt x="0" y="285521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8" id="8"/>
          <p:cNvSpPr/>
          <p:nvPr/>
        </p:nvSpPr>
        <p:spPr>
          <a:xfrm flipH="false" flipV="false" rot="0">
            <a:off x="16185905" y="8039769"/>
            <a:ext cx="2247205" cy="2247205"/>
          </a:xfrm>
          <a:custGeom>
            <a:avLst/>
            <a:gdLst/>
            <a:ahLst/>
            <a:cxnLst/>
            <a:rect r="r" b="b" t="t" l="l"/>
            <a:pathLst>
              <a:path h="2247205" w="2247205">
                <a:moveTo>
                  <a:pt x="0" y="0"/>
                </a:moveTo>
                <a:lnTo>
                  <a:pt x="2247206" y="0"/>
                </a:lnTo>
                <a:lnTo>
                  <a:pt x="2247206" y="2247206"/>
                </a:lnTo>
                <a:lnTo>
                  <a:pt x="0" y="2247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9646725" y="1798162"/>
            <a:ext cx="3581996" cy="7460138"/>
          </a:xfrm>
          <a:custGeom>
            <a:avLst/>
            <a:gdLst/>
            <a:ahLst/>
            <a:cxnLst/>
            <a:rect r="r" b="b" t="t" l="l"/>
            <a:pathLst>
              <a:path h="7460138" w="3581996">
                <a:moveTo>
                  <a:pt x="0" y="0"/>
                </a:moveTo>
                <a:lnTo>
                  <a:pt x="3581996" y="0"/>
                </a:lnTo>
                <a:lnTo>
                  <a:pt x="3581996" y="7460138"/>
                </a:lnTo>
                <a:lnTo>
                  <a:pt x="0" y="7460138"/>
                </a:lnTo>
                <a:lnTo>
                  <a:pt x="0" y="0"/>
                </a:lnTo>
                <a:close/>
              </a:path>
            </a:pathLst>
          </a:custGeom>
          <a:blipFill>
            <a:blip r:embed="rId9"/>
            <a:stretch>
              <a:fillRect l="0" t="-6997" r="0" b="0"/>
            </a:stretch>
          </a:blipFill>
        </p:spPr>
      </p:sp>
      <p:sp>
        <p:nvSpPr>
          <p:cNvPr name="Freeform 10" id="10"/>
          <p:cNvSpPr/>
          <p:nvPr/>
        </p:nvSpPr>
        <p:spPr>
          <a:xfrm flipH="false" flipV="false" rot="0">
            <a:off x="4134095" y="1727179"/>
            <a:ext cx="3650162" cy="7602105"/>
          </a:xfrm>
          <a:custGeom>
            <a:avLst/>
            <a:gdLst/>
            <a:ahLst/>
            <a:cxnLst/>
            <a:rect r="r" b="b" t="t" l="l"/>
            <a:pathLst>
              <a:path h="7602105" w="3650162">
                <a:moveTo>
                  <a:pt x="0" y="0"/>
                </a:moveTo>
                <a:lnTo>
                  <a:pt x="3650162" y="0"/>
                </a:lnTo>
                <a:lnTo>
                  <a:pt x="3650162" y="7602105"/>
                </a:lnTo>
                <a:lnTo>
                  <a:pt x="0" y="7602105"/>
                </a:lnTo>
                <a:lnTo>
                  <a:pt x="0" y="0"/>
                </a:lnTo>
                <a:close/>
              </a:path>
            </a:pathLst>
          </a:custGeom>
          <a:blipFill>
            <a:blip r:embed="rId10"/>
            <a:stretch>
              <a:fillRect l="0" t="-6997" r="0" b="0"/>
            </a:stretch>
          </a:blipFill>
        </p:spPr>
      </p:sp>
      <p:sp>
        <p:nvSpPr>
          <p:cNvPr name="TextBox 11" id="11"/>
          <p:cNvSpPr txBox="true"/>
          <p:nvPr/>
        </p:nvSpPr>
        <p:spPr>
          <a:xfrm rot="0">
            <a:off x="3207961" y="676275"/>
            <a:ext cx="15225150" cy="695325"/>
          </a:xfrm>
          <a:prstGeom prst="rect">
            <a:avLst/>
          </a:prstGeom>
        </p:spPr>
        <p:txBody>
          <a:bodyPr anchor="t" rtlCol="false" tIns="0" lIns="0" bIns="0" rIns="0">
            <a:spAutoFit/>
          </a:bodyPr>
          <a:lstStyle/>
          <a:p>
            <a:pPr algn="l">
              <a:lnSpc>
                <a:spcPts val="5400"/>
              </a:lnSpc>
            </a:pPr>
            <a:r>
              <a:rPr lang="en-US" sz="4500">
                <a:solidFill>
                  <a:srgbClr val="F5F5F5"/>
                </a:solidFill>
                <a:latin typeface="Alata"/>
                <a:ea typeface="Alata"/>
                <a:cs typeface="Alata"/>
                <a:sym typeface="Alata"/>
              </a:rPr>
              <a:t>GIAO DIỆN TRANG THÊM-CHI TIẾT SẢN PHẨM</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952876" y="2634256"/>
            <a:ext cx="3279186" cy="5929918"/>
          </a:xfrm>
          <a:custGeom>
            <a:avLst/>
            <a:gdLst/>
            <a:ahLst/>
            <a:cxnLst/>
            <a:rect r="r" b="b" t="t" l="l"/>
            <a:pathLst>
              <a:path h="5929918" w="3279186">
                <a:moveTo>
                  <a:pt x="0" y="0"/>
                </a:moveTo>
                <a:lnTo>
                  <a:pt x="3279186" y="0"/>
                </a:lnTo>
                <a:lnTo>
                  <a:pt x="3279186" y="5929918"/>
                </a:lnTo>
                <a:lnTo>
                  <a:pt x="0" y="592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20728" y="3632011"/>
            <a:ext cx="6577171" cy="6441576"/>
          </a:xfrm>
          <a:custGeom>
            <a:avLst/>
            <a:gdLst/>
            <a:ahLst/>
            <a:cxnLst/>
            <a:rect r="r" b="b" t="t" l="l"/>
            <a:pathLst>
              <a:path h="6441576" w="6577171">
                <a:moveTo>
                  <a:pt x="0" y="0"/>
                </a:moveTo>
                <a:lnTo>
                  <a:pt x="6577171" y="0"/>
                </a:lnTo>
                <a:lnTo>
                  <a:pt x="6577171" y="6441576"/>
                </a:lnTo>
                <a:lnTo>
                  <a:pt x="0" y="6441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057300" y="3339300"/>
            <a:ext cx="3608400" cy="3608400"/>
            <a:chOff x="0" y="0"/>
            <a:chExt cx="4811200" cy="4811200"/>
          </a:xfrm>
        </p:grpSpPr>
        <p:sp>
          <p:nvSpPr>
            <p:cNvPr name="Freeform 5" id="5"/>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6615100" y="2110950"/>
            <a:ext cx="4282800" cy="4282800"/>
            <a:chOff x="0" y="0"/>
            <a:chExt cx="5710400" cy="5710400"/>
          </a:xfrm>
        </p:grpSpPr>
        <p:sp>
          <p:nvSpPr>
            <p:cNvPr name="Freeform 7" id="7"/>
            <p:cNvSpPr/>
            <p:nvPr/>
          </p:nvSpPr>
          <p:spPr>
            <a:xfrm flipH="false" flipV="false" rot="0">
              <a:off x="0" y="0"/>
              <a:ext cx="5710428" cy="5710428"/>
            </a:xfrm>
            <a:custGeom>
              <a:avLst/>
              <a:gdLst/>
              <a:ahLst/>
              <a:cxnLst/>
              <a:rect r="r" b="b" t="t" l="l"/>
              <a:pathLst>
                <a:path h="5710428" w="5710428">
                  <a:moveTo>
                    <a:pt x="0" y="2855214"/>
                  </a:moveTo>
                  <a:cubicBezTo>
                    <a:pt x="0" y="1278255"/>
                    <a:pt x="1278255" y="0"/>
                    <a:pt x="2855214" y="0"/>
                  </a:cubicBezTo>
                  <a:cubicBezTo>
                    <a:pt x="4432173" y="0"/>
                    <a:pt x="5710428" y="1278255"/>
                    <a:pt x="5710428" y="2855214"/>
                  </a:cubicBezTo>
                  <a:cubicBezTo>
                    <a:pt x="5710428" y="4432173"/>
                    <a:pt x="4432046" y="5710428"/>
                    <a:pt x="2855214" y="5710428"/>
                  </a:cubicBezTo>
                  <a:cubicBezTo>
                    <a:pt x="1278382" y="5710428"/>
                    <a:pt x="0" y="4432046"/>
                    <a:pt x="0" y="285521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8" id="8"/>
          <p:cNvSpPr/>
          <p:nvPr/>
        </p:nvSpPr>
        <p:spPr>
          <a:xfrm flipH="false" flipV="false" rot="0">
            <a:off x="16185905" y="8039769"/>
            <a:ext cx="2247205" cy="2247205"/>
          </a:xfrm>
          <a:custGeom>
            <a:avLst/>
            <a:gdLst/>
            <a:ahLst/>
            <a:cxnLst/>
            <a:rect r="r" b="b" t="t" l="l"/>
            <a:pathLst>
              <a:path h="2247205" w="2247205">
                <a:moveTo>
                  <a:pt x="0" y="0"/>
                </a:moveTo>
                <a:lnTo>
                  <a:pt x="2247206" y="0"/>
                </a:lnTo>
                <a:lnTo>
                  <a:pt x="2247206" y="2247206"/>
                </a:lnTo>
                <a:lnTo>
                  <a:pt x="0" y="2247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091063" y="1809086"/>
            <a:ext cx="3745991" cy="7786846"/>
          </a:xfrm>
          <a:custGeom>
            <a:avLst/>
            <a:gdLst/>
            <a:ahLst/>
            <a:cxnLst/>
            <a:rect r="r" b="b" t="t" l="l"/>
            <a:pathLst>
              <a:path h="7786846" w="3745991">
                <a:moveTo>
                  <a:pt x="0" y="0"/>
                </a:moveTo>
                <a:lnTo>
                  <a:pt x="3745991" y="0"/>
                </a:lnTo>
                <a:lnTo>
                  <a:pt x="3745991" y="7786846"/>
                </a:lnTo>
                <a:lnTo>
                  <a:pt x="0" y="7786846"/>
                </a:lnTo>
                <a:lnTo>
                  <a:pt x="0" y="0"/>
                </a:lnTo>
                <a:close/>
              </a:path>
            </a:pathLst>
          </a:custGeom>
          <a:blipFill>
            <a:blip r:embed="rId9"/>
            <a:stretch>
              <a:fillRect l="0" t="-7201" r="0" b="0"/>
            </a:stretch>
          </a:blipFill>
        </p:spPr>
      </p:sp>
      <p:sp>
        <p:nvSpPr>
          <p:cNvPr name="Freeform 10" id="10"/>
          <p:cNvSpPr/>
          <p:nvPr/>
        </p:nvSpPr>
        <p:spPr>
          <a:xfrm flipH="false" flipV="false" rot="0">
            <a:off x="9909640" y="1809086"/>
            <a:ext cx="3745991" cy="7786846"/>
          </a:xfrm>
          <a:custGeom>
            <a:avLst/>
            <a:gdLst/>
            <a:ahLst/>
            <a:cxnLst/>
            <a:rect r="r" b="b" t="t" l="l"/>
            <a:pathLst>
              <a:path h="7786846" w="3745991">
                <a:moveTo>
                  <a:pt x="0" y="0"/>
                </a:moveTo>
                <a:lnTo>
                  <a:pt x="3745991" y="0"/>
                </a:lnTo>
                <a:lnTo>
                  <a:pt x="3745991" y="7786846"/>
                </a:lnTo>
                <a:lnTo>
                  <a:pt x="0" y="7786846"/>
                </a:lnTo>
                <a:lnTo>
                  <a:pt x="0" y="0"/>
                </a:lnTo>
                <a:close/>
              </a:path>
            </a:pathLst>
          </a:custGeom>
          <a:blipFill>
            <a:blip r:embed="rId10"/>
            <a:stretch>
              <a:fillRect l="0" t="-7201" r="0" b="0"/>
            </a:stretch>
          </a:blipFill>
        </p:spPr>
      </p:sp>
      <p:sp>
        <p:nvSpPr>
          <p:cNvPr name="TextBox 11" id="11"/>
          <p:cNvSpPr txBox="true"/>
          <p:nvPr/>
        </p:nvSpPr>
        <p:spPr>
          <a:xfrm rot="0">
            <a:off x="2829089" y="676275"/>
            <a:ext cx="15225150" cy="695325"/>
          </a:xfrm>
          <a:prstGeom prst="rect">
            <a:avLst/>
          </a:prstGeom>
        </p:spPr>
        <p:txBody>
          <a:bodyPr anchor="t" rtlCol="false" tIns="0" lIns="0" bIns="0" rIns="0">
            <a:spAutoFit/>
          </a:bodyPr>
          <a:lstStyle/>
          <a:p>
            <a:pPr algn="l">
              <a:lnSpc>
                <a:spcPts val="5400"/>
              </a:lnSpc>
            </a:pPr>
            <a:r>
              <a:rPr lang="en-US" sz="4500">
                <a:solidFill>
                  <a:srgbClr val="F5F5F5"/>
                </a:solidFill>
                <a:latin typeface="Alata"/>
                <a:ea typeface="Alata"/>
                <a:cs typeface="Alata"/>
                <a:sym typeface="Alata"/>
              </a:rPr>
              <a:t>GIAO DIỆN TRANG GIỎ HÀNG-THANH TOÁN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952876" y="2634256"/>
            <a:ext cx="3279186" cy="5929918"/>
          </a:xfrm>
          <a:custGeom>
            <a:avLst/>
            <a:gdLst/>
            <a:ahLst/>
            <a:cxnLst/>
            <a:rect r="r" b="b" t="t" l="l"/>
            <a:pathLst>
              <a:path h="5929918" w="3279186">
                <a:moveTo>
                  <a:pt x="0" y="0"/>
                </a:moveTo>
                <a:lnTo>
                  <a:pt x="3279186" y="0"/>
                </a:lnTo>
                <a:lnTo>
                  <a:pt x="3279186" y="5929918"/>
                </a:lnTo>
                <a:lnTo>
                  <a:pt x="0" y="592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20728" y="3632011"/>
            <a:ext cx="6577171" cy="6441576"/>
          </a:xfrm>
          <a:custGeom>
            <a:avLst/>
            <a:gdLst/>
            <a:ahLst/>
            <a:cxnLst/>
            <a:rect r="r" b="b" t="t" l="l"/>
            <a:pathLst>
              <a:path h="6441576" w="6577171">
                <a:moveTo>
                  <a:pt x="0" y="0"/>
                </a:moveTo>
                <a:lnTo>
                  <a:pt x="6577171" y="0"/>
                </a:lnTo>
                <a:lnTo>
                  <a:pt x="6577171" y="6441576"/>
                </a:lnTo>
                <a:lnTo>
                  <a:pt x="0" y="6441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057300" y="3339300"/>
            <a:ext cx="3608400" cy="3608400"/>
            <a:chOff x="0" y="0"/>
            <a:chExt cx="4811200" cy="4811200"/>
          </a:xfrm>
        </p:grpSpPr>
        <p:sp>
          <p:nvSpPr>
            <p:cNvPr name="Freeform 5" id="5"/>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6615100" y="2110950"/>
            <a:ext cx="4282800" cy="4282800"/>
            <a:chOff x="0" y="0"/>
            <a:chExt cx="5710400" cy="5710400"/>
          </a:xfrm>
        </p:grpSpPr>
        <p:sp>
          <p:nvSpPr>
            <p:cNvPr name="Freeform 7" id="7"/>
            <p:cNvSpPr/>
            <p:nvPr/>
          </p:nvSpPr>
          <p:spPr>
            <a:xfrm flipH="false" flipV="false" rot="0">
              <a:off x="0" y="0"/>
              <a:ext cx="5710428" cy="5710428"/>
            </a:xfrm>
            <a:custGeom>
              <a:avLst/>
              <a:gdLst/>
              <a:ahLst/>
              <a:cxnLst/>
              <a:rect r="r" b="b" t="t" l="l"/>
              <a:pathLst>
                <a:path h="5710428" w="5710428">
                  <a:moveTo>
                    <a:pt x="0" y="2855214"/>
                  </a:moveTo>
                  <a:cubicBezTo>
                    <a:pt x="0" y="1278255"/>
                    <a:pt x="1278255" y="0"/>
                    <a:pt x="2855214" y="0"/>
                  </a:cubicBezTo>
                  <a:cubicBezTo>
                    <a:pt x="4432173" y="0"/>
                    <a:pt x="5710428" y="1278255"/>
                    <a:pt x="5710428" y="2855214"/>
                  </a:cubicBezTo>
                  <a:cubicBezTo>
                    <a:pt x="5710428" y="4432173"/>
                    <a:pt x="4432046" y="5710428"/>
                    <a:pt x="2855214" y="5710428"/>
                  </a:cubicBezTo>
                  <a:cubicBezTo>
                    <a:pt x="1278382" y="5710428"/>
                    <a:pt x="0" y="4432046"/>
                    <a:pt x="0" y="285521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8" id="8"/>
          <p:cNvSpPr/>
          <p:nvPr/>
        </p:nvSpPr>
        <p:spPr>
          <a:xfrm flipH="false" flipV="false" rot="0">
            <a:off x="16185905" y="8039769"/>
            <a:ext cx="2247205" cy="2247205"/>
          </a:xfrm>
          <a:custGeom>
            <a:avLst/>
            <a:gdLst/>
            <a:ahLst/>
            <a:cxnLst/>
            <a:rect r="r" b="b" t="t" l="l"/>
            <a:pathLst>
              <a:path h="2247205" w="2247205">
                <a:moveTo>
                  <a:pt x="0" y="0"/>
                </a:moveTo>
                <a:lnTo>
                  <a:pt x="2247206" y="0"/>
                </a:lnTo>
                <a:lnTo>
                  <a:pt x="2247206" y="2247206"/>
                </a:lnTo>
                <a:lnTo>
                  <a:pt x="0" y="2247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091063" y="1809086"/>
            <a:ext cx="3745991" cy="7786846"/>
          </a:xfrm>
          <a:custGeom>
            <a:avLst/>
            <a:gdLst/>
            <a:ahLst/>
            <a:cxnLst/>
            <a:rect r="r" b="b" t="t" l="l"/>
            <a:pathLst>
              <a:path h="7786846" w="3745991">
                <a:moveTo>
                  <a:pt x="0" y="0"/>
                </a:moveTo>
                <a:lnTo>
                  <a:pt x="3745991" y="0"/>
                </a:lnTo>
                <a:lnTo>
                  <a:pt x="3745991" y="7786846"/>
                </a:lnTo>
                <a:lnTo>
                  <a:pt x="0" y="7786846"/>
                </a:lnTo>
                <a:lnTo>
                  <a:pt x="0" y="0"/>
                </a:lnTo>
                <a:close/>
              </a:path>
            </a:pathLst>
          </a:custGeom>
          <a:blipFill>
            <a:blip r:embed="rId9"/>
            <a:stretch>
              <a:fillRect l="0" t="-7201" r="0" b="0"/>
            </a:stretch>
          </a:blipFill>
        </p:spPr>
      </p:sp>
      <p:sp>
        <p:nvSpPr>
          <p:cNvPr name="Freeform 10" id="10"/>
          <p:cNvSpPr/>
          <p:nvPr/>
        </p:nvSpPr>
        <p:spPr>
          <a:xfrm flipH="false" flipV="false" rot="0">
            <a:off x="9909640" y="1809086"/>
            <a:ext cx="3745991" cy="7786846"/>
          </a:xfrm>
          <a:custGeom>
            <a:avLst/>
            <a:gdLst/>
            <a:ahLst/>
            <a:cxnLst/>
            <a:rect r="r" b="b" t="t" l="l"/>
            <a:pathLst>
              <a:path h="7786846" w="3745991">
                <a:moveTo>
                  <a:pt x="0" y="0"/>
                </a:moveTo>
                <a:lnTo>
                  <a:pt x="3745991" y="0"/>
                </a:lnTo>
                <a:lnTo>
                  <a:pt x="3745991" y="7786846"/>
                </a:lnTo>
                <a:lnTo>
                  <a:pt x="0" y="7786846"/>
                </a:lnTo>
                <a:lnTo>
                  <a:pt x="0" y="0"/>
                </a:lnTo>
                <a:close/>
              </a:path>
            </a:pathLst>
          </a:custGeom>
          <a:blipFill>
            <a:blip r:embed="rId10"/>
            <a:stretch>
              <a:fillRect l="0" t="-7201" r="0" b="0"/>
            </a:stretch>
          </a:blipFill>
        </p:spPr>
      </p:sp>
      <p:sp>
        <p:nvSpPr>
          <p:cNvPr name="TextBox 11" id="11"/>
          <p:cNvSpPr txBox="true"/>
          <p:nvPr/>
        </p:nvSpPr>
        <p:spPr>
          <a:xfrm rot="0">
            <a:off x="2829089" y="676275"/>
            <a:ext cx="15225150" cy="695325"/>
          </a:xfrm>
          <a:prstGeom prst="rect">
            <a:avLst/>
          </a:prstGeom>
        </p:spPr>
        <p:txBody>
          <a:bodyPr anchor="t" rtlCol="false" tIns="0" lIns="0" bIns="0" rIns="0">
            <a:spAutoFit/>
          </a:bodyPr>
          <a:lstStyle/>
          <a:p>
            <a:pPr algn="l">
              <a:lnSpc>
                <a:spcPts val="5400"/>
              </a:lnSpc>
            </a:pPr>
            <a:r>
              <a:rPr lang="en-US" sz="4500">
                <a:solidFill>
                  <a:srgbClr val="F5F5F5"/>
                </a:solidFill>
                <a:latin typeface="Alata"/>
                <a:ea typeface="Alata"/>
                <a:cs typeface="Alata"/>
                <a:sym typeface="Alata"/>
              </a:rPr>
              <a:t>GIAO DIỆN TRANG GIỎ HÀNG-THANH TOÁN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952876" y="2634256"/>
            <a:ext cx="3279186" cy="5929918"/>
          </a:xfrm>
          <a:custGeom>
            <a:avLst/>
            <a:gdLst/>
            <a:ahLst/>
            <a:cxnLst/>
            <a:rect r="r" b="b" t="t" l="l"/>
            <a:pathLst>
              <a:path h="5929918" w="3279186">
                <a:moveTo>
                  <a:pt x="0" y="0"/>
                </a:moveTo>
                <a:lnTo>
                  <a:pt x="3279186" y="0"/>
                </a:lnTo>
                <a:lnTo>
                  <a:pt x="3279186" y="5929918"/>
                </a:lnTo>
                <a:lnTo>
                  <a:pt x="0" y="592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20728" y="3632011"/>
            <a:ext cx="6577171" cy="6441576"/>
          </a:xfrm>
          <a:custGeom>
            <a:avLst/>
            <a:gdLst/>
            <a:ahLst/>
            <a:cxnLst/>
            <a:rect r="r" b="b" t="t" l="l"/>
            <a:pathLst>
              <a:path h="6441576" w="6577171">
                <a:moveTo>
                  <a:pt x="0" y="0"/>
                </a:moveTo>
                <a:lnTo>
                  <a:pt x="6577171" y="0"/>
                </a:lnTo>
                <a:lnTo>
                  <a:pt x="6577171" y="6441576"/>
                </a:lnTo>
                <a:lnTo>
                  <a:pt x="0" y="6441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057300" y="3339300"/>
            <a:ext cx="3608400" cy="3608400"/>
            <a:chOff x="0" y="0"/>
            <a:chExt cx="4811200" cy="4811200"/>
          </a:xfrm>
        </p:grpSpPr>
        <p:sp>
          <p:nvSpPr>
            <p:cNvPr name="Freeform 5" id="5"/>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6615100" y="2110950"/>
            <a:ext cx="4282800" cy="4282800"/>
            <a:chOff x="0" y="0"/>
            <a:chExt cx="5710400" cy="5710400"/>
          </a:xfrm>
        </p:grpSpPr>
        <p:sp>
          <p:nvSpPr>
            <p:cNvPr name="Freeform 7" id="7"/>
            <p:cNvSpPr/>
            <p:nvPr/>
          </p:nvSpPr>
          <p:spPr>
            <a:xfrm flipH="false" flipV="false" rot="0">
              <a:off x="0" y="0"/>
              <a:ext cx="5710428" cy="5710428"/>
            </a:xfrm>
            <a:custGeom>
              <a:avLst/>
              <a:gdLst/>
              <a:ahLst/>
              <a:cxnLst/>
              <a:rect r="r" b="b" t="t" l="l"/>
              <a:pathLst>
                <a:path h="5710428" w="5710428">
                  <a:moveTo>
                    <a:pt x="0" y="2855214"/>
                  </a:moveTo>
                  <a:cubicBezTo>
                    <a:pt x="0" y="1278255"/>
                    <a:pt x="1278255" y="0"/>
                    <a:pt x="2855214" y="0"/>
                  </a:cubicBezTo>
                  <a:cubicBezTo>
                    <a:pt x="4432173" y="0"/>
                    <a:pt x="5710428" y="1278255"/>
                    <a:pt x="5710428" y="2855214"/>
                  </a:cubicBezTo>
                  <a:cubicBezTo>
                    <a:pt x="5710428" y="4432173"/>
                    <a:pt x="4432046" y="5710428"/>
                    <a:pt x="2855214" y="5710428"/>
                  </a:cubicBezTo>
                  <a:cubicBezTo>
                    <a:pt x="1278382" y="5710428"/>
                    <a:pt x="0" y="4432046"/>
                    <a:pt x="0" y="285521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8" id="8"/>
          <p:cNvSpPr/>
          <p:nvPr/>
        </p:nvSpPr>
        <p:spPr>
          <a:xfrm flipH="false" flipV="false" rot="0">
            <a:off x="16185905" y="8039769"/>
            <a:ext cx="2247205" cy="2247205"/>
          </a:xfrm>
          <a:custGeom>
            <a:avLst/>
            <a:gdLst/>
            <a:ahLst/>
            <a:cxnLst/>
            <a:rect r="r" b="b" t="t" l="l"/>
            <a:pathLst>
              <a:path h="2247205" w="2247205">
                <a:moveTo>
                  <a:pt x="0" y="0"/>
                </a:moveTo>
                <a:lnTo>
                  <a:pt x="2247206" y="0"/>
                </a:lnTo>
                <a:lnTo>
                  <a:pt x="2247206" y="2247206"/>
                </a:lnTo>
                <a:lnTo>
                  <a:pt x="0" y="2247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367001" y="1655749"/>
            <a:ext cx="3821863" cy="8045352"/>
          </a:xfrm>
          <a:custGeom>
            <a:avLst/>
            <a:gdLst/>
            <a:ahLst/>
            <a:cxnLst/>
            <a:rect r="r" b="b" t="t" l="l"/>
            <a:pathLst>
              <a:path h="8045352" w="3821863">
                <a:moveTo>
                  <a:pt x="0" y="0"/>
                </a:moveTo>
                <a:lnTo>
                  <a:pt x="3821863" y="0"/>
                </a:lnTo>
                <a:lnTo>
                  <a:pt x="3821863" y="8045352"/>
                </a:lnTo>
                <a:lnTo>
                  <a:pt x="0" y="8045352"/>
                </a:lnTo>
                <a:lnTo>
                  <a:pt x="0" y="0"/>
                </a:lnTo>
                <a:close/>
              </a:path>
            </a:pathLst>
          </a:custGeom>
          <a:blipFill>
            <a:blip r:embed="rId9"/>
            <a:stretch>
              <a:fillRect l="0" t="-5858" r="0" b="0"/>
            </a:stretch>
          </a:blipFill>
        </p:spPr>
      </p:sp>
      <p:sp>
        <p:nvSpPr>
          <p:cNvPr name="Freeform 10" id="10"/>
          <p:cNvSpPr/>
          <p:nvPr/>
        </p:nvSpPr>
        <p:spPr>
          <a:xfrm flipH="false" flipV="false" rot="0">
            <a:off x="10400531" y="1655749"/>
            <a:ext cx="3821863" cy="8045352"/>
          </a:xfrm>
          <a:custGeom>
            <a:avLst/>
            <a:gdLst/>
            <a:ahLst/>
            <a:cxnLst/>
            <a:rect r="r" b="b" t="t" l="l"/>
            <a:pathLst>
              <a:path h="8045352" w="3821863">
                <a:moveTo>
                  <a:pt x="0" y="0"/>
                </a:moveTo>
                <a:lnTo>
                  <a:pt x="3821863" y="0"/>
                </a:lnTo>
                <a:lnTo>
                  <a:pt x="3821863" y="8045352"/>
                </a:lnTo>
                <a:lnTo>
                  <a:pt x="0" y="8045352"/>
                </a:lnTo>
                <a:lnTo>
                  <a:pt x="0" y="0"/>
                </a:lnTo>
                <a:close/>
              </a:path>
            </a:pathLst>
          </a:custGeom>
          <a:blipFill>
            <a:blip r:embed="rId10"/>
            <a:stretch>
              <a:fillRect l="0" t="-5858" r="0" b="0"/>
            </a:stretch>
          </a:blipFill>
        </p:spPr>
      </p:sp>
      <p:sp>
        <p:nvSpPr>
          <p:cNvPr name="TextBox 11" id="11"/>
          <p:cNvSpPr txBox="true"/>
          <p:nvPr/>
        </p:nvSpPr>
        <p:spPr>
          <a:xfrm rot="0">
            <a:off x="3776268" y="676275"/>
            <a:ext cx="11084624" cy="695325"/>
          </a:xfrm>
          <a:prstGeom prst="rect">
            <a:avLst/>
          </a:prstGeom>
        </p:spPr>
        <p:txBody>
          <a:bodyPr anchor="t" rtlCol="false" tIns="0" lIns="0" bIns="0" rIns="0">
            <a:spAutoFit/>
          </a:bodyPr>
          <a:lstStyle/>
          <a:p>
            <a:pPr algn="l">
              <a:lnSpc>
                <a:spcPts val="5400"/>
              </a:lnSpc>
            </a:pPr>
            <a:r>
              <a:rPr lang="en-US" sz="4500">
                <a:solidFill>
                  <a:srgbClr val="F5F5F5"/>
                </a:solidFill>
                <a:latin typeface="Alata"/>
                <a:ea typeface="Alata"/>
                <a:cs typeface="Alata"/>
                <a:sym typeface="Alata"/>
              </a:rPr>
              <a:t>GIAO DIỆN THANH TOÁN THÀNH CÔNG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952876" y="2634256"/>
            <a:ext cx="3279186" cy="5929918"/>
          </a:xfrm>
          <a:custGeom>
            <a:avLst/>
            <a:gdLst/>
            <a:ahLst/>
            <a:cxnLst/>
            <a:rect r="r" b="b" t="t" l="l"/>
            <a:pathLst>
              <a:path h="5929918" w="3279186">
                <a:moveTo>
                  <a:pt x="0" y="0"/>
                </a:moveTo>
                <a:lnTo>
                  <a:pt x="3279186" y="0"/>
                </a:lnTo>
                <a:lnTo>
                  <a:pt x="3279186" y="5929918"/>
                </a:lnTo>
                <a:lnTo>
                  <a:pt x="0" y="592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20728" y="3632011"/>
            <a:ext cx="6577171" cy="6441576"/>
          </a:xfrm>
          <a:custGeom>
            <a:avLst/>
            <a:gdLst/>
            <a:ahLst/>
            <a:cxnLst/>
            <a:rect r="r" b="b" t="t" l="l"/>
            <a:pathLst>
              <a:path h="6441576" w="6577171">
                <a:moveTo>
                  <a:pt x="0" y="0"/>
                </a:moveTo>
                <a:lnTo>
                  <a:pt x="6577171" y="0"/>
                </a:lnTo>
                <a:lnTo>
                  <a:pt x="6577171" y="6441576"/>
                </a:lnTo>
                <a:lnTo>
                  <a:pt x="0" y="6441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057300" y="3339300"/>
            <a:ext cx="3608400" cy="3608400"/>
            <a:chOff x="0" y="0"/>
            <a:chExt cx="4811200" cy="4811200"/>
          </a:xfrm>
        </p:grpSpPr>
        <p:sp>
          <p:nvSpPr>
            <p:cNvPr name="Freeform 5" id="5"/>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6615100" y="2110950"/>
            <a:ext cx="4282800" cy="4282800"/>
            <a:chOff x="0" y="0"/>
            <a:chExt cx="5710400" cy="5710400"/>
          </a:xfrm>
        </p:grpSpPr>
        <p:sp>
          <p:nvSpPr>
            <p:cNvPr name="Freeform 7" id="7"/>
            <p:cNvSpPr/>
            <p:nvPr/>
          </p:nvSpPr>
          <p:spPr>
            <a:xfrm flipH="false" flipV="false" rot="0">
              <a:off x="0" y="0"/>
              <a:ext cx="5710428" cy="5710428"/>
            </a:xfrm>
            <a:custGeom>
              <a:avLst/>
              <a:gdLst/>
              <a:ahLst/>
              <a:cxnLst/>
              <a:rect r="r" b="b" t="t" l="l"/>
              <a:pathLst>
                <a:path h="5710428" w="5710428">
                  <a:moveTo>
                    <a:pt x="0" y="2855214"/>
                  </a:moveTo>
                  <a:cubicBezTo>
                    <a:pt x="0" y="1278255"/>
                    <a:pt x="1278255" y="0"/>
                    <a:pt x="2855214" y="0"/>
                  </a:cubicBezTo>
                  <a:cubicBezTo>
                    <a:pt x="4432173" y="0"/>
                    <a:pt x="5710428" y="1278255"/>
                    <a:pt x="5710428" y="2855214"/>
                  </a:cubicBezTo>
                  <a:cubicBezTo>
                    <a:pt x="5710428" y="4432173"/>
                    <a:pt x="4432046" y="5710428"/>
                    <a:pt x="2855214" y="5710428"/>
                  </a:cubicBezTo>
                  <a:cubicBezTo>
                    <a:pt x="1278382" y="5710428"/>
                    <a:pt x="0" y="4432046"/>
                    <a:pt x="0" y="285521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8" id="8"/>
          <p:cNvSpPr/>
          <p:nvPr/>
        </p:nvSpPr>
        <p:spPr>
          <a:xfrm flipH="false" flipV="false" rot="0">
            <a:off x="16185905" y="8039769"/>
            <a:ext cx="2247205" cy="2247205"/>
          </a:xfrm>
          <a:custGeom>
            <a:avLst/>
            <a:gdLst/>
            <a:ahLst/>
            <a:cxnLst/>
            <a:rect r="r" b="b" t="t" l="l"/>
            <a:pathLst>
              <a:path h="2247205" w="2247205">
                <a:moveTo>
                  <a:pt x="0" y="0"/>
                </a:moveTo>
                <a:lnTo>
                  <a:pt x="2247206" y="0"/>
                </a:lnTo>
                <a:lnTo>
                  <a:pt x="2247206" y="2247206"/>
                </a:lnTo>
                <a:lnTo>
                  <a:pt x="0" y="2247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826597" y="2102078"/>
            <a:ext cx="14634805" cy="7061294"/>
          </a:xfrm>
          <a:custGeom>
            <a:avLst/>
            <a:gdLst/>
            <a:ahLst/>
            <a:cxnLst/>
            <a:rect r="r" b="b" t="t" l="l"/>
            <a:pathLst>
              <a:path h="7061294" w="14634805">
                <a:moveTo>
                  <a:pt x="0" y="0"/>
                </a:moveTo>
                <a:lnTo>
                  <a:pt x="14634806" y="0"/>
                </a:lnTo>
                <a:lnTo>
                  <a:pt x="14634806" y="7061294"/>
                </a:lnTo>
                <a:lnTo>
                  <a:pt x="0" y="7061294"/>
                </a:lnTo>
                <a:lnTo>
                  <a:pt x="0" y="0"/>
                </a:lnTo>
                <a:close/>
              </a:path>
            </a:pathLst>
          </a:custGeom>
          <a:blipFill>
            <a:blip r:embed="rId9"/>
            <a:stretch>
              <a:fillRect l="0" t="0" r="0" b="0"/>
            </a:stretch>
          </a:blipFill>
        </p:spPr>
      </p:sp>
      <p:sp>
        <p:nvSpPr>
          <p:cNvPr name="TextBox 10" id="10"/>
          <p:cNvSpPr txBox="true"/>
          <p:nvPr/>
        </p:nvSpPr>
        <p:spPr>
          <a:xfrm rot="0">
            <a:off x="3531350" y="847966"/>
            <a:ext cx="10485429" cy="695325"/>
          </a:xfrm>
          <a:prstGeom prst="rect">
            <a:avLst/>
          </a:prstGeom>
        </p:spPr>
        <p:txBody>
          <a:bodyPr anchor="t" rtlCol="false" tIns="0" lIns="0" bIns="0" rIns="0">
            <a:spAutoFit/>
          </a:bodyPr>
          <a:lstStyle/>
          <a:p>
            <a:pPr algn="l">
              <a:lnSpc>
                <a:spcPts val="5400"/>
              </a:lnSpc>
            </a:pPr>
            <a:r>
              <a:rPr lang="en-US" sz="4500">
                <a:solidFill>
                  <a:srgbClr val="F5F5F5"/>
                </a:solidFill>
                <a:latin typeface="Alata"/>
                <a:ea typeface="Alata"/>
                <a:cs typeface="Alata"/>
                <a:sym typeface="Alata"/>
              </a:rPr>
              <a:t>GIAO DIỆN TRANG CHỦ QUẢN TRỊ VIÊN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952876" y="2634256"/>
            <a:ext cx="3279186" cy="5929918"/>
          </a:xfrm>
          <a:custGeom>
            <a:avLst/>
            <a:gdLst/>
            <a:ahLst/>
            <a:cxnLst/>
            <a:rect r="r" b="b" t="t" l="l"/>
            <a:pathLst>
              <a:path h="5929918" w="3279186">
                <a:moveTo>
                  <a:pt x="0" y="0"/>
                </a:moveTo>
                <a:lnTo>
                  <a:pt x="3279186" y="0"/>
                </a:lnTo>
                <a:lnTo>
                  <a:pt x="3279186" y="5929918"/>
                </a:lnTo>
                <a:lnTo>
                  <a:pt x="0" y="592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20728" y="3632011"/>
            <a:ext cx="6577171" cy="6441576"/>
          </a:xfrm>
          <a:custGeom>
            <a:avLst/>
            <a:gdLst/>
            <a:ahLst/>
            <a:cxnLst/>
            <a:rect r="r" b="b" t="t" l="l"/>
            <a:pathLst>
              <a:path h="6441576" w="6577171">
                <a:moveTo>
                  <a:pt x="0" y="0"/>
                </a:moveTo>
                <a:lnTo>
                  <a:pt x="6577171" y="0"/>
                </a:lnTo>
                <a:lnTo>
                  <a:pt x="6577171" y="6441576"/>
                </a:lnTo>
                <a:lnTo>
                  <a:pt x="0" y="6441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057300" y="3339300"/>
            <a:ext cx="3608400" cy="3608400"/>
            <a:chOff x="0" y="0"/>
            <a:chExt cx="4811200" cy="4811200"/>
          </a:xfrm>
        </p:grpSpPr>
        <p:sp>
          <p:nvSpPr>
            <p:cNvPr name="Freeform 5" id="5"/>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6615100" y="2110950"/>
            <a:ext cx="4282800" cy="4282800"/>
            <a:chOff x="0" y="0"/>
            <a:chExt cx="5710400" cy="5710400"/>
          </a:xfrm>
        </p:grpSpPr>
        <p:sp>
          <p:nvSpPr>
            <p:cNvPr name="Freeform 7" id="7"/>
            <p:cNvSpPr/>
            <p:nvPr/>
          </p:nvSpPr>
          <p:spPr>
            <a:xfrm flipH="false" flipV="false" rot="0">
              <a:off x="0" y="0"/>
              <a:ext cx="5710428" cy="5710428"/>
            </a:xfrm>
            <a:custGeom>
              <a:avLst/>
              <a:gdLst/>
              <a:ahLst/>
              <a:cxnLst/>
              <a:rect r="r" b="b" t="t" l="l"/>
              <a:pathLst>
                <a:path h="5710428" w="5710428">
                  <a:moveTo>
                    <a:pt x="0" y="2855214"/>
                  </a:moveTo>
                  <a:cubicBezTo>
                    <a:pt x="0" y="1278255"/>
                    <a:pt x="1278255" y="0"/>
                    <a:pt x="2855214" y="0"/>
                  </a:cubicBezTo>
                  <a:cubicBezTo>
                    <a:pt x="4432173" y="0"/>
                    <a:pt x="5710428" y="1278255"/>
                    <a:pt x="5710428" y="2855214"/>
                  </a:cubicBezTo>
                  <a:cubicBezTo>
                    <a:pt x="5710428" y="4432173"/>
                    <a:pt x="4432046" y="5710428"/>
                    <a:pt x="2855214" y="5710428"/>
                  </a:cubicBezTo>
                  <a:cubicBezTo>
                    <a:pt x="1278382" y="5710428"/>
                    <a:pt x="0" y="4432046"/>
                    <a:pt x="0" y="285521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8" id="8"/>
          <p:cNvSpPr/>
          <p:nvPr/>
        </p:nvSpPr>
        <p:spPr>
          <a:xfrm flipH="false" flipV="false" rot="0">
            <a:off x="16185905" y="8039769"/>
            <a:ext cx="2247205" cy="2247205"/>
          </a:xfrm>
          <a:custGeom>
            <a:avLst/>
            <a:gdLst/>
            <a:ahLst/>
            <a:cxnLst/>
            <a:rect r="r" b="b" t="t" l="l"/>
            <a:pathLst>
              <a:path h="2247205" w="2247205">
                <a:moveTo>
                  <a:pt x="0" y="0"/>
                </a:moveTo>
                <a:lnTo>
                  <a:pt x="2247206" y="0"/>
                </a:lnTo>
                <a:lnTo>
                  <a:pt x="2247206" y="2247206"/>
                </a:lnTo>
                <a:lnTo>
                  <a:pt x="0" y="2247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51100" y="1868967"/>
            <a:ext cx="15708200" cy="7559571"/>
          </a:xfrm>
          <a:custGeom>
            <a:avLst/>
            <a:gdLst/>
            <a:ahLst/>
            <a:cxnLst/>
            <a:rect r="r" b="b" t="t" l="l"/>
            <a:pathLst>
              <a:path h="7559571" w="15708200">
                <a:moveTo>
                  <a:pt x="0" y="0"/>
                </a:moveTo>
                <a:lnTo>
                  <a:pt x="15708200" y="0"/>
                </a:lnTo>
                <a:lnTo>
                  <a:pt x="15708200" y="7559571"/>
                </a:lnTo>
                <a:lnTo>
                  <a:pt x="0" y="7559571"/>
                </a:lnTo>
                <a:lnTo>
                  <a:pt x="0" y="0"/>
                </a:lnTo>
                <a:close/>
              </a:path>
            </a:pathLst>
          </a:custGeom>
          <a:blipFill>
            <a:blip r:embed="rId9"/>
            <a:stretch>
              <a:fillRect l="0" t="0" r="0" b="0"/>
            </a:stretch>
          </a:blipFill>
        </p:spPr>
      </p:sp>
      <p:sp>
        <p:nvSpPr>
          <p:cNvPr name="TextBox 10" id="10"/>
          <p:cNvSpPr txBox="true"/>
          <p:nvPr/>
        </p:nvSpPr>
        <p:spPr>
          <a:xfrm rot="0">
            <a:off x="2660152" y="676275"/>
            <a:ext cx="12967695" cy="695325"/>
          </a:xfrm>
          <a:prstGeom prst="rect">
            <a:avLst/>
          </a:prstGeom>
        </p:spPr>
        <p:txBody>
          <a:bodyPr anchor="t" rtlCol="false" tIns="0" lIns="0" bIns="0" rIns="0">
            <a:spAutoFit/>
          </a:bodyPr>
          <a:lstStyle/>
          <a:p>
            <a:pPr algn="l">
              <a:lnSpc>
                <a:spcPts val="5400"/>
              </a:lnSpc>
            </a:pPr>
            <a:r>
              <a:rPr lang="en-US" sz="4500">
                <a:solidFill>
                  <a:srgbClr val="F5F5F5"/>
                </a:solidFill>
                <a:latin typeface="Alata"/>
                <a:ea typeface="Alata"/>
                <a:cs typeface="Alata"/>
                <a:sym typeface="Alata"/>
              </a:rPr>
              <a:t>GIAO DIỆN QUẢN LÝ NGƯỜI DÙNG/NHÂN VIÊN</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952876" y="2634256"/>
            <a:ext cx="3279186" cy="5929918"/>
          </a:xfrm>
          <a:custGeom>
            <a:avLst/>
            <a:gdLst/>
            <a:ahLst/>
            <a:cxnLst/>
            <a:rect r="r" b="b" t="t" l="l"/>
            <a:pathLst>
              <a:path h="5929918" w="3279186">
                <a:moveTo>
                  <a:pt x="0" y="0"/>
                </a:moveTo>
                <a:lnTo>
                  <a:pt x="3279186" y="0"/>
                </a:lnTo>
                <a:lnTo>
                  <a:pt x="3279186" y="5929918"/>
                </a:lnTo>
                <a:lnTo>
                  <a:pt x="0" y="592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20728" y="3632011"/>
            <a:ext cx="6577171" cy="6441576"/>
          </a:xfrm>
          <a:custGeom>
            <a:avLst/>
            <a:gdLst/>
            <a:ahLst/>
            <a:cxnLst/>
            <a:rect r="r" b="b" t="t" l="l"/>
            <a:pathLst>
              <a:path h="6441576" w="6577171">
                <a:moveTo>
                  <a:pt x="0" y="0"/>
                </a:moveTo>
                <a:lnTo>
                  <a:pt x="6577171" y="0"/>
                </a:lnTo>
                <a:lnTo>
                  <a:pt x="6577171" y="6441576"/>
                </a:lnTo>
                <a:lnTo>
                  <a:pt x="0" y="6441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057300" y="3339300"/>
            <a:ext cx="3608400" cy="3608400"/>
            <a:chOff x="0" y="0"/>
            <a:chExt cx="4811200" cy="4811200"/>
          </a:xfrm>
        </p:grpSpPr>
        <p:sp>
          <p:nvSpPr>
            <p:cNvPr name="Freeform 5" id="5"/>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6615100" y="2110950"/>
            <a:ext cx="4282800" cy="4282800"/>
            <a:chOff x="0" y="0"/>
            <a:chExt cx="5710400" cy="5710400"/>
          </a:xfrm>
        </p:grpSpPr>
        <p:sp>
          <p:nvSpPr>
            <p:cNvPr name="Freeform 7" id="7"/>
            <p:cNvSpPr/>
            <p:nvPr/>
          </p:nvSpPr>
          <p:spPr>
            <a:xfrm flipH="false" flipV="false" rot="0">
              <a:off x="0" y="0"/>
              <a:ext cx="5710428" cy="5710428"/>
            </a:xfrm>
            <a:custGeom>
              <a:avLst/>
              <a:gdLst/>
              <a:ahLst/>
              <a:cxnLst/>
              <a:rect r="r" b="b" t="t" l="l"/>
              <a:pathLst>
                <a:path h="5710428" w="5710428">
                  <a:moveTo>
                    <a:pt x="0" y="2855214"/>
                  </a:moveTo>
                  <a:cubicBezTo>
                    <a:pt x="0" y="1278255"/>
                    <a:pt x="1278255" y="0"/>
                    <a:pt x="2855214" y="0"/>
                  </a:cubicBezTo>
                  <a:cubicBezTo>
                    <a:pt x="4432173" y="0"/>
                    <a:pt x="5710428" y="1278255"/>
                    <a:pt x="5710428" y="2855214"/>
                  </a:cubicBezTo>
                  <a:cubicBezTo>
                    <a:pt x="5710428" y="4432173"/>
                    <a:pt x="4432046" y="5710428"/>
                    <a:pt x="2855214" y="5710428"/>
                  </a:cubicBezTo>
                  <a:cubicBezTo>
                    <a:pt x="1278382" y="5710428"/>
                    <a:pt x="0" y="4432046"/>
                    <a:pt x="0" y="285521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8" id="8"/>
          <p:cNvSpPr/>
          <p:nvPr/>
        </p:nvSpPr>
        <p:spPr>
          <a:xfrm flipH="false" flipV="false" rot="0">
            <a:off x="16185905" y="8039769"/>
            <a:ext cx="2247205" cy="2247205"/>
          </a:xfrm>
          <a:custGeom>
            <a:avLst/>
            <a:gdLst/>
            <a:ahLst/>
            <a:cxnLst/>
            <a:rect r="r" b="b" t="t" l="l"/>
            <a:pathLst>
              <a:path h="2247205" w="2247205">
                <a:moveTo>
                  <a:pt x="0" y="0"/>
                </a:moveTo>
                <a:lnTo>
                  <a:pt x="2247206" y="0"/>
                </a:lnTo>
                <a:lnTo>
                  <a:pt x="2247206" y="2247206"/>
                </a:lnTo>
                <a:lnTo>
                  <a:pt x="0" y="2247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732049" y="2089088"/>
            <a:ext cx="14702103" cy="7020254"/>
          </a:xfrm>
          <a:custGeom>
            <a:avLst/>
            <a:gdLst/>
            <a:ahLst/>
            <a:cxnLst/>
            <a:rect r="r" b="b" t="t" l="l"/>
            <a:pathLst>
              <a:path h="7020254" w="14702103">
                <a:moveTo>
                  <a:pt x="0" y="0"/>
                </a:moveTo>
                <a:lnTo>
                  <a:pt x="14702102" y="0"/>
                </a:lnTo>
                <a:lnTo>
                  <a:pt x="14702102" y="7020254"/>
                </a:lnTo>
                <a:lnTo>
                  <a:pt x="0" y="7020254"/>
                </a:lnTo>
                <a:lnTo>
                  <a:pt x="0" y="0"/>
                </a:lnTo>
                <a:close/>
              </a:path>
            </a:pathLst>
          </a:custGeom>
          <a:blipFill>
            <a:blip r:embed="rId9"/>
            <a:stretch>
              <a:fillRect l="0" t="0" r="0" b="0"/>
            </a:stretch>
          </a:blipFill>
        </p:spPr>
      </p:sp>
      <p:sp>
        <p:nvSpPr>
          <p:cNvPr name="TextBox 10" id="10"/>
          <p:cNvSpPr txBox="true"/>
          <p:nvPr/>
        </p:nvSpPr>
        <p:spPr>
          <a:xfrm rot="0">
            <a:off x="4672745" y="676275"/>
            <a:ext cx="8942510" cy="695325"/>
          </a:xfrm>
          <a:prstGeom prst="rect">
            <a:avLst/>
          </a:prstGeom>
        </p:spPr>
        <p:txBody>
          <a:bodyPr anchor="t" rtlCol="false" tIns="0" lIns="0" bIns="0" rIns="0">
            <a:spAutoFit/>
          </a:bodyPr>
          <a:lstStyle/>
          <a:p>
            <a:pPr algn="l">
              <a:lnSpc>
                <a:spcPts val="5400"/>
              </a:lnSpc>
            </a:pPr>
            <a:r>
              <a:rPr lang="en-US" sz="4500">
                <a:solidFill>
                  <a:srgbClr val="F5F5F5"/>
                </a:solidFill>
                <a:latin typeface="Alata"/>
                <a:ea typeface="Alata"/>
                <a:cs typeface="Alata"/>
                <a:sym typeface="Alata"/>
              </a:rPr>
              <a:t>GIAO DIỆN QUẢN LÝ ĐƠN HÀNG</a:t>
            </a:r>
          </a:p>
        </p:txBody>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952876" y="2634256"/>
            <a:ext cx="3279186" cy="5929918"/>
          </a:xfrm>
          <a:custGeom>
            <a:avLst/>
            <a:gdLst/>
            <a:ahLst/>
            <a:cxnLst/>
            <a:rect r="r" b="b" t="t" l="l"/>
            <a:pathLst>
              <a:path h="5929918" w="3279186">
                <a:moveTo>
                  <a:pt x="0" y="0"/>
                </a:moveTo>
                <a:lnTo>
                  <a:pt x="3279186" y="0"/>
                </a:lnTo>
                <a:lnTo>
                  <a:pt x="3279186" y="5929918"/>
                </a:lnTo>
                <a:lnTo>
                  <a:pt x="0" y="592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320728" y="3632011"/>
            <a:ext cx="6577171" cy="6441576"/>
          </a:xfrm>
          <a:custGeom>
            <a:avLst/>
            <a:gdLst/>
            <a:ahLst/>
            <a:cxnLst/>
            <a:rect r="r" b="b" t="t" l="l"/>
            <a:pathLst>
              <a:path h="6441576" w="6577171">
                <a:moveTo>
                  <a:pt x="0" y="0"/>
                </a:moveTo>
                <a:lnTo>
                  <a:pt x="6577171" y="0"/>
                </a:lnTo>
                <a:lnTo>
                  <a:pt x="6577171" y="6441576"/>
                </a:lnTo>
                <a:lnTo>
                  <a:pt x="0" y="6441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057300" y="3339300"/>
            <a:ext cx="3608400" cy="3608400"/>
            <a:chOff x="0" y="0"/>
            <a:chExt cx="4811200" cy="4811200"/>
          </a:xfrm>
        </p:grpSpPr>
        <p:sp>
          <p:nvSpPr>
            <p:cNvPr name="Freeform 5" id="5"/>
            <p:cNvSpPr/>
            <p:nvPr/>
          </p:nvSpPr>
          <p:spPr>
            <a:xfrm flipH="false" flipV="false" rot="0">
              <a:off x="0" y="0"/>
              <a:ext cx="4811141" cy="4811141"/>
            </a:xfrm>
            <a:custGeom>
              <a:avLst/>
              <a:gdLst/>
              <a:ahLst/>
              <a:cxnLst/>
              <a:rect r="r" b="b" t="t" l="l"/>
              <a:pathLst>
                <a:path h="4811141" w="4811141">
                  <a:moveTo>
                    <a:pt x="0" y="2405634"/>
                  </a:moveTo>
                  <a:cubicBezTo>
                    <a:pt x="0" y="1077087"/>
                    <a:pt x="1077087" y="0"/>
                    <a:pt x="2405634" y="0"/>
                  </a:cubicBezTo>
                  <a:cubicBezTo>
                    <a:pt x="3734181" y="0"/>
                    <a:pt x="4811141" y="1077087"/>
                    <a:pt x="4811141" y="2405634"/>
                  </a:cubicBezTo>
                  <a:cubicBezTo>
                    <a:pt x="4811141" y="3734181"/>
                    <a:pt x="3734181" y="4811141"/>
                    <a:pt x="2405634" y="4811141"/>
                  </a:cubicBezTo>
                  <a:cubicBezTo>
                    <a:pt x="1077087" y="4811141"/>
                    <a:pt x="0" y="3734181"/>
                    <a:pt x="0" y="240563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6615100" y="2110950"/>
            <a:ext cx="4282800" cy="4282800"/>
            <a:chOff x="0" y="0"/>
            <a:chExt cx="5710400" cy="5710400"/>
          </a:xfrm>
        </p:grpSpPr>
        <p:sp>
          <p:nvSpPr>
            <p:cNvPr name="Freeform 7" id="7"/>
            <p:cNvSpPr/>
            <p:nvPr/>
          </p:nvSpPr>
          <p:spPr>
            <a:xfrm flipH="false" flipV="false" rot="0">
              <a:off x="0" y="0"/>
              <a:ext cx="5710428" cy="5710428"/>
            </a:xfrm>
            <a:custGeom>
              <a:avLst/>
              <a:gdLst/>
              <a:ahLst/>
              <a:cxnLst/>
              <a:rect r="r" b="b" t="t" l="l"/>
              <a:pathLst>
                <a:path h="5710428" w="5710428">
                  <a:moveTo>
                    <a:pt x="0" y="2855214"/>
                  </a:moveTo>
                  <a:cubicBezTo>
                    <a:pt x="0" y="1278255"/>
                    <a:pt x="1278255" y="0"/>
                    <a:pt x="2855214" y="0"/>
                  </a:cubicBezTo>
                  <a:cubicBezTo>
                    <a:pt x="4432173" y="0"/>
                    <a:pt x="5710428" y="1278255"/>
                    <a:pt x="5710428" y="2855214"/>
                  </a:cubicBezTo>
                  <a:cubicBezTo>
                    <a:pt x="5710428" y="4432173"/>
                    <a:pt x="4432046" y="5710428"/>
                    <a:pt x="2855214" y="5710428"/>
                  </a:cubicBezTo>
                  <a:cubicBezTo>
                    <a:pt x="1278382" y="5710428"/>
                    <a:pt x="0" y="4432046"/>
                    <a:pt x="0" y="2855214"/>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8" id="8"/>
          <p:cNvSpPr/>
          <p:nvPr/>
        </p:nvSpPr>
        <p:spPr>
          <a:xfrm flipH="false" flipV="false" rot="0">
            <a:off x="16185905" y="8039769"/>
            <a:ext cx="2247205" cy="2247205"/>
          </a:xfrm>
          <a:custGeom>
            <a:avLst/>
            <a:gdLst/>
            <a:ahLst/>
            <a:cxnLst/>
            <a:rect r="r" b="b" t="t" l="l"/>
            <a:pathLst>
              <a:path h="2247205" w="2247205">
                <a:moveTo>
                  <a:pt x="0" y="0"/>
                </a:moveTo>
                <a:lnTo>
                  <a:pt x="2247206" y="0"/>
                </a:lnTo>
                <a:lnTo>
                  <a:pt x="2247206" y="2247206"/>
                </a:lnTo>
                <a:lnTo>
                  <a:pt x="0" y="2247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326310" y="1881131"/>
            <a:ext cx="15210947" cy="7282241"/>
          </a:xfrm>
          <a:custGeom>
            <a:avLst/>
            <a:gdLst/>
            <a:ahLst/>
            <a:cxnLst/>
            <a:rect r="r" b="b" t="t" l="l"/>
            <a:pathLst>
              <a:path h="7282241" w="15210947">
                <a:moveTo>
                  <a:pt x="0" y="0"/>
                </a:moveTo>
                <a:lnTo>
                  <a:pt x="15210947" y="0"/>
                </a:lnTo>
                <a:lnTo>
                  <a:pt x="15210947" y="7282241"/>
                </a:lnTo>
                <a:lnTo>
                  <a:pt x="0" y="7282241"/>
                </a:lnTo>
                <a:lnTo>
                  <a:pt x="0" y="0"/>
                </a:lnTo>
                <a:close/>
              </a:path>
            </a:pathLst>
          </a:custGeom>
          <a:blipFill>
            <a:blip r:embed="rId9"/>
            <a:stretch>
              <a:fillRect l="0" t="0" r="0" b="0"/>
            </a:stretch>
          </a:blipFill>
        </p:spPr>
      </p:sp>
      <p:sp>
        <p:nvSpPr>
          <p:cNvPr name="TextBox 10" id="10"/>
          <p:cNvSpPr txBox="true"/>
          <p:nvPr/>
        </p:nvSpPr>
        <p:spPr>
          <a:xfrm rot="0">
            <a:off x="4293085" y="676275"/>
            <a:ext cx="15225150" cy="695325"/>
          </a:xfrm>
          <a:prstGeom prst="rect">
            <a:avLst/>
          </a:prstGeom>
        </p:spPr>
        <p:txBody>
          <a:bodyPr anchor="t" rtlCol="false" tIns="0" lIns="0" bIns="0" rIns="0">
            <a:spAutoFit/>
          </a:bodyPr>
          <a:lstStyle/>
          <a:p>
            <a:pPr algn="l">
              <a:lnSpc>
                <a:spcPts val="5400"/>
              </a:lnSpc>
            </a:pPr>
            <a:r>
              <a:rPr lang="en-US" sz="4500">
                <a:solidFill>
                  <a:srgbClr val="F5F5F5"/>
                </a:solidFill>
                <a:latin typeface="Alata"/>
                <a:ea typeface="Alata"/>
                <a:cs typeface="Alata"/>
                <a:sym typeface="Alata"/>
              </a:rPr>
              <a:t>GIAO DIỆN QUẢN LÝ SẢN PHẨM</a:t>
            </a: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3740100" y="7165650"/>
            <a:ext cx="10807800" cy="10807800"/>
            <a:chOff x="0" y="0"/>
            <a:chExt cx="14410400" cy="14410400"/>
          </a:xfrm>
        </p:grpSpPr>
        <p:sp>
          <p:nvSpPr>
            <p:cNvPr name="Freeform 3" id="3"/>
            <p:cNvSpPr/>
            <p:nvPr/>
          </p:nvSpPr>
          <p:spPr>
            <a:xfrm flipH="false" flipV="false" rot="0">
              <a:off x="0" y="0"/>
              <a:ext cx="14410437" cy="14410437"/>
            </a:xfrm>
            <a:custGeom>
              <a:avLst/>
              <a:gdLst/>
              <a:ahLst/>
              <a:cxnLst/>
              <a:rect r="r" b="b" t="t" l="l"/>
              <a:pathLst>
                <a:path h="14410437" w="14410437">
                  <a:moveTo>
                    <a:pt x="0" y="7205218"/>
                  </a:moveTo>
                  <a:cubicBezTo>
                    <a:pt x="0" y="3225927"/>
                    <a:pt x="3225927" y="0"/>
                    <a:pt x="7205218" y="0"/>
                  </a:cubicBezTo>
                  <a:cubicBezTo>
                    <a:pt x="11184510" y="0"/>
                    <a:pt x="14410437" y="3225927"/>
                    <a:pt x="14410437" y="7205218"/>
                  </a:cubicBezTo>
                  <a:cubicBezTo>
                    <a:pt x="14410437" y="11184510"/>
                    <a:pt x="11184510" y="14410437"/>
                    <a:pt x="7205218" y="14410437"/>
                  </a:cubicBezTo>
                  <a:cubicBezTo>
                    <a:pt x="3225927" y="14410437"/>
                    <a:pt x="0" y="11184509"/>
                    <a:pt x="0" y="7205218"/>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4" id="4"/>
          <p:cNvSpPr/>
          <p:nvPr/>
        </p:nvSpPr>
        <p:spPr>
          <a:xfrm flipH="false" flipV="false" rot="0">
            <a:off x="8796646" y="-2935366"/>
            <a:ext cx="5566410" cy="4065692"/>
          </a:xfrm>
          <a:custGeom>
            <a:avLst/>
            <a:gdLst/>
            <a:ahLst/>
            <a:cxnLst/>
            <a:rect r="r" b="b" t="t" l="l"/>
            <a:pathLst>
              <a:path h="4065692" w="5566410">
                <a:moveTo>
                  <a:pt x="0" y="0"/>
                </a:moveTo>
                <a:lnTo>
                  <a:pt x="5566410" y="0"/>
                </a:lnTo>
                <a:lnTo>
                  <a:pt x="5566410" y="4065692"/>
                </a:lnTo>
                <a:lnTo>
                  <a:pt x="0" y="40656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6409466" y="631610"/>
            <a:ext cx="5469069" cy="5469069"/>
            <a:chOff x="0" y="0"/>
            <a:chExt cx="6028800" cy="6028800"/>
          </a:xfrm>
        </p:grpSpPr>
        <p:sp>
          <p:nvSpPr>
            <p:cNvPr name="Freeform 6" id="6"/>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7" id="7"/>
          <p:cNvSpPr txBox="true"/>
          <p:nvPr/>
        </p:nvSpPr>
        <p:spPr>
          <a:xfrm rot="0">
            <a:off x="7314000" y="5098645"/>
            <a:ext cx="3660100" cy="1514475"/>
          </a:xfrm>
          <a:prstGeom prst="rect">
            <a:avLst/>
          </a:prstGeom>
        </p:spPr>
        <p:txBody>
          <a:bodyPr anchor="t" rtlCol="false" tIns="0" lIns="0" bIns="0" rIns="0">
            <a:spAutoFit/>
          </a:bodyPr>
          <a:lstStyle/>
          <a:p>
            <a:pPr algn="ctr">
              <a:lnSpc>
                <a:spcPts val="11999"/>
              </a:lnSpc>
            </a:pPr>
            <a:r>
              <a:rPr lang="en-US" sz="9999">
                <a:solidFill>
                  <a:srgbClr val="F5F5F5"/>
                </a:solidFill>
                <a:latin typeface="Alata"/>
                <a:ea typeface="Alata"/>
                <a:cs typeface="Alata"/>
                <a:sym typeface="Alata"/>
              </a:rPr>
              <a:t>DEMO</a:t>
            </a:r>
          </a:p>
        </p:txBody>
      </p:sp>
      <p:sp>
        <p:nvSpPr>
          <p:cNvPr name="Freeform 8" id="8"/>
          <p:cNvSpPr/>
          <p:nvPr/>
        </p:nvSpPr>
        <p:spPr>
          <a:xfrm flipH="false" flipV="false" rot="0">
            <a:off x="3808198" y="-3058868"/>
            <a:ext cx="5675680" cy="7103626"/>
          </a:xfrm>
          <a:custGeom>
            <a:avLst/>
            <a:gdLst/>
            <a:ahLst/>
            <a:cxnLst/>
            <a:rect r="r" b="b" t="t" l="l"/>
            <a:pathLst>
              <a:path h="7103626" w="5675680">
                <a:moveTo>
                  <a:pt x="0" y="0"/>
                </a:moveTo>
                <a:lnTo>
                  <a:pt x="5675680" y="0"/>
                </a:lnTo>
                <a:lnTo>
                  <a:pt x="5675680" y="7103626"/>
                </a:lnTo>
                <a:lnTo>
                  <a:pt x="0" y="71036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5409300" y="6948126"/>
            <a:ext cx="7469400" cy="66600"/>
            <a:chOff x="0" y="0"/>
            <a:chExt cx="9959200" cy="88800"/>
          </a:xfrm>
        </p:grpSpPr>
        <p:sp>
          <p:nvSpPr>
            <p:cNvPr name="Freeform 10" id="10"/>
            <p:cNvSpPr/>
            <p:nvPr/>
          </p:nvSpPr>
          <p:spPr>
            <a:xfrm flipH="false" flipV="false" rot="0">
              <a:off x="0" y="0"/>
              <a:ext cx="9959213" cy="88773"/>
            </a:xfrm>
            <a:custGeom>
              <a:avLst/>
              <a:gdLst/>
              <a:ahLst/>
              <a:cxnLst/>
              <a:rect r="r" b="b" t="t" l="l"/>
              <a:pathLst>
                <a:path h="88773" w="9959213">
                  <a:moveTo>
                    <a:pt x="0" y="0"/>
                  </a:moveTo>
                  <a:lnTo>
                    <a:pt x="9959213" y="0"/>
                  </a:lnTo>
                  <a:lnTo>
                    <a:pt x="9959213" y="88773"/>
                  </a:lnTo>
                  <a:lnTo>
                    <a:pt x="0" y="88773"/>
                  </a:lnTo>
                  <a:close/>
                </a:path>
              </a:pathLst>
            </a:custGeom>
            <a:gradFill rotWithShape="true">
              <a:gsLst>
                <a:gs pos="0">
                  <a:srgbClr val="49E1BB">
                    <a:alpha val="100000"/>
                  </a:srgbClr>
                </a:gs>
                <a:gs pos="100000">
                  <a:srgbClr val="1E8A6F">
                    <a:alpha val="100000"/>
                  </a:srgbClr>
                </a:gs>
              </a:gsLst>
              <a:path path="circle">
                <a:fillToRect l="50000" r="50000" t="50000" b="50000"/>
              </a:path>
            </a:gradFill>
          </p:spPr>
        </p:sp>
      </p:grpSp>
      <p:sp>
        <p:nvSpPr>
          <p:cNvPr name="Freeform 11" id="11"/>
          <p:cNvSpPr/>
          <p:nvPr/>
        </p:nvSpPr>
        <p:spPr>
          <a:xfrm flipH="false" flipV="false" rot="0">
            <a:off x="3954668" y="7522914"/>
            <a:ext cx="10013198" cy="5094416"/>
          </a:xfrm>
          <a:custGeom>
            <a:avLst/>
            <a:gdLst/>
            <a:ahLst/>
            <a:cxnLst/>
            <a:rect r="r" b="b" t="t" l="l"/>
            <a:pathLst>
              <a:path h="5094416" w="10013198">
                <a:moveTo>
                  <a:pt x="0" y="0"/>
                </a:moveTo>
                <a:lnTo>
                  <a:pt x="10013198" y="0"/>
                </a:lnTo>
                <a:lnTo>
                  <a:pt x="10013198" y="5094416"/>
                </a:lnTo>
                <a:lnTo>
                  <a:pt x="0" y="50944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7492792" y="1786045"/>
            <a:ext cx="3125108" cy="3160200"/>
            <a:chOff x="0" y="0"/>
            <a:chExt cx="1959200" cy="1981200"/>
          </a:xfrm>
        </p:grpSpPr>
        <p:sp>
          <p:nvSpPr>
            <p:cNvPr name="Freeform 13" id="13"/>
            <p:cNvSpPr/>
            <p:nvPr/>
          </p:nvSpPr>
          <p:spPr>
            <a:xfrm flipH="false" flipV="false" rot="0">
              <a:off x="0" y="0"/>
              <a:ext cx="1959229" cy="1981203"/>
            </a:xfrm>
            <a:custGeom>
              <a:avLst/>
              <a:gdLst/>
              <a:ahLst/>
              <a:cxnLst/>
              <a:rect r="r" b="b" t="t" l="l"/>
              <a:pathLst>
                <a:path h="1981203" w="1959229">
                  <a:moveTo>
                    <a:pt x="0" y="0"/>
                  </a:moveTo>
                  <a:lnTo>
                    <a:pt x="1959229" y="0"/>
                  </a:lnTo>
                  <a:lnTo>
                    <a:pt x="1959229" y="1981203"/>
                  </a:lnTo>
                  <a:lnTo>
                    <a:pt x="0" y="1981203"/>
                  </a:lnTo>
                  <a:close/>
                </a:path>
              </a:pathLst>
            </a:custGeom>
            <a:solidFill>
              <a:srgbClr val="5FFFF1"/>
            </a:solidFill>
            <a:ln w="12700">
              <a:solidFill>
                <a:srgbClr val="000000"/>
              </a:solidFill>
            </a:ln>
          </p:spPr>
        </p:sp>
        <p:sp>
          <p:nvSpPr>
            <p:cNvPr name="TextBox 14" id="14"/>
            <p:cNvSpPr txBox="true"/>
            <p:nvPr/>
          </p:nvSpPr>
          <p:spPr>
            <a:xfrm>
              <a:off x="0" y="-9525"/>
              <a:ext cx="1959200" cy="1990725"/>
            </a:xfrm>
            <a:prstGeom prst="rect">
              <a:avLst/>
            </a:prstGeom>
          </p:spPr>
          <p:txBody>
            <a:bodyPr anchor="ctr" rtlCol="false" tIns="50800" lIns="50800" bIns="50800" rIns="50800"/>
            <a:lstStyle/>
            <a:p>
              <a:pPr algn="ctr">
                <a:lnSpc>
                  <a:spcPts val="14400"/>
                </a:lnSpc>
              </a:pPr>
              <a:r>
                <a:rPr lang="en-US" sz="12000">
                  <a:solidFill>
                    <a:srgbClr val="091915"/>
                  </a:solidFill>
                  <a:latin typeface="Alata"/>
                  <a:ea typeface="Alata"/>
                  <a:cs typeface="Alata"/>
                  <a:sym typeface="Alata"/>
                </a:rPr>
                <a:t>04</a:t>
              </a:r>
            </a:p>
          </p:txBody>
        </p:sp>
      </p:gr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3740100" y="7165650"/>
            <a:ext cx="10807800" cy="10807800"/>
            <a:chOff x="0" y="0"/>
            <a:chExt cx="14410400" cy="14410400"/>
          </a:xfrm>
        </p:grpSpPr>
        <p:sp>
          <p:nvSpPr>
            <p:cNvPr name="Freeform 3" id="3"/>
            <p:cNvSpPr/>
            <p:nvPr/>
          </p:nvSpPr>
          <p:spPr>
            <a:xfrm flipH="false" flipV="false" rot="0">
              <a:off x="0" y="0"/>
              <a:ext cx="14410437" cy="14410437"/>
            </a:xfrm>
            <a:custGeom>
              <a:avLst/>
              <a:gdLst/>
              <a:ahLst/>
              <a:cxnLst/>
              <a:rect r="r" b="b" t="t" l="l"/>
              <a:pathLst>
                <a:path h="14410437" w="14410437">
                  <a:moveTo>
                    <a:pt x="0" y="7205218"/>
                  </a:moveTo>
                  <a:cubicBezTo>
                    <a:pt x="0" y="3225927"/>
                    <a:pt x="3225927" y="0"/>
                    <a:pt x="7205218" y="0"/>
                  </a:cubicBezTo>
                  <a:cubicBezTo>
                    <a:pt x="11184510" y="0"/>
                    <a:pt x="14410437" y="3225927"/>
                    <a:pt x="14410437" y="7205218"/>
                  </a:cubicBezTo>
                  <a:cubicBezTo>
                    <a:pt x="14410437" y="11184510"/>
                    <a:pt x="11184510" y="14410437"/>
                    <a:pt x="7205218" y="14410437"/>
                  </a:cubicBezTo>
                  <a:cubicBezTo>
                    <a:pt x="3225927" y="14410437"/>
                    <a:pt x="0" y="11184509"/>
                    <a:pt x="0" y="7205218"/>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Freeform 4" id="4"/>
          <p:cNvSpPr/>
          <p:nvPr/>
        </p:nvSpPr>
        <p:spPr>
          <a:xfrm flipH="false" flipV="false" rot="0">
            <a:off x="8796646" y="-2935366"/>
            <a:ext cx="5566410" cy="4065692"/>
          </a:xfrm>
          <a:custGeom>
            <a:avLst/>
            <a:gdLst/>
            <a:ahLst/>
            <a:cxnLst/>
            <a:rect r="r" b="b" t="t" l="l"/>
            <a:pathLst>
              <a:path h="4065692" w="5566410">
                <a:moveTo>
                  <a:pt x="0" y="0"/>
                </a:moveTo>
                <a:lnTo>
                  <a:pt x="5566410" y="0"/>
                </a:lnTo>
                <a:lnTo>
                  <a:pt x="5566410" y="4065692"/>
                </a:lnTo>
                <a:lnTo>
                  <a:pt x="0" y="40656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6883400" y="1526526"/>
            <a:ext cx="4521600" cy="4521600"/>
            <a:chOff x="0" y="0"/>
            <a:chExt cx="6028800" cy="6028800"/>
          </a:xfrm>
        </p:grpSpPr>
        <p:sp>
          <p:nvSpPr>
            <p:cNvPr name="Freeform 6" id="6"/>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sp>
        <p:nvSpPr>
          <p:cNvPr name="TextBox 7" id="7"/>
          <p:cNvSpPr txBox="true"/>
          <p:nvPr/>
        </p:nvSpPr>
        <p:spPr>
          <a:xfrm rot="0">
            <a:off x="3240575" y="5098645"/>
            <a:ext cx="11806950" cy="1500750"/>
          </a:xfrm>
          <a:prstGeom prst="rect">
            <a:avLst/>
          </a:prstGeom>
        </p:spPr>
        <p:txBody>
          <a:bodyPr anchor="t" rtlCol="false" tIns="0" lIns="0" bIns="0" rIns="0">
            <a:spAutoFit/>
          </a:bodyPr>
          <a:lstStyle/>
          <a:p>
            <a:pPr algn="ctr">
              <a:lnSpc>
                <a:spcPts val="11999"/>
              </a:lnSpc>
            </a:pPr>
            <a:r>
              <a:rPr lang="en-US" sz="9999">
                <a:solidFill>
                  <a:srgbClr val="091915"/>
                </a:solidFill>
                <a:latin typeface="Alata"/>
                <a:ea typeface="Alata"/>
                <a:cs typeface="Alata"/>
                <a:sym typeface="Alata"/>
              </a:rPr>
              <a:t>DEMO</a:t>
            </a:r>
          </a:p>
        </p:txBody>
      </p:sp>
      <p:grpSp>
        <p:nvGrpSpPr>
          <p:cNvPr name="Group 8" id="8"/>
          <p:cNvGrpSpPr/>
          <p:nvPr/>
        </p:nvGrpSpPr>
        <p:grpSpPr>
          <a:xfrm rot="0">
            <a:off x="8054300" y="2854200"/>
            <a:ext cx="2179800" cy="2055600"/>
            <a:chOff x="0" y="0"/>
            <a:chExt cx="2906400" cy="2740800"/>
          </a:xfrm>
        </p:grpSpPr>
        <p:sp>
          <p:nvSpPr>
            <p:cNvPr name="Freeform 9" id="9"/>
            <p:cNvSpPr/>
            <p:nvPr/>
          </p:nvSpPr>
          <p:spPr>
            <a:xfrm flipH="false" flipV="false" rot="0">
              <a:off x="0" y="0"/>
              <a:ext cx="2906400" cy="2740800"/>
            </a:xfrm>
            <a:custGeom>
              <a:avLst/>
              <a:gdLst/>
              <a:ahLst/>
              <a:cxnLst/>
              <a:rect r="r" b="b" t="t" l="l"/>
              <a:pathLst>
                <a:path h="2740800" w="2906400">
                  <a:moveTo>
                    <a:pt x="0" y="0"/>
                  </a:moveTo>
                  <a:lnTo>
                    <a:pt x="2906400" y="0"/>
                  </a:lnTo>
                  <a:lnTo>
                    <a:pt x="2906400" y="2740800"/>
                  </a:lnTo>
                  <a:lnTo>
                    <a:pt x="0" y="2740800"/>
                  </a:lnTo>
                  <a:close/>
                </a:path>
              </a:pathLst>
            </a:custGeom>
            <a:solidFill>
              <a:srgbClr val="000000">
                <a:alpha val="0"/>
              </a:srgbClr>
            </a:solidFill>
          </p:spPr>
        </p:sp>
        <p:sp>
          <p:nvSpPr>
            <p:cNvPr name="TextBox 10" id="10"/>
            <p:cNvSpPr txBox="true"/>
            <p:nvPr/>
          </p:nvSpPr>
          <p:spPr>
            <a:xfrm>
              <a:off x="0" y="0"/>
              <a:ext cx="2906400" cy="2740800"/>
            </a:xfrm>
            <a:prstGeom prst="rect">
              <a:avLst/>
            </a:prstGeom>
          </p:spPr>
          <p:txBody>
            <a:bodyPr anchor="ctr" rtlCol="false" tIns="0" lIns="0" bIns="0" rIns="0"/>
            <a:lstStyle/>
            <a:p>
              <a:pPr algn="ctr">
                <a:lnSpc>
                  <a:spcPts val="11999"/>
                </a:lnSpc>
              </a:pPr>
              <a:r>
                <a:rPr lang="en-US" sz="9999">
                  <a:solidFill>
                    <a:srgbClr val="091915"/>
                  </a:solidFill>
                  <a:latin typeface="Alata"/>
                  <a:ea typeface="Alata"/>
                  <a:cs typeface="Alata"/>
                  <a:sym typeface="Alata"/>
                </a:rPr>
                <a:t>04</a:t>
              </a:r>
            </a:p>
          </p:txBody>
        </p:sp>
      </p:grpSp>
      <p:sp>
        <p:nvSpPr>
          <p:cNvPr name="Freeform 11" id="11"/>
          <p:cNvSpPr/>
          <p:nvPr/>
        </p:nvSpPr>
        <p:spPr>
          <a:xfrm flipH="false" flipV="false" rot="0">
            <a:off x="3808198" y="-3058868"/>
            <a:ext cx="5675680" cy="7103626"/>
          </a:xfrm>
          <a:custGeom>
            <a:avLst/>
            <a:gdLst/>
            <a:ahLst/>
            <a:cxnLst/>
            <a:rect r="r" b="b" t="t" l="l"/>
            <a:pathLst>
              <a:path h="7103626" w="5675680">
                <a:moveTo>
                  <a:pt x="0" y="0"/>
                </a:moveTo>
                <a:lnTo>
                  <a:pt x="5675680" y="0"/>
                </a:lnTo>
                <a:lnTo>
                  <a:pt x="5675680" y="7103626"/>
                </a:lnTo>
                <a:lnTo>
                  <a:pt x="0" y="71036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5409300" y="6948126"/>
            <a:ext cx="7469400" cy="66600"/>
            <a:chOff x="0" y="0"/>
            <a:chExt cx="9959200" cy="88800"/>
          </a:xfrm>
        </p:grpSpPr>
        <p:sp>
          <p:nvSpPr>
            <p:cNvPr name="Freeform 13" id="13"/>
            <p:cNvSpPr/>
            <p:nvPr/>
          </p:nvSpPr>
          <p:spPr>
            <a:xfrm flipH="false" flipV="false" rot="0">
              <a:off x="0" y="0"/>
              <a:ext cx="9959213" cy="88773"/>
            </a:xfrm>
            <a:custGeom>
              <a:avLst/>
              <a:gdLst/>
              <a:ahLst/>
              <a:cxnLst/>
              <a:rect r="r" b="b" t="t" l="l"/>
              <a:pathLst>
                <a:path h="88773" w="9959213">
                  <a:moveTo>
                    <a:pt x="0" y="0"/>
                  </a:moveTo>
                  <a:lnTo>
                    <a:pt x="9959213" y="0"/>
                  </a:lnTo>
                  <a:lnTo>
                    <a:pt x="9959213" y="88773"/>
                  </a:lnTo>
                  <a:lnTo>
                    <a:pt x="0" y="88773"/>
                  </a:lnTo>
                  <a:close/>
                </a:path>
              </a:pathLst>
            </a:custGeom>
            <a:gradFill rotWithShape="true">
              <a:gsLst>
                <a:gs pos="0">
                  <a:srgbClr val="49E1BB">
                    <a:alpha val="100000"/>
                  </a:srgbClr>
                </a:gs>
                <a:gs pos="100000">
                  <a:srgbClr val="1E8A6F">
                    <a:alpha val="100000"/>
                  </a:srgbClr>
                </a:gs>
              </a:gsLst>
              <a:path path="circle">
                <a:fillToRect l="50000" r="50000" t="50000" b="50000"/>
              </a:path>
            </a:gradFill>
          </p:spPr>
        </p:sp>
      </p:grpSp>
      <p:sp>
        <p:nvSpPr>
          <p:cNvPr name="Freeform 14" id="14"/>
          <p:cNvSpPr/>
          <p:nvPr/>
        </p:nvSpPr>
        <p:spPr>
          <a:xfrm flipH="false" flipV="false" rot="0">
            <a:off x="3954668" y="7522914"/>
            <a:ext cx="10013198" cy="5094416"/>
          </a:xfrm>
          <a:custGeom>
            <a:avLst/>
            <a:gdLst/>
            <a:ahLst/>
            <a:cxnLst/>
            <a:rect r="r" b="b" t="t" l="l"/>
            <a:pathLst>
              <a:path h="5094416" w="10013198">
                <a:moveTo>
                  <a:pt x="0" y="0"/>
                </a:moveTo>
                <a:lnTo>
                  <a:pt x="10013198" y="0"/>
                </a:lnTo>
                <a:lnTo>
                  <a:pt x="10013198" y="5094416"/>
                </a:lnTo>
                <a:lnTo>
                  <a:pt x="0" y="50944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5" id="15"/>
          <p:cNvGrpSpPr>
            <a:grpSpLocks noChangeAspect="true"/>
          </p:cNvGrpSpPr>
          <p:nvPr/>
        </p:nvGrpSpPr>
        <p:grpSpPr>
          <a:xfrm rot="0">
            <a:off x="0" y="82200"/>
            <a:ext cx="18288000" cy="10282830"/>
            <a:chOff x="0" y="0"/>
            <a:chExt cx="24384000" cy="13710440"/>
          </a:xfrm>
        </p:grpSpPr>
        <p:sp>
          <p:nvSpPr>
            <p:cNvPr name="Freeform 16" id="16"/>
            <p:cNvSpPr/>
            <p:nvPr/>
          </p:nvSpPr>
          <p:spPr>
            <a:xfrm flipH="false" flipV="false" rot="0">
              <a:off x="0" y="0"/>
              <a:ext cx="24384000" cy="13710413"/>
            </a:xfrm>
            <a:custGeom>
              <a:avLst/>
              <a:gdLst/>
              <a:ahLst/>
              <a:cxnLst/>
              <a:rect r="r" b="b" t="t" l="l"/>
              <a:pathLst>
                <a:path h="13710413" w="24384000">
                  <a:moveTo>
                    <a:pt x="0" y="0"/>
                  </a:moveTo>
                  <a:lnTo>
                    <a:pt x="24384000" y="0"/>
                  </a:lnTo>
                  <a:lnTo>
                    <a:pt x="24384000" y="13710413"/>
                  </a:lnTo>
                  <a:lnTo>
                    <a:pt x="0" y="13710413"/>
                  </a:lnTo>
                  <a:lnTo>
                    <a:pt x="0" y="0"/>
                  </a:lnTo>
                  <a:close/>
                </a:path>
              </a:pathLst>
            </a:custGeom>
            <a:blipFill>
              <a:blip r:embed="rId9"/>
              <a:stretch>
                <a:fillRect l="0" t="0" r="0" b="0"/>
              </a:stretch>
            </a:blipFill>
          </p:spPr>
        </p:sp>
      </p:gr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5952050" y="7745300"/>
            <a:ext cx="4521600" cy="4521600"/>
            <a:chOff x="0" y="0"/>
            <a:chExt cx="6028800" cy="6028800"/>
          </a:xfrm>
        </p:grpSpPr>
        <p:sp>
          <p:nvSpPr>
            <p:cNvPr name="Freeform 3" id="3"/>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4" id="4"/>
          <p:cNvGrpSpPr/>
          <p:nvPr/>
        </p:nvGrpSpPr>
        <p:grpSpPr>
          <a:xfrm rot="0">
            <a:off x="10758150" y="-1605400"/>
            <a:ext cx="4521600" cy="4521600"/>
            <a:chOff x="0" y="0"/>
            <a:chExt cx="6028800" cy="6028800"/>
          </a:xfrm>
        </p:grpSpPr>
        <p:sp>
          <p:nvSpPr>
            <p:cNvPr name="Freeform 5" id="5"/>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5651100" y="8091050"/>
            <a:ext cx="4521600" cy="4521600"/>
            <a:chOff x="0" y="0"/>
            <a:chExt cx="6028800" cy="6028800"/>
          </a:xfrm>
        </p:grpSpPr>
        <p:sp>
          <p:nvSpPr>
            <p:cNvPr name="Freeform 7" id="7"/>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826890" y="1372202"/>
            <a:ext cx="187386" cy="7886098"/>
            <a:chOff x="0" y="0"/>
            <a:chExt cx="134112" cy="5644072"/>
          </a:xfrm>
        </p:grpSpPr>
        <p:sp>
          <p:nvSpPr>
            <p:cNvPr name="Freeform 9" id="9"/>
            <p:cNvSpPr/>
            <p:nvPr/>
          </p:nvSpPr>
          <p:spPr>
            <a:xfrm flipH="false" flipV="false" rot="0">
              <a:off x="0" y="0"/>
              <a:ext cx="134112" cy="5644134"/>
            </a:xfrm>
            <a:custGeom>
              <a:avLst/>
              <a:gdLst/>
              <a:ahLst/>
              <a:cxnLst/>
              <a:rect r="r" b="b" t="t" l="l"/>
              <a:pathLst>
                <a:path h="5644134" w="134112">
                  <a:moveTo>
                    <a:pt x="134112" y="0"/>
                  </a:moveTo>
                  <a:lnTo>
                    <a:pt x="0" y="0"/>
                  </a:lnTo>
                  <a:lnTo>
                    <a:pt x="0" y="5644134"/>
                  </a:lnTo>
                  <a:lnTo>
                    <a:pt x="134112" y="5644134"/>
                  </a:lnTo>
                  <a:close/>
                </a:path>
              </a:pathLst>
            </a:custGeom>
            <a:gradFill rotWithShape="true">
              <a:gsLst>
                <a:gs pos="0">
                  <a:srgbClr val="49E1BB">
                    <a:alpha val="100000"/>
                  </a:srgbClr>
                </a:gs>
                <a:gs pos="100000">
                  <a:srgbClr val="1E8A6F">
                    <a:alpha val="100000"/>
                  </a:srgbClr>
                </a:gs>
              </a:gsLst>
              <a:path path="circle">
                <a:fillToRect l="50000" r="50000" t="50000" b="50000"/>
              </a:path>
            </a:gradFill>
          </p:spPr>
        </p:sp>
      </p:grpSp>
      <p:sp>
        <p:nvSpPr>
          <p:cNvPr name="Freeform 10" id="10"/>
          <p:cNvSpPr/>
          <p:nvPr/>
        </p:nvSpPr>
        <p:spPr>
          <a:xfrm flipH="false" flipV="false" rot="0">
            <a:off x="10628850" y="-3589052"/>
            <a:ext cx="7772592" cy="6052120"/>
          </a:xfrm>
          <a:custGeom>
            <a:avLst/>
            <a:gdLst/>
            <a:ahLst/>
            <a:cxnLst/>
            <a:rect r="r" b="b" t="t" l="l"/>
            <a:pathLst>
              <a:path h="6052120" w="7772592">
                <a:moveTo>
                  <a:pt x="0" y="0"/>
                </a:moveTo>
                <a:lnTo>
                  <a:pt x="7772592" y="0"/>
                </a:lnTo>
                <a:lnTo>
                  <a:pt x="7772592" y="6052120"/>
                </a:lnTo>
                <a:lnTo>
                  <a:pt x="0" y="60521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235500" y="7417298"/>
            <a:ext cx="7198492" cy="6866918"/>
          </a:xfrm>
          <a:custGeom>
            <a:avLst/>
            <a:gdLst/>
            <a:ahLst/>
            <a:cxnLst/>
            <a:rect r="r" b="b" t="t" l="l"/>
            <a:pathLst>
              <a:path h="6866918" w="7198492">
                <a:moveTo>
                  <a:pt x="0" y="0"/>
                </a:moveTo>
                <a:lnTo>
                  <a:pt x="7198492" y="0"/>
                </a:lnTo>
                <a:lnTo>
                  <a:pt x="7198492" y="6866918"/>
                </a:lnTo>
                <a:lnTo>
                  <a:pt x="0" y="68669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1483941" y="768990"/>
            <a:ext cx="15320118" cy="9210445"/>
            <a:chOff x="0" y="0"/>
            <a:chExt cx="20426824" cy="12280593"/>
          </a:xfrm>
        </p:grpSpPr>
        <p:sp>
          <p:nvSpPr>
            <p:cNvPr name="Freeform 13" id="13"/>
            <p:cNvSpPr/>
            <p:nvPr/>
          </p:nvSpPr>
          <p:spPr>
            <a:xfrm flipH="false" flipV="false" rot="0">
              <a:off x="0" y="0"/>
              <a:ext cx="20426824" cy="12280593"/>
            </a:xfrm>
            <a:custGeom>
              <a:avLst/>
              <a:gdLst/>
              <a:ahLst/>
              <a:cxnLst/>
              <a:rect r="r" b="b" t="t" l="l"/>
              <a:pathLst>
                <a:path h="12280593" w="20426824">
                  <a:moveTo>
                    <a:pt x="0" y="0"/>
                  </a:moveTo>
                  <a:lnTo>
                    <a:pt x="20426824" y="0"/>
                  </a:lnTo>
                  <a:lnTo>
                    <a:pt x="20426824" y="12280593"/>
                  </a:lnTo>
                  <a:lnTo>
                    <a:pt x="0" y="12280593"/>
                  </a:lnTo>
                  <a:close/>
                </a:path>
              </a:pathLst>
            </a:custGeom>
            <a:solidFill>
              <a:srgbClr val="000000">
                <a:alpha val="0"/>
              </a:srgbClr>
            </a:solidFill>
          </p:spPr>
        </p:sp>
        <p:sp>
          <p:nvSpPr>
            <p:cNvPr name="TextBox 14" id="14"/>
            <p:cNvSpPr txBox="true"/>
            <p:nvPr/>
          </p:nvSpPr>
          <p:spPr>
            <a:xfrm>
              <a:off x="0" y="-28575"/>
              <a:ext cx="20426824" cy="12309168"/>
            </a:xfrm>
            <a:prstGeom prst="rect">
              <a:avLst/>
            </a:prstGeom>
          </p:spPr>
          <p:txBody>
            <a:bodyPr anchor="ctr" rtlCol="false" tIns="0" lIns="0" bIns="0" rIns="0"/>
            <a:lstStyle/>
            <a:p>
              <a:pPr algn="l">
                <a:lnSpc>
                  <a:spcPts val="5999"/>
                </a:lnSpc>
              </a:pPr>
              <a:r>
                <a:rPr lang="en-US" sz="4999" b="true">
                  <a:solidFill>
                    <a:srgbClr val="F5F5F5"/>
                  </a:solidFill>
                  <a:latin typeface="Times New Roman Bold"/>
                  <a:ea typeface="Times New Roman Bold"/>
                  <a:cs typeface="Times New Roman Bold"/>
                  <a:sym typeface="Times New Roman Bold"/>
                </a:rPr>
                <a:t>Kết quả</a:t>
              </a:r>
            </a:p>
            <a:p>
              <a:pPr algn="l">
                <a:lnSpc>
                  <a:spcPts val="5999"/>
                </a:lnSpc>
              </a:pPr>
            </a:p>
            <a:p>
              <a:pPr algn="l" marL="777240" indent="-388620" lvl="1">
                <a:lnSpc>
                  <a:spcPts val="4320"/>
                </a:lnSpc>
                <a:buFont typeface="Arial"/>
                <a:buChar char="•"/>
              </a:pPr>
              <a:r>
                <a:rPr lang="en-US" sz="3600">
                  <a:solidFill>
                    <a:srgbClr val="F5F5F5"/>
                  </a:solidFill>
                  <a:latin typeface="Times New Roman"/>
                  <a:ea typeface="Times New Roman"/>
                  <a:cs typeface="Times New Roman"/>
                  <a:sym typeface="Times New Roman"/>
                </a:rPr>
                <a:t>Hoàn t</a:t>
              </a:r>
              <a:r>
                <a:rPr lang="en-US" sz="3600">
                  <a:solidFill>
                    <a:srgbClr val="F5F5F5"/>
                  </a:solidFill>
                  <a:latin typeface="Times New Roman"/>
                  <a:ea typeface="Times New Roman"/>
                  <a:cs typeface="Times New Roman"/>
                  <a:sym typeface="Times New Roman"/>
                </a:rPr>
                <a:t>hành hệ thống sàn thương mại điện tử cho người mua, người bán và quản trị viên.</a:t>
              </a:r>
            </a:p>
            <a:p>
              <a:pPr algn="l" marL="777240" indent="-388620" lvl="1">
                <a:lnSpc>
                  <a:spcPts val="4320"/>
                </a:lnSpc>
                <a:buFont typeface="Arial"/>
                <a:buChar char="•"/>
              </a:pPr>
              <a:r>
                <a:rPr lang="en-US" sz="3600">
                  <a:solidFill>
                    <a:srgbClr val="F5F5F5"/>
                  </a:solidFill>
                  <a:latin typeface="Times New Roman"/>
                  <a:ea typeface="Times New Roman"/>
                  <a:cs typeface="Times New Roman"/>
                  <a:sym typeface="Times New Roman"/>
                </a:rPr>
                <a:t>Backend dùng NodeJS – MongoDB, hỗ trợ quản lý sản phẩm, đơn hàng và thanh toán VNPay.</a:t>
              </a:r>
            </a:p>
            <a:p>
              <a:pPr algn="l" marL="777240" indent="-388620" lvl="1">
                <a:lnSpc>
                  <a:spcPts val="4320"/>
                </a:lnSpc>
                <a:buFont typeface="Arial"/>
                <a:buChar char="•"/>
              </a:pPr>
              <a:r>
                <a:rPr lang="en-US" sz="3600">
                  <a:solidFill>
                    <a:srgbClr val="F5F5F5"/>
                  </a:solidFill>
                  <a:latin typeface="Times New Roman"/>
                  <a:ea typeface="Times New Roman"/>
                  <a:cs typeface="Times New Roman"/>
                  <a:sym typeface="Times New Roman"/>
                </a:rPr>
                <a:t>Ứng dụng Flutter có giao diện dễ dùng và kết nối ổn định với API.</a:t>
              </a:r>
            </a:p>
            <a:p>
              <a:pPr algn="l">
                <a:lnSpc>
                  <a:spcPts val="4320"/>
                </a:lnSpc>
              </a:pPr>
            </a:p>
            <a:p>
              <a:pPr algn="l">
                <a:lnSpc>
                  <a:spcPts val="6000"/>
                </a:lnSpc>
              </a:pPr>
              <a:r>
                <a:rPr lang="en-US" b="true" sz="5000">
                  <a:solidFill>
                    <a:srgbClr val="F5F5F5"/>
                  </a:solidFill>
                  <a:latin typeface="Times New Roman Bold"/>
                  <a:ea typeface="Times New Roman Bold"/>
                  <a:cs typeface="Times New Roman Bold"/>
                  <a:sym typeface="Times New Roman Bold"/>
                </a:rPr>
                <a:t>Hướng phát triển</a:t>
              </a:r>
            </a:p>
            <a:p>
              <a:pPr algn="l">
                <a:lnSpc>
                  <a:spcPts val="6000"/>
                </a:lnSpc>
              </a:pPr>
            </a:p>
            <a:p>
              <a:pPr algn="l" marL="777240" indent="-388620" lvl="1">
                <a:lnSpc>
                  <a:spcPts val="4320"/>
                </a:lnSpc>
                <a:buFont typeface="Arial"/>
                <a:buChar char="•"/>
              </a:pPr>
              <a:r>
                <a:rPr lang="en-US" sz="3600">
                  <a:solidFill>
                    <a:srgbClr val="F5F5F5"/>
                  </a:solidFill>
                  <a:latin typeface="Times New Roman"/>
                  <a:ea typeface="Times New Roman"/>
                  <a:cs typeface="Times New Roman"/>
                  <a:sym typeface="Times New Roman"/>
                </a:rPr>
                <a:t>Phát</a:t>
              </a:r>
              <a:r>
                <a:rPr lang="en-US" sz="3600">
                  <a:solidFill>
                    <a:srgbClr val="F5F5F5"/>
                  </a:solidFill>
                  <a:latin typeface="Times New Roman"/>
                  <a:ea typeface="Times New Roman"/>
                  <a:cs typeface="Times New Roman"/>
                  <a:sym typeface="Times New Roman"/>
                </a:rPr>
                <a:t> triển thêm phiên bản web.</a:t>
              </a:r>
            </a:p>
            <a:p>
              <a:pPr algn="l" marL="777240" indent="-388620" lvl="1">
                <a:lnSpc>
                  <a:spcPts val="4320"/>
                </a:lnSpc>
                <a:buFont typeface="Arial"/>
                <a:buChar char="•"/>
              </a:pPr>
              <a:r>
                <a:rPr lang="en-US" sz="3600">
                  <a:solidFill>
                    <a:srgbClr val="F5F5F5"/>
                  </a:solidFill>
                  <a:latin typeface="Times New Roman"/>
                  <a:ea typeface="Times New Roman"/>
                  <a:cs typeface="Times New Roman"/>
                  <a:sym typeface="Times New Roman"/>
                </a:rPr>
                <a:t>Thêm đánh giá, bình luận và chat giữa người mua – người bán.</a:t>
              </a:r>
            </a:p>
            <a:p>
              <a:pPr algn="l" marL="777240" indent="-388620" lvl="1">
                <a:lnSpc>
                  <a:spcPts val="4320"/>
                </a:lnSpc>
                <a:buFont typeface="Arial"/>
                <a:buChar char="•"/>
              </a:pPr>
              <a:r>
                <a:rPr lang="en-US" sz="3600">
                  <a:solidFill>
                    <a:srgbClr val="F5F5F5"/>
                  </a:solidFill>
                  <a:latin typeface="Times New Roman"/>
                  <a:ea typeface="Times New Roman"/>
                  <a:cs typeface="Times New Roman"/>
                  <a:sym typeface="Times New Roman"/>
                </a:rPr>
                <a:t>Tích hợp thêm Momo/ZaloPay.</a:t>
              </a:r>
            </a:p>
            <a:p>
              <a:pPr algn="l" marL="777240" indent="-388620" lvl="1">
                <a:lnSpc>
                  <a:spcPts val="4320"/>
                </a:lnSpc>
                <a:buFont typeface="Arial"/>
                <a:buChar char="•"/>
              </a:pPr>
              <a:r>
                <a:rPr lang="en-US" sz="3600">
                  <a:solidFill>
                    <a:srgbClr val="F5F5F5"/>
                  </a:solidFill>
                  <a:latin typeface="Times New Roman"/>
                  <a:ea typeface="Times New Roman"/>
                  <a:cs typeface="Times New Roman"/>
                  <a:sym typeface="Times New Roman"/>
                </a:rPr>
                <a:t>Cải thiện bảo mật và trải nghiệm người dùng.</a:t>
              </a:r>
            </a:p>
            <a:p>
              <a:pPr algn="l">
                <a:lnSpc>
                  <a:spcPts val="4320"/>
                </a:lnSpc>
              </a:pPr>
            </a:p>
          </p:txBody>
        </p:sp>
      </p:gr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483F">
                <a:alpha val="100000"/>
              </a:srgbClr>
            </a:gs>
            <a:gs pos="100000">
              <a:srgbClr val="00211A">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5952050" y="7745300"/>
            <a:ext cx="4521600" cy="4521600"/>
            <a:chOff x="0" y="0"/>
            <a:chExt cx="6028800" cy="6028800"/>
          </a:xfrm>
        </p:grpSpPr>
        <p:sp>
          <p:nvSpPr>
            <p:cNvPr name="Freeform 3" id="3"/>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4" id="4"/>
          <p:cNvGrpSpPr/>
          <p:nvPr/>
        </p:nvGrpSpPr>
        <p:grpSpPr>
          <a:xfrm rot="0">
            <a:off x="10758150" y="-1605400"/>
            <a:ext cx="4521600" cy="4521600"/>
            <a:chOff x="0" y="0"/>
            <a:chExt cx="6028800" cy="6028800"/>
          </a:xfrm>
        </p:grpSpPr>
        <p:sp>
          <p:nvSpPr>
            <p:cNvPr name="Freeform 5" id="5"/>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6" id="6"/>
          <p:cNvGrpSpPr/>
          <p:nvPr/>
        </p:nvGrpSpPr>
        <p:grpSpPr>
          <a:xfrm rot="0">
            <a:off x="15651100" y="8091050"/>
            <a:ext cx="4521600" cy="4521600"/>
            <a:chOff x="0" y="0"/>
            <a:chExt cx="6028800" cy="6028800"/>
          </a:xfrm>
        </p:grpSpPr>
        <p:sp>
          <p:nvSpPr>
            <p:cNvPr name="Freeform 7" id="7"/>
            <p:cNvSpPr/>
            <p:nvPr/>
          </p:nvSpPr>
          <p:spPr>
            <a:xfrm flipH="false" flipV="false" rot="0">
              <a:off x="0" y="0"/>
              <a:ext cx="6028817" cy="6028817"/>
            </a:xfrm>
            <a:custGeom>
              <a:avLst/>
              <a:gdLst/>
              <a:ahLst/>
              <a:cxnLst/>
              <a:rect r="r" b="b" t="t" l="l"/>
              <a:pathLst>
                <a:path h="6028817" w="6028817">
                  <a:moveTo>
                    <a:pt x="0" y="3014345"/>
                  </a:moveTo>
                  <a:cubicBezTo>
                    <a:pt x="0" y="1349629"/>
                    <a:pt x="1349629" y="0"/>
                    <a:pt x="3014345" y="0"/>
                  </a:cubicBezTo>
                  <a:cubicBezTo>
                    <a:pt x="4679061" y="0"/>
                    <a:pt x="6028817" y="1349629"/>
                    <a:pt x="6028817" y="3014345"/>
                  </a:cubicBezTo>
                  <a:cubicBezTo>
                    <a:pt x="6028817" y="4679061"/>
                    <a:pt x="4679188" y="6028817"/>
                    <a:pt x="3014345" y="6028817"/>
                  </a:cubicBezTo>
                  <a:cubicBezTo>
                    <a:pt x="1349502" y="6028817"/>
                    <a:pt x="0" y="4679188"/>
                    <a:pt x="0" y="3014345"/>
                  </a:cubicBezTo>
                  <a:close/>
                </a:path>
              </a:pathLst>
            </a:custGeom>
            <a:gradFill rotWithShape="true">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r="50000" t="50000" b="50000"/>
              </a:path>
            </a:gradFill>
          </p:spPr>
        </p:sp>
      </p:grpSp>
      <p:grpSp>
        <p:nvGrpSpPr>
          <p:cNvPr name="Group 8" id="8"/>
          <p:cNvGrpSpPr/>
          <p:nvPr/>
        </p:nvGrpSpPr>
        <p:grpSpPr>
          <a:xfrm rot="0">
            <a:off x="3847500" y="3221400"/>
            <a:ext cx="10593000" cy="3444600"/>
            <a:chOff x="0" y="0"/>
            <a:chExt cx="14124000" cy="4592800"/>
          </a:xfrm>
        </p:grpSpPr>
        <p:sp>
          <p:nvSpPr>
            <p:cNvPr name="Freeform 9" id="9"/>
            <p:cNvSpPr/>
            <p:nvPr/>
          </p:nvSpPr>
          <p:spPr>
            <a:xfrm flipH="false" flipV="false" rot="0">
              <a:off x="0" y="0"/>
              <a:ext cx="14124000" cy="4592800"/>
            </a:xfrm>
            <a:custGeom>
              <a:avLst/>
              <a:gdLst/>
              <a:ahLst/>
              <a:cxnLst/>
              <a:rect r="r" b="b" t="t" l="l"/>
              <a:pathLst>
                <a:path h="4592800" w="14124000">
                  <a:moveTo>
                    <a:pt x="0" y="0"/>
                  </a:moveTo>
                  <a:lnTo>
                    <a:pt x="14124000" y="0"/>
                  </a:lnTo>
                  <a:lnTo>
                    <a:pt x="14124000" y="4592800"/>
                  </a:lnTo>
                  <a:lnTo>
                    <a:pt x="0" y="4592800"/>
                  </a:lnTo>
                  <a:close/>
                </a:path>
              </a:pathLst>
            </a:custGeom>
            <a:solidFill>
              <a:srgbClr val="000000">
                <a:alpha val="0"/>
              </a:srgbClr>
            </a:solidFill>
          </p:spPr>
        </p:sp>
        <p:sp>
          <p:nvSpPr>
            <p:cNvPr name="TextBox 10" id="10"/>
            <p:cNvSpPr txBox="true"/>
            <p:nvPr/>
          </p:nvSpPr>
          <p:spPr>
            <a:xfrm>
              <a:off x="0" y="-66675"/>
              <a:ext cx="14124000" cy="4659475"/>
            </a:xfrm>
            <a:prstGeom prst="rect">
              <a:avLst/>
            </a:prstGeom>
          </p:spPr>
          <p:txBody>
            <a:bodyPr anchor="ctr" rtlCol="false" tIns="0" lIns="0" bIns="0" rIns="0"/>
            <a:lstStyle/>
            <a:p>
              <a:pPr algn="ctr">
                <a:lnSpc>
                  <a:spcPts val="16800"/>
                </a:lnSpc>
              </a:pPr>
              <a:r>
                <a:rPr lang="en-US" sz="14000" i="true">
                  <a:solidFill>
                    <a:srgbClr val="F5F5F5"/>
                  </a:solidFill>
                  <a:latin typeface="Times New Roman Italics"/>
                  <a:ea typeface="Times New Roman Italics"/>
                  <a:cs typeface="Times New Roman Italics"/>
                  <a:sym typeface="Times New Roman Italics"/>
                </a:rPr>
                <a:t>THANKS!</a:t>
              </a:r>
            </a:p>
          </p:txBody>
        </p:sp>
      </p:grpSp>
      <p:grpSp>
        <p:nvGrpSpPr>
          <p:cNvPr name="Group 11" id="11"/>
          <p:cNvGrpSpPr/>
          <p:nvPr/>
        </p:nvGrpSpPr>
        <p:grpSpPr>
          <a:xfrm rot="0">
            <a:off x="5409300" y="6999000"/>
            <a:ext cx="7469400" cy="66600"/>
            <a:chOff x="0" y="0"/>
            <a:chExt cx="9959200" cy="88800"/>
          </a:xfrm>
        </p:grpSpPr>
        <p:sp>
          <p:nvSpPr>
            <p:cNvPr name="Freeform 12" id="12"/>
            <p:cNvSpPr/>
            <p:nvPr/>
          </p:nvSpPr>
          <p:spPr>
            <a:xfrm flipH="false" flipV="false" rot="0">
              <a:off x="0" y="0"/>
              <a:ext cx="9959213" cy="88773"/>
            </a:xfrm>
            <a:custGeom>
              <a:avLst/>
              <a:gdLst/>
              <a:ahLst/>
              <a:cxnLst/>
              <a:rect r="r" b="b" t="t" l="l"/>
              <a:pathLst>
                <a:path h="88773" w="9959213">
                  <a:moveTo>
                    <a:pt x="0" y="0"/>
                  </a:moveTo>
                  <a:lnTo>
                    <a:pt x="9959213" y="0"/>
                  </a:lnTo>
                  <a:lnTo>
                    <a:pt x="9959213" y="88773"/>
                  </a:lnTo>
                  <a:lnTo>
                    <a:pt x="0" y="88773"/>
                  </a:lnTo>
                  <a:close/>
                </a:path>
              </a:pathLst>
            </a:custGeom>
            <a:gradFill rotWithShape="true">
              <a:gsLst>
                <a:gs pos="0">
                  <a:srgbClr val="49E1BB">
                    <a:alpha val="100000"/>
                  </a:srgbClr>
                </a:gs>
                <a:gs pos="100000">
                  <a:srgbClr val="1E8A6F">
                    <a:alpha val="100000"/>
                  </a:srgbClr>
                </a:gs>
              </a:gsLst>
              <a:path path="circle">
                <a:fillToRect l="50000" r="50000" t="50000" b="50000"/>
              </a:path>
            </a:gradFill>
          </p:spPr>
        </p:sp>
      </p:grpSp>
      <p:sp>
        <p:nvSpPr>
          <p:cNvPr name="Freeform 13" id="13"/>
          <p:cNvSpPr/>
          <p:nvPr/>
        </p:nvSpPr>
        <p:spPr>
          <a:xfrm flipH="false" flipV="false" rot="0">
            <a:off x="10628850" y="-3589052"/>
            <a:ext cx="7772592" cy="6052120"/>
          </a:xfrm>
          <a:custGeom>
            <a:avLst/>
            <a:gdLst/>
            <a:ahLst/>
            <a:cxnLst/>
            <a:rect r="r" b="b" t="t" l="l"/>
            <a:pathLst>
              <a:path h="6052120" w="7772592">
                <a:moveTo>
                  <a:pt x="0" y="0"/>
                </a:moveTo>
                <a:lnTo>
                  <a:pt x="7772592" y="0"/>
                </a:lnTo>
                <a:lnTo>
                  <a:pt x="7772592" y="6052120"/>
                </a:lnTo>
                <a:lnTo>
                  <a:pt x="0" y="60521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4235500" y="7417298"/>
            <a:ext cx="7198492" cy="6866918"/>
          </a:xfrm>
          <a:custGeom>
            <a:avLst/>
            <a:gdLst/>
            <a:ahLst/>
            <a:cxnLst/>
            <a:rect r="r" b="b" t="t" l="l"/>
            <a:pathLst>
              <a:path h="6866918" w="7198492">
                <a:moveTo>
                  <a:pt x="0" y="0"/>
                </a:moveTo>
                <a:lnTo>
                  <a:pt x="7198492" y="0"/>
                </a:lnTo>
                <a:lnTo>
                  <a:pt x="7198492" y="6866918"/>
                </a:lnTo>
                <a:lnTo>
                  <a:pt x="0" y="68669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DAG6wpZ1UEM</dc:identifier>
  <dcterms:modified xsi:type="dcterms:W3CDTF">2011-08-01T06:04:30Z</dcterms:modified>
  <cp:revision>1</cp:revision>
  <dc:title>OOP.SHOPTEKEY</dc:title>
</cp:coreProperties>
</file>